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8" autoAdjust="0"/>
  </p:normalViewPr>
  <p:slideViewPr>
    <p:cSldViewPr snapToGrid="0">
      <p:cViewPr varScale="1">
        <p:scale>
          <a:sx n="89" d="100"/>
          <a:sy n="89" d="100"/>
        </p:scale>
        <p:origin x="43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350" b="1">
                <a:solidFill>
                  <a:srgbClr val="14233F"/>
                </a:solidFill>
              </a:rPr>
              <a:t>Answer quality by hop (%)</a:t>
            </a:r>
          </a:p>
        </c:rich>
      </c:tx>
      <c:overlay val="0"/>
    </c:title>
    <c:autoTitleDeleted val="0"/>
    <c:plotArea>
      <c:layout/>
      <c:barChart>
        <c:barDir val="col"/>
        <c:grouping val="clustered"/>
        <c:varyColors val="0"/>
        <c:ser>
          <c:idx val="0"/>
          <c:order val="0"/>
          <c:tx>
            <c:v>Exact Match</c:v>
          </c:tx>
          <c:spPr>
            <a:solidFill>
              <a:srgbClr val="2356A8"/>
            </a:solidFill>
          </c:spPr>
          <c:invertIfNegative val="0"/>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1-hop</c:v>
              </c:pt>
              <c:pt idx="1">
                <c:v>2-hop</c:v>
              </c:pt>
              <c:pt idx="2">
                <c:v>3-hop</c:v>
              </c:pt>
            </c:strLit>
          </c:cat>
          <c:val>
            <c:numLit>
              <c:formatCode>0%</c:formatCode>
              <c:ptCount val="3"/>
              <c:pt idx="0">
                <c:v>0.97060000000000002</c:v>
              </c:pt>
              <c:pt idx="1">
                <c:v>0.67649999999999999</c:v>
              </c:pt>
              <c:pt idx="2">
                <c:v>0.58819999999999995</c:v>
              </c:pt>
            </c:numLit>
          </c:val>
          <c:extLst>
            <c:ext xmlns:c16="http://schemas.microsoft.com/office/drawing/2014/chart" uri="{C3380CC4-5D6E-409C-BE32-E72D297353CC}">
              <c16:uniqueId val="{00000000-7C0B-4F1F-8F2A-4E7DBB3C5E4F}"/>
            </c:ext>
          </c:extLst>
        </c:ser>
        <c:ser>
          <c:idx val="1"/>
          <c:order val="1"/>
          <c:tx>
            <c:v>Token F1</c:v>
          </c:tx>
          <c:spPr>
            <a:solidFill>
              <a:srgbClr val="20A4B7"/>
            </a:solidFill>
          </c:spPr>
          <c:invertIfNegative val="0"/>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1-hop</c:v>
              </c:pt>
              <c:pt idx="1">
                <c:v>2-hop</c:v>
              </c:pt>
              <c:pt idx="2">
                <c:v>3-hop</c:v>
              </c:pt>
            </c:strLit>
          </c:cat>
          <c:val>
            <c:numLit>
              <c:formatCode>0%</c:formatCode>
              <c:ptCount val="3"/>
              <c:pt idx="0">
                <c:v>0.98240000000000005</c:v>
              </c:pt>
              <c:pt idx="1">
                <c:v>0.84230000000000005</c:v>
              </c:pt>
              <c:pt idx="2">
                <c:v>0.68149999999999999</c:v>
              </c:pt>
            </c:numLit>
          </c:val>
          <c:extLst>
            <c:ext xmlns:c16="http://schemas.microsoft.com/office/drawing/2014/chart" uri="{C3380CC4-5D6E-409C-BE32-E72D297353CC}">
              <c16:uniqueId val="{00000001-7C0B-4F1F-8F2A-4E7DBB3C5E4F}"/>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050">
                <a:solidFill>
                  <a:srgbClr val="1D2A3B"/>
                </a:solidFil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D7E0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5D6B7C"/>
                </a:solidFill>
              </a:defRPr>
            </a:pPr>
            <a:endParaRPr lang="en-US"/>
          </a:p>
        </c:txPr>
        <c:crossAx val="48650112"/>
        <c:crosses val="autoZero"/>
        <c:crossBetween val="between"/>
        <c:majorUnit val="0.2"/>
      </c:valAx>
      <c:spPr>
        <a:noFill/>
        <a:ln w="0">
          <a:noFill/>
          <a:prstDash val="solid"/>
        </a:ln>
      </c:spPr>
    </c:plotArea>
    <c:legend>
      <c:legendPos val="b"/>
      <c:overlay val="0"/>
      <c:txPr>
        <a:bodyPr anchorCtr="1"/>
        <a:lstStyle/>
        <a:p>
          <a:pPr>
            <a:defRPr sz="975">
              <a:solidFill>
                <a:srgbClr val="5D6B7C"/>
              </a:solidFill>
            </a:defRPr>
          </a:pPr>
          <a:endParaRPr lang="en-US"/>
        </a:p>
      </c:txPr>
    </c:legend>
    <c:plotVisOnly val="1"/>
    <c:dispBlanksAs val="zero"/>
    <c:showDLblsOverMax val="1"/>
  </c:chart>
  <c:spPr>
    <a:no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Project title and student details taken from the report cover. Talk track (~20 sec): “Good morning. I am presenting AGENT-KGRAPH, a question-answering project that combines a knowledge graph with text search. I will explain the problem, how the system works, and what we 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Background summarized from Sections 2.1–2.8; references appear on slide 9. Talk track (~55 sec): “A knowledge graph is like a map of people, places, and how they relate. Text search is good at finding useful sentences even when a question uses different words. Earlier RAG and graph research motivate combining these sources. The goal is to give the answer system both a path through facts and useful text, then keep track of the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Problem framing synthesized from report Sections 1.3 and 2. Talk track (~55 sec): “There are four practical problems. A graph can be missing a link. A text passage can be related but not actually prove the answer. A language model can add unsupported details. And careless graph updates can preserve errors. AGENT-KGRAPH brings retrieval, answer evidence, and checked updates into one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Method steps follow the architecture and evaluation design in Sections 3–6. Talk track (~55 sec): “First, prepare the questions and text. Build the graph by extracting facts, checking them, and resolving duplicate names. The router chooses text, graph, or both. The system retrieves evidence, writes an answer from it, and keeps provenance. New facts go through verification before the graph changes. We measured answer accuracy and query time on the recorded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Architecture elements from report Sections 3–4; editable diagram summary. Talk track (~60 sec): “This is the main flow. A question first goes to the router. The router selects vector search, knowledge graph search, or hybrid search. Retrieved passages and graph paths go to the answer writer. The answer includes source evidence. Separately, the graph is prepared from documents through extraction, verification, and entity merging. The update loop checks new facts before accepting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All-nine status follows the user’s current update. The source report’s roadmap sections still describe Batches 6–9 as planned. Model and implementation details are from Sections 6 and 7. Talk track (~60 sec): “The work is organized into nine batches, and all nine are complete. The foundation and graph construction came first, then retrieval, question answering and routing, and graph evolution. The later batches covered data integration, evaluation, real models, and final review. The report’s roadmap wording has not caught up with the current status, so this slide flags that mismatch. The measured benchmark used the 0.5-billion-parameter Qwen2.5 instruct model, while the system also uses a BGE embedding model and NetworkX graph storage.”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Metrics recalculated from saved question-level records, as reported in Sections 7.4–7.9. Per-hop EM counts are 33/34, 23/34, and 20/34. Mean latency is 7,684.04 ms/query overall; outlier calls are included. Talk track (~75 sec): “We evaluated 102 MetaQA questions, 34 at each hop level. Overall Exact Match was 74.51%, Token F1 was 83.54%, and mean query time was about 7.7 seconds. The chart shows a clear pattern: one-hop answers were strongest, while three-hop answers were less accurate. Latency also rose sharply for more hops. Five calls took over 100 seconds, so the mean includes some very slow cases. A key limitation: all 102 questions used graph retrieval. This run does not tell us whether graph retrieval beats vector or hybrid retrieval, and it does not prove the router helped.”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source: C:/Users/devan/Documents/Codex/2026-10-28/referenced-chatgpt-conversation-this-is-an/outputs/Project Phase - I Final Report - Corrected.docx. Limitations and next research steps are drawn from Sections 7.8–7.10. Talk track (~60 sec): “The system is implemented and has an initial measured baseline. The results show that multi-hop answering and response time need attention. The next research step is to test more questions and datasets, compare retrieval methods under the same conditions, and measure how routing and graph updates affect results. We should also report the full latency distribution and memory use. These are research directions, not claims from the current benchmark.”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3DBA871-18F6-44D0-9A56-F609DE16773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44899FB-86D2-41BD-AB53-5BC6C38C733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808065D-1B3D-433D-983C-5AE9D115434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90372E-F5FA-4F5D-B738-B8D498EF2B2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F5460FC-F541-4BC4-AAC5-3AF7B0B007D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45EB2EA-EB81-4FF2-B843-F6B9CDF49E6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EAE4106-F3A7-4988-ADC9-3E420169B4A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D394BF6-D479-4FBB-ABB9-8D9D69CBA5E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6BAD6BC-2DD8-41B4-92F4-25798150C9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4AAF3E4-D809-4901-9209-DEC309BB4C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33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4EC8D22-F7AF-48B5-941E-B093ABA9E822}"/>
              </a:ext>
            </a:extLst>
          </p:cNvPr>
          <p:cNvSpPr>
            <a:spLocks noGrp="1"/>
          </p:cNvSpPr>
          <p:nvPr/>
        </p:nvSpPr>
        <p:spPr>
          <a:xfrm>
            <a:off x="0" y="0"/>
            <a:ext cx="133350" cy="6858000"/>
          </a:xfrm>
          <a:prstGeom prst="rect">
            <a:avLst/>
          </a:prstGeom>
          <a:solidFill>
            <a:srgbClr val="20A4B7"/>
          </a:solidFill>
          <a:ln w="0">
            <a:noFill/>
            <a:prstDash val="solid"/>
          </a:ln>
        </p:spPr>
      </p:sp>
      <p:sp>
        <p:nvSpPr>
          <p:cNvPr id="2" name="Rectangle 1">
            <a:extLst>
              <a:ext uri="{FF2B5EF4-FFF2-40B4-BE49-F238E27FC236}">
                <a16:creationId xmlns:a16="http://schemas.microsoft.com/office/drawing/2014/main" id="{E772B68A-6D05-4A14-9E65-B8F8B5081ACF}"/>
              </a:ext>
            </a:extLst>
          </p:cNvPr>
          <p:cNvSpPr>
            <a:spLocks noGrp="1"/>
          </p:cNvSpPr>
          <p:nvPr/>
        </p:nvSpPr>
        <p:spPr>
          <a:xfrm>
            <a:off x="647700" y="685800"/>
            <a:ext cx="7429500" cy="238125"/>
          </a:xfrm>
          <a:prstGeom prst="rect">
            <a:avLst/>
          </a:prstGeom>
          <a:noFill/>
          <a:ln w="0">
            <a:noFill/>
            <a:prstDash val="solid"/>
          </a:ln>
        </p:spPr>
        <p:txBody>
          <a:bodyPr anchor="ctr"/>
          <a:lstStyle>
            <a:defPPr algn="l">
              <a:defRPr sz="1200" b="1">
                <a:solidFill>
                  <a:srgbClr val="76D5DE"/>
                </a:solidFill>
              </a:defRPr>
            </a:defPPr>
            <a:lvl1pPr algn="l">
              <a:buNone/>
              <a:defRPr sz="1200" b="1">
                <a:solidFill>
                  <a:srgbClr val="76D5DE"/>
                </a:solidFill>
              </a:defRPr>
            </a:lvl1pPr>
            <a:lvl2pPr algn="l">
              <a:buNone/>
              <a:defRPr sz="1200" b="1">
                <a:solidFill>
                  <a:srgbClr val="76D5DE"/>
                </a:solidFill>
              </a:defRPr>
            </a:lvl2pPr>
            <a:lvl3pPr algn="l">
              <a:buNone/>
              <a:defRPr sz="1200" b="1">
                <a:solidFill>
                  <a:srgbClr val="76D5DE"/>
                </a:solidFill>
              </a:defRPr>
            </a:lvl3pPr>
            <a:lvl4pPr algn="l">
              <a:buNone/>
              <a:defRPr sz="1200" b="1">
                <a:solidFill>
                  <a:srgbClr val="76D5DE"/>
                </a:solidFill>
              </a:defRPr>
            </a:lvl4pPr>
            <a:lvl5pPr algn="l">
              <a:buNone/>
              <a:defRPr sz="1200" b="1">
                <a:solidFill>
                  <a:srgbClr val="76D5DE"/>
                </a:solidFill>
              </a:defRPr>
            </a:lvl5pPr>
            <a:lvl6pPr algn="l">
              <a:buNone/>
              <a:defRPr sz="1200" b="1">
                <a:solidFill>
                  <a:srgbClr val="76D5DE"/>
                </a:solidFill>
              </a:defRPr>
            </a:lvl6pPr>
            <a:lvl7pPr algn="l">
              <a:buNone/>
              <a:defRPr sz="1200" b="1">
                <a:solidFill>
                  <a:srgbClr val="76D5DE"/>
                </a:solidFill>
              </a:defRPr>
            </a:lvl7pPr>
            <a:lvl8pPr algn="l">
              <a:buNone/>
              <a:defRPr sz="1200" b="1">
                <a:solidFill>
                  <a:srgbClr val="76D5DE"/>
                </a:solidFill>
              </a:defRPr>
            </a:lvl8pPr>
            <a:lvl9pPr algn="l">
              <a:buNone/>
              <a:defRPr sz="1200" b="1">
                <a:solidFill>
                  <a:srgbClr val="76D5DE"/>
                </a:solidFill>
              </a:defRPr>
            </a:lvl9pPr>
          </a:lstStyle>
          <a:p>
            <a:pPr algn="l">
              <a:buNone/>
              <a:defRPr sz="1200" b="1">
                <a:solidFill>
                  <a:srgbClr val="76D5DE"/>
                </a:solidFill>
              </a:defRPr>
            </a:pPr>
            <a:r>
              <a:rPr sz="1200" b="1">
                <a:solidFill>
                  <a:srgbClr val="76D5DE"/>
                </a:solidFill>
              </a:rPr>
              <a:t>PROJECT EVALUATION  •  PHASE I</a:t>
            </a:r>
          </a:p>
        </p:txBody>
      </p:sp>
      <p:sp>
        <p:nvSpPr>
          <p:cNvPr id="5" name="Rectangle 4">
            <a:extLst>
              <a:ext uri="{FF2B5EF4-FFF2-40B4-BE49-F238E27FC236}">
                <a16:creationId xmlns:a16="http://schemas.microsoft.com/office/drawing/2014/main" id="{FACB38BC-DC57-4F3D-A8A8-60F0FAFF41E8}"/>
              </a:ext>
            </a:extLst>
          </p:cNvPr>
          <p:cNvSpPr>
            <a:spLocks noGrp="1"/>
          </p:cNvSpPr>
          <p:nvPr/>
        </p:nvSpPr>
        <p:spPr>
          <a:xfrm>
            <a:off x="647700" y="1428750"/>
            <a:ext cx="8572500" cy="723900"/>
          </a:xfrm>
          <a:prstGeom prst="rect">
            <a:avLst/>
          </a:prstGeom>
          <a:noFill/>
          <a:ln w="0">
            <a:noFill/>
            <a:prstDash val="solid"/>
          </a:ln>
        </p:spPr>
        <p:txBody>
          <a:bodyPr anchor="ctr"/>
          <a:lstStyle>
            <a:defPPr algn="l">
              <a:defRPr sz="4350" b="1">
                <a:solidFill>
                  <a:srgbClr val="FFFFFF"/>
                </a:solidFill>
              </a:defRPr>
            </a:defPPr>
            <a:lvl1pPr algn="l">
              <a:buNone/>
              <a:defRPr sz="4350" b="1">
                <a:solidFill>
                  <a:srgbClr val="FFFFFF"/>
                </a:solidFill>
              </a:defRPr>
            </a:lvl1pPr>
            <a:lvl2pPr algn="l">
              <a:buNone/>
              <a:defRPr sz="4350" b="1">
                <a:solidFill>
                  <a:srgbClr val="FFFFFF"/>
                </a:solidFill>
              </a:defRPr>
            </a:lvl2pPr>
            <a:lvl3pPr algn="l">
              <a:buNone/>
              <a:defRPr sz="4350" b="1">
                <a:solidFill>
                  <a:srgbClr val="FFFFFF"/>
                </a:solidFill>
              </a:defRPr>
            </a:lvl3pPr>
            <a:lvl4pPr algn="l">
              <a:buNone/>
              <a:defRPr sz="4350" b="1">
                <a:solidFill>
                  <a:srgbClr val="FFFFFF"/>
                </a:solidFill>
              </a:defRPr>
            </a:lvl4pPr>
            <a:lvl5pPr algn="l">
              <a:buNone/>
              <a:defRPr sz="4350" b="1">
                <a:solidFill>
                  <a:srgbClr val="FFFFFF"/>
                </a:solidFill>
              </a:defRPr>
            </a:lvl5pPr>
            <a:lvl6pPr algn="l">
              <a:buNone/>
              <a:defRPr sz="4350" b="1">
                <a:solidFill>
                  <a:srgbClr val="FFFFFF"/>
                </a:solidFill>
              </a:defRPr>
            </a:lvl6pPr>
            <a:lvl7pPr algn="l">
              <a:buNone/>
              <a:defRPr sz="4350" b="1">
                <a:solidFill>
                  <a:srgbClr val="FFFFFF"/>
                </a:solidFill>
              </a:defRPr>
            </a:lvl7pPr>
            <a:lvl8pPr algn="l">
              <a:buNone/>
              <a:defRPr sz="4350" b="1">
                <a:solidFill>
                  <a:srgbClr val="FFFFFF"/>
                </a:solidFill>
              </a:defRPr>
            </a:lvl8pPr>
            <a:lvl9pPr algn="l">
              <a:buNone/>
              <a:defRPr sz="4350" b="1">
                <a:solidFill>
                  <a:srgbClr val="FFFFFF"/>
                </a:solidFill>
              </a:defRPr>
            </a:lvl9pPr>
          </a:lstStyle>
          <a:p>
            <a:pPr algn="l">
              <a:buNone/>
              <a:defRPr sz="4350" b="1">
                <a:solidFill>
                  <a:srgbClr val="FFFFFF"/>
                </a:solidFill>
              </a:defRPr>
            </a:pPr>
            <a:r>
              <a:rPr sz="4350" b="1" dirty="0">
                <a:solidFill>
                  <a:srgbClr val="FFFFFF"/>
                </a:solidFill>
              </a:rPr>
              <a:t>AGENT-KGRAPH</a:t>
            </a:r>
          </a:p>
        </p:txBody>
      </p:sp>
      <p:sp>
        <p:nvSpPr>
          <p:cNvPr id="6" name="Rectangle 5">
            <a:extLst>
              <a:ext uri="{FF2B5EF4-FFF2-40B4-BE49-F238E27FC236}">
                <a16:creationId xmlns:a16="http://schemas.microsoft.com/office/drawing/2014/main" id="{558B309F-6FEC-4B7B-BCA3-23D7C9E3549C}"/>
              </a:ext>
            </a:extLst>
          </p:cNvPr>
          <p:cNvSpPr>
            <a:spLocks noGrp="1"/>
          </p:cNvSpPr>
          <p:nvPr/>
        </p:nvSpPr>
        <p:spPr>
          <a:xfrm>
            <a:off x="666750" y="2305050"/>
            <a:ext cx="8763000" cy="990600"/>
          </a:xfrm>
          <a:prstGeom prst="rect">
            <a:avLst/>
          </a:prstGeom>
          <a:noFill/>
          <a:ln w="0">
            <a:noFill/>
            <a:prstDash val="solid"/>
          </a:ln>
        </p:spPr>
        <p:txBody>
          <a:bodyPr anchor="ctr"/>
          <a:lstStyle>
            <a:defPPr algn="l">
              <a:defRPr sz="2325" b="0">
                <a:solidFill>
                  <a:srgbClr val="DCE7F5"/>
                </a:solidFill>
              </a:defRPr>
            </a:defPPr>
            <a:lvl1pPr algn="l">
              <a:buNone/>
              <a:defRPr sz="2325" b="0">
                <a:solidFill>
                  <a:srgbClr val="DCE7F5"/>
                </a:solidFill>
              </a:defRPr>
            </a:lvl1pPr>
            <a:lvl2pPr algn="l">
              <a:buNone/>
              <a:defRPr sz="2325" b="0">
                <a:solidFill>
                  <a:srgbClr val="DCE7F5"/>
                </a:solidFill>
              </a:defRPr>
            </a:lvl2pPr>
            <a:lvl3pPr algn="l">
              <a:buNone/>
              <a:defRPr sz="2325" b="0">
                <a:solidFill>
                  <a:srgbClr val="DCE7F5"/>
                </a:solidFill>
              </a:defRPr>
            </a:lvl3pPr>
            <a:lvl4pPr algn="l">
              <a:buNone/>
              <a:defRPr sz="2325" b="0">
                <a:solidFill>
                  <a:srgbClr val="DCE7F5"/>
                </a:solidFill>
              </a:defRPr>
            </a:lvl4pPr>
            <a:lvl5pPr algn="l">
              <a:buNone/>
              <a:defRPr sz="2325" b="0">
                <a:solidFill>
                  <a:srgbClr val="DCE7F5"/>
                </a:solidFill>
              </a:defRPr>
            </a:lvl5pPr>
            <a:lvl6pPr algn="l">
              <a:buNone/>
              <a:defRPr sz="2325" b="0">
                <a:solidFill>
                  <a:srgbClr val="DCE7F5"/>
                </a:solidFill>
              </a:defRPr>
            </a:lvl6pPr>
            <a:lvl7pPr algn="l">
              <a:buNone/>
              <a:defRPr sz="2325" b="0">
                <a:solidFill>
                  <a:srgbClr val="DCE7F5"/>
                </a:solidFill>
              </a:defRPr>
            </a:lvl7pPr>
            <a:lvl8pPr algn="l">
              <a:buNone/>
              <a:defRPr sz="2325" b="0">
                <a:solidFill>
                  <a:srgbClr val="DCE7F5"/>
                </a:solidFill>
              </a:defRPr>
            </a:lvl8pPr>
            <a:lvl9pPr algn="l">
              <a:buNone/>
              <a:defRPr sz="2325" b="0">
                <a:solidFill>
                  <a:srgbClr val="DCE7F5"/>
                </a:solidFill>
              </a:defRPr>
            </a:lvl9pPr>
          </a:lstStyle>
          <a:p>
            <a:pPr algn="l">
              <a:buNone/>
              <a:defRPr sz="2325" b="0">
                <a:solidFill>
                  <a:srgbClr val="DCE7F5"/>
                </a:solidFill>
              </a:defRPr>
            </a:pPr>
            <a:r>
              <a:rPr sz="2325" b="0">
                <a:solidFill>
                  <a:srgbClr val="DCE7F5"/>
                </a:solidFill>
              </a:rPr>
              <a:t>Self-Evolving Agentic Knowledge-Graph Curation</a:t>
            </a:r>
          </a:p>
          <a:p>
            <a:pPr algn="l">
              <a:buNone/>
              <a:defRPr sz="2325" b="0">
                <a:solidFill>
                  <a:srgbClr val="DCE7F5"/>
                </a:solidFill>
              </a:defRPr>
            </a:pPr>
            <a:r>
              <a:rPr sz="2325" b="0">
                <a:solidFill>
                  <a:srgbClr val="DCE7F5"/>
                </a:solidFill>
              </a:rPr>
              <a:t>with Hybrid KG–Vector Retrieval</a:t>
            </a:r>
          </a:p>
        </p:txBody>
      </p:sp>
      <p:sp>
        <p:nvSpPr>
          <p:cNvPr id="7" name="Rectangle 6">
            <a:extLst>
              <a:ext uri="{FF2B5EF4-FFF2-40B4-BE49-F238E27FC236}">
                <a16:creationId xmlns:a16="http://schemas.microsoft.com/office/drawing/2014/main" id="{9CD47038-7327-4CB1-B1E2-710CF3B928DB}"/>
              </a:ext>
            </a:extLst>
          </p:cNvPr>
          <p:cNvSpPr>
            <a:spLocks noGrp="1"/>
          </p:cNvSpPr>
          <p:nvPr/>
        </p:nvSpPr>
        <p:spPr>
          <a:xfrm>
            <a:off x="666750" y="3638550"/>
            <a:ext cx="904875" cy="47625"/>
          </a:xfrm>
          <a:prstGeom prst="rect">
            <a:avLst/>
          </a:prstGeom>
          <a:solidFill>
            <a:srgbClr val="20A4B7"/>
          </a:solidFill>
          <a:ln w="0">
            <a:noFill/>
            <a:prstDash val="solid"/>
          </a:ln>
        </p:spPr>
      </p:sp>
      <p:sp>
        <p:nvSpPr>
          <p:cNvPr id="8" name="Rectangle 7">
            <a:extLst>
              <a:ext uri="{FF2B5EF4-FFF2-40B4-BE49-F238E27FC236}">
                <a16:creationId xmlns:a16="http://schemas.microsoft.com/office/drawing/2014/main" id="{3A0A43BB-5381-466C-9DEB-DD9902642E5E}"/>
              </a:ext>
            </a:extLst>
          </p:cNvPr>
          <p:cNvSpPr>
            <a:spLocks noGrp="1"/>
          </p:cNvSpPr>
          <p:nvPr/>
        </p:nvSpPr>
        <p:spPr>
          <a:xfrm>
            <a:off x="666750" y="4000500"/>
            <a:ext cx="8096250" cy="323850"/>
          </a:xfrm>
          <a:prstGeom prst="rect">
            <a:avLst/>
          </a:prstGeom>
          <a:noFill/>
          <a:ln w="0">
            <a:noFill/>
            <a:prstDash val="solid"/>
          </a:ln>
        </p:spPr>
        <p:txBody>
          <a:bodyPr anchor="ctr"/>
          <a:lstStyle>
            <a:defPPr algn="l">
              <a:defRPr sz="1575" b="1">
                <a:solidFill>
                  <a:srgbClr val="FFFFFF"/>
                </a:solidFill>
              </a:defRPr>
            </a:defPPr>
            <a:lvl1pPr algn="l">
              <a:buNone/>
              <a:defRPr sz="1575" b="1">
                <a:solidFill>
                  <a:srgbClr val="FFFFFF"/>
                </a:solidFill>
              </a:defRPr>
            </a:lvl1pPr>
            <a:lvl2pPr algn="l">
              <a:buNone/>
              <a:defRPr sz="1575" b="1">
                <a:solidFill>
                  <a:srgbClr val="FFFFFF"/>
                </a:solidFill>
              </a:defRPr>
            </a:lvl2pPr>
            <a:lvl3pPr algn="l">
              <a:buNone/>
              <a:defRPr sz="1575" b="1">
                <a:solidFill>
                  <a:srgbClr val="FFFFFF"/>
                </a:solidFill>
              </a:defRPr>
            </a:lvl3pPr>
            <a:lvl4pPr algn="l">
              <a:buNone/>
              <a:defRPr sz="1575" b="1">
                <a:solidFill>
                  <a:srgbClr val="FFFFFF"/>
                </a:solidFill>
              </a:defRPr>
            </a:lvl4pPr>
            <a:lvl5pPr algn="l">
              <a:buNone/>
              <a:defRPr sz="1575" b="1">
                <a:solidFill>
                  <a:srgbClr val="FFFFFF"/>
                </a:solidFill>
              </a:defRPr>
            </a:lvl5pPr>
            <a:lvl6pPr algn="l">
              <a:buNone/>
              <a:defRPr sz="1575" b="1">
                <a:solidFill>
                  <a:srgbClr val="FFFFFF"/>
                </a:solidFill>
              </a:defRPr>
            </a:lvl6pPr>
            <a:lvl7pPr algn="l">
              <a:buNone/>
              <a:defRPr sz="1575" b="1">
                <a:solidFill>
                  <a:srgbClr val="FFFFFF"/>
                </a:solidFill>
              </a:defRPr>
            </a:lvl7pPr>
            <a:lvl8pPr algn="l">
              <a:buNone/>
              <a:defRPr sz="1575" b="1">
                <a:solidFill>
                  <a:srgbClr val="FFFFFF"/>
                </a:solidFill>
              </a:defRPr>
            </a:lvl8pPr>
            <a:lvl9pPr algn="l">
              <a:buNone/>
              <a:defRPr sz="1575" b="1">
                <a:solidFill>
                  <a:srgbClr val="FFFFFF"/>
                </a:solidFill>
              </a:defRPr>
            </a:lvl9pPr>
          </a:lstStyle>
          <a:p>
            <a:pPr algn="l">
              <a:buNone/>
              <a:defRPr sz="1575" b="1">
                <a:solidFill>
                  <a:srgbClr val="FFFFFF"/>
                </a:solidFill>
              </a:defRPr>
            </a:pPr>
            <a:r>
              <a:rPr sz="1575" b="1">
                <a:solidFill>
                  <a:srgbClr val="FFFFFF"/>
                </a:solidFill>
              </a:rPr>
              <a:t>Devanshu Jayeshbhai Aslaliya  ·  24U020014</a:t>
            </a:r>
          </a:p>
        </p:txBody>
      </p:sp>
      <p:sp>
        <p:nvSpPr>
          <p:cNvPr id="9" name="Rectangle 8">
            <a:extLst>
              <a:ext uri="{FF2B5EF4-FFF2-40B4-BE49-F238E27FC236}">
                <a16:creationId xmlns:a16="http://schemas.microsoft.com/office/drawing/2014/main" id="{6B4D625D-82A9-4149-88A9-C19E7E8F0CAE}"/>
              </a:ext>
            </a:extLst>
          </p:cNvPr>
          <p:cNvSpPr>
            <a:spLocks noGrp="1"/>
          </p:cNvSpPr>
          <p:nvPr/>
        </p:nvSpPr>
        <p:spPr>
          <a:xfrm>
            <a:off x="666750" y="4391025"/>
            <a:ext cx="8286750" cy="647700"/>
          </a:xfrm>
          <a:prstGeom prst="rect">
            <a:avLst/>
          </a:prstGeom>
          <a:noFill/>
          <a:ln w="0">
            <a:noFill/>
            <a:prstDash val="solid"/>
          </a:ln>
        </p:spPr>
        <p:txBody>
          <a:bodyPr anchor="ctr"/>
          <a:lstStyle>
            <a:defPPr algn="l">
              <a:defRPr sz="1350" b="0">
                <a:solidFill>
                  <a:srgbClr val="B8C7D9"/>
                </a:solidFill>
              </a:defRPr>
            </a:defPPr>
            <a:lvl1pPr algn="l">
              <a:buNone/>
              <a:defRPr sz="1350" b="0">
                <a:solidFill>
                  <a:srgbClr val="B8C7D9"/>
                </a:solidFill>
              </a:defRPr>
            </a:lvl1pPr>
            <a:lvl2pPr algn="l">
              <a:buNone/>
              <a:defRPr sz="1350" b="0">
                <a:solidFill>
                  <a:srgbClr val="B8C7D9"/>
                </a:solidFill>
              </a:defRPr>
            </a:lvl2pPr>
            <a:lvl3pPr algn="l">
              <a:buNone/>
              <a:defRPr sz="1350" b="0">
                <a:solidFill>
                  <a:srgbClr val="B8C7D9"/>
                </a:solidFill>
              </a:defRPr>
            </a:lvl3pPr>
            <a:lvl4pPr algn="l">
              <a:buNone/>
              <a:defRPr sz="1350" b="0">
                <a:solidFill>
                  <a:srgbClr val="B8C7D9"/>
                </a:solidFill>
              </a:defRPr>
            </a:lvl4pPr>
            <a:lvl5pPr algn="l">
              <a:buNone/>
              <a:defRPr sz="1350" b="0">
                <a:solidFill>
                  <a:srgbClr val="B8C7D9"/>
                </a:solidFill>
              </a:defRPr>
            </a:lvl5pPr>
            <a:lvl6pPr algn="l">
              <a:buNone/>
              <a:defRPr sz="1350" b="0">
                <a:solidFill>
                  <a:srgbClr val="B8C7D9"/>
                </a:solidFill>
              </a:defRPr>
            </a:lvl6pPr>
            <a:lvl7pPr algn="l">
              <a:buNone/>
              <a:defRPr sz="1350" b="0">
                <a:solidFill>
                  <a:srgbClr val="B8C7D9"/>
                </a:solidFill>
              </a:defRPr>
            </a:lvl7pPr>
            <a:lvl8pPr algn="l">
              <a:buNone/>
              <a:defRPr sz="1350" b="0">
                <a:solidFill>
                  <a:srgbClr val="B8C7D9"/>
                </a:solidFill>
              </a:defRPr>
            </a:lvl8pPr>
            <a:lvl9pPr algn="l">
              <a:buNone/>
              <a:defRPr sz="1350" b="0">
                <a:solidFill>
                  <a:srgbClr val="B8C7D9"/>
                </a:solidFill>
              </a:defRPr>
            </a:lvl9pPr>
          </a:lstStyle>
          <a:p>
            <a:pPr algn="l">
              <a:buNone/>
              <a:defRPr sz="1350" b="0">
                <a:solidFill>
                  <a:srgbClr val="B8C7D9"/>
                </a:solidFill>
              </a:defRPr>
            </a:pPr>
            <a:r>
              <a:rPr sz="1350" b="0">
                <a:solidFill>
                  <a:srgbClr val="B8C7D9"/>
                </a:solidFill>
              </a:rPr>
              <a:t>Department of Computer Science and Engineering</a:t>
            </a:r>
          </a:p>
          <a:p>
            <a:pPr algn="l">
              <a:buNone/>
              <a:defRPr sz="1350" b="0">
                <a:solidFill>
                  <a:srgbClr val="B8C7D9"/>
                </a:solidFill>
              </a:defRPr>
            </a:pPr>
            <a:r>
              <a:rPr sz="1350" b="0">
                <a:solidFill>
                  <a:srgbClr val="B8C7D9"/>
                </a:solidFill>
              </a:rPr>
              <a:t>Indian Institute of Information Technology, Bhopal</a:t>
            </a:r>
          </a:p>
        </p:txBody>
      </p:sp>
      <p:sp>
        <p:nvSpPr>
          <p:cNvPr id="10" name="Rectangle 9">
            <a:extLst>
              <a:ext uri="{FF2B5EF4-FFF2-40B4-BE49-F238E27FC236}">
                <a16:creationId xmlns:a16="http://schemas.microsoft.com/office/drawing/2014/main" id="{DED2B76D-BF9A-432B-AAF7-19EF150A149E}"/>
              </a:ext>
            </a:extLst>
          </p:cNvPr>
          <p:cNvSpPr>
            <a:spLocks noGrp="1"/>
          </p:cNvSpPr>
          <p:nvPr/>
        </p:nvSpPr>
        <p:spPr>
          <a:xfrm>
            <a:off x="9639300" y="2076450"/>
            <a:ext cx="1143000" cy="19050"/>
          </a:xfrm>
          <a:prstGeom prst="rect">
            <a:avLst/>
          </a:prstGeom>
          <a:solidFill>
            <a:srgbClr val="405D7B"/>
          </a:solidFill>
          <a:ln w="0">
            <a:noFill/>
            <a:prstDash val="solid"/>
          </a:ln>
        </p:spPr>
      </p:sp>
      <p:sp>
        <p:nvSpPr>
          <p:cNvPr id="11" name="Rectangle 10">
            <a:extLst>
              <a:ext uri="{FF2B5EF4-FFF2-40B4-BE49-F238E27FC236}">
                <a16:creationId xmlns:a16="http://schemas.microsoft.com/office/drawing/2014/main" id="{222FB279-0623-4672-BACB-F6629E33B22C}"/>
              </a:ext>
            </a:extLst>
          </p:cNvPr>
          <p:cNvSpPr>
            <a:spLocks noGrp="1"/>
          </p:cNvSpPr>
          <p:nvPr/>
        </p:nvSpPr>
        <p:spPr>
          <a:xfrm>
            <a:off x="9544050" y="3171825"/>
            <a:ext cx="1504950" cy="19050"/>
          </a:xfrm>
          <a:prstGeom prst="rect">
            <a:avLst/>
          </a:prstGeom>
          <a:solidFill>
            <a:srgbClr val="405D7B"/>
          </a:solidFill>
          <a:ln w="0">
            <a:noFill/>
            <a:prstDash val="solid"/>
          </a:ln>
        </p:spPr>
      </p:sp>
      <p:sp>
        <p:nvSpPr>
          <p:cNvPr id="12" name="Rectangle 11">
            <a:extLst>
              <a:ext uri="{FF2B5EF4-FFF2-40B4-BE49-F238E27FC236}">
                <a16:creationId xmlns:a16="http://schemas.microsoft.com/office/drawing/2014/main" id="{D1BC9052-C18E-4974-9D6F-0AB204B6EBEB}"/>
              </a:ext>
            </a:extLst>
          </p:cNvPr>
          <p:cNvSpPr>
            <a:spLocks noGrp="1"/>
          </p:cNvSpPr>
          <p:nvPr/>
        </p:nvSpPr>
        <p:spPr>
          <a:xfrm>
            <a:off x="9201150" y="4514850"/>
            <a:ext cx="2000250" cy="19050"/>
          </a:xfrm>
          <a:prstGeom prst="rect">
            <a:avLst/>
          </a:prstGeom>
          <a:solidFill>
            <a:srgbClr val="405D7B"/>
          </a:solidFill>
          <a:ln w="0">
            <a:noFill/>
            <a:prstDash val="solid"/>
          </a:ln>
        </p:spPr>
      </p:sp>
      <p:sp>
        <p:nvSpPr>
          <p:cNvPr id="13" name="Rectangle 12">
            <a:extLst>
              <a:ext uri="{FF2B5EF4-FFF2-40B4-BE49-F238E27FC236}">
                <a16:creationId xmlns:a16="http://schemas.microsoft.com/office/drawing/2014/main" id="{42CE80CB-9CD5-4890-B6B2-A9560CC1BD9F}"/>
              </a:ext>
            </a:extLst>
          </p:cNvPr>
          <p:cNvSpPr>
            <a:spLocks noGrp="1"/>
          </p:cNvSpPr>
          <p:nvPr/>
        </p:nvSpPr>
        <p:spPr>
          <a:xfrm>
            <a:off x="9639300" y="1571625"/>
            <a:ext cx="19050" cy="1038225"/>
          </a:xfrm>
          <a:prstGeom prst="rect">
            <a:avLst/>
          </a:prstGeom>
          <a:solidFill>
            <a:srgbClr val="405D7B"/>
          </a:solidFill>
          <a:ln w="0">
            <a:noFill/>
            <a:prstDash val="solid"/>
          </a:ln>
        </p:spPr>
      </p:sp>
      <p:sp>
        <p:nvSpPr>
          <p:cNvPr id="14" name="Rectangle 13">
            <a:extLst>
              <a:ext uri="{FF2B5EF4-FFF2-40B4-BE49-F238E27FC236}">
                <a16:creationId xmlns:a16="http://schemas.microsoft.com/office/drawing/2014/main" id="{3AD8FBE4-E86F-40DA-A523-8C1987606296}"/>
              </a:ext>
            </a:extLst>
          </p:cNvPr>
          <p:cNvSpPr>
            <a:spLocks noGrp="1"/>
          </p:cNvSpPr>
          <p:nvPr/>
        </p:nvSpPr>
        <p:spPr>
          <a:xfrm>
            <a:off x="11049000" y="2076450"/>
            <a:ext cx="19050" cy="1095375"/>
          </a:xfrm>
          <a:prstGeom prst="rect">
            <a:avLst/>
          </a:prstGeom>
          <a:solidFill>
            <a:srgbClr val="405D7B"/>
          </a:solidFill>
          <a:ln w="0">
            <a:noFill/>
            <a:prstDash val="solid"/>
          </a:ln>
        </p:spPr>
      </p:sp>
      <p:sp>
        <p:nvSpPr>
          <p:cNvPr id="15" name="Oval 14">
            <a:extLst>
              <a:ext uri="{FF2B5EF4-FFF2-40B4-BE49-F238E27FC236}">
                <a16:creationId xmlns:a16="http://schemas.microsoft.com/office/drawing/2014/main" id="{70A6A687-3AF9-4D9A-8F5F-8539DCE258BA}"/>
              </a:ext>
            </a:extLst>
          </p:cNvPr>
          <p:cNvSpPr>
            <a:spLocks noGrp="1"/>
          </p:cNvSpPr>
          <p:nvPr/>
        </p:nvSpPr>
        <p:spPr>
          <a:xfrm>
            <a:off x="9791700" y="1457325"/>
            <a:ext cx="228600" cy="228600"/>
          </a:xfrm>
          <a:prstGeom prst="ellipse">
            <a:avLst/>
          </a:prstGeom>
          <a:solidFill>
            <a:srgbClr val="20A4B7"/>
          </a:solidFill>
          <a:ln w="19050">
            <a:solidFill>
              <a:srgbClr val="B6D7E7"/>
            </a:solidFill>
            <a:prstDash val="solid"/>
          </a:ln>
        </p:spPr>
      </p:sp>
      <p:sp>
        <p:nvSpPr>
          <p:cNvPr id="16" name="Oval 15">
            <a:extLst>
              <a:ext uri="{FF2B5EF4-FFF2-40B4-BE49-F238E27FC236}">
                <a16:creationId xmlns:a16="http://schemas.microsoft.com/office/drawing/2014/main" id="{21532E0C-57D2-4E57-A0C2-BB84CCC6661B}"/>
              </a:ext>
            </a:extLst>
          </p:cNvPr>
          <p:cNvSpPr>
            <a:spLocks noGrp="1"/>
          </p:cNvSpPr>
          <p:nvPr/>
        </p:nvSpPr>
        <p:spPr>
          <a:xfrm>
            <a:off x="10687050" y="1962150"/>
            <a:ext cx="228600" cy="228600"/>
          </a:xfrm>
          <a:prstGeom prst="ellipse">
            <a:avLst/>
          </a:prstGeom>
          <a:solidFill>
            <a:srgbClr val="2356A8"/>
          </a:solidFill>
          <a:ln w="19050">
            <a:solidFill>
              <a:srgbClr val="B6D7E7"/>
            </a:solidFill>
            <a:prstDash val="solid"/>
          </a:ln>
        </p:spPr>
      </p:sp>
      <p:sp>
        <p:nvSpPr>
          <p:cNvPr id="17" name="Oval 16">
            <a:extLst>
              <a:ext uri="{FF2B5EF4-FFF2-40B4-BE49-F238E27FC236}">
                <a16:creationId xmlns:a16="http://schemas.microsoft.com/office/drawing/2014/main" id="{2C8437B5-CF13-4672-AE84-F2E568D06ABB}"/>
              </a:ext>
            </a:extLst>
          </p:cNvPr>
          <p:cNvSpPr>
            <a:spLocks noGrp="1"/>
          </p:cNvSpPr>
          <p:nvPr/>
        </p:nvSpPr>
        <p:spPr>
          <a:xfrm>
            <a:off x="9544050" y="2495550"/>
            <a:ext cx="228600" cy="228600"/>
          </a:xfrm>
          <a:prstGeom prst="ellipse">
            <a:avLst/>
          </a:prstGeom>
          <a:solidFill>
            <a:srgbClr val="2356A8"/>
          </a:solidFill>
          <a:ln w="19050">
            <a:solidFill>
              <a:srgbClr val="B6D7E7"/>
            </a:solidFill>
            <a:prstDash val="solid"/>
          </a:ln>
        </p:spPr>
      </p:sp>
      <p:sp>
        <p:nvSpPr>
          <p:cNvPr id="18" name="Oval 17">
            <a:extLst>
              <a:ext uri="{FF2B5EF4-FFF2-40B4-BE49-F238E27FC236}">
                <a16:creationId xmlns:a16="http://schemas.microsoft.com/office/drawing/2014/main" id="{CB6673E9-737C-49B6-8FF8-23DA81431838}"/>
              </a:ext>
            </a:extLst>
          </p:cNvPr>
          <p:cNvSpPr>
            <a:spLocks noGrp="1"/>
          </p:cNvSpPr>
          <p:nvPr/>
        </p:nvSpPr>
        <p:spPr>
          <a:xfrm>
            <a:off x="10953750" y="3057525"/>
            <a:ext cx="228600" cy="228600"/>
          </a:xfrm>
          <a:prstGeom prst="ellipse">
            <a:avLst/>
          </a:prstGeom>
          <a:solidFill>
            <a:srgbClr val="20A4B7"/>
          </a:solidFill>
          <a:ln w="19050">
            <a:solidFill>
              <a:srgbClr val="B6D7E7"/>
            </a:solidFill>
            <a:prstDash val="solid"/>
          </a:ln>
        </p:spPr>
      </p:sp>
      <p:sp>
        <p:nvSpPr>
          <p:cNvPr id="19" name="Oval 18">
            <a:extLst>
              <a:ext uri="{FF2B5EF4-FFF2-40B4-BE49-F238E27FC236}">
                <a16:creationId xmlns:a16="http://schemas.microsoft.com/office/drawing/2014/main" id="{A2E6462C-B21C-45CC-AA25-A50E2CD5E611}"/>
              </a:ext>
            </a:extLst>
          </p:cNvPr>
          <p:cNvSpPr>
            <a:spLocks noGrp="1"/>
          </p:cNvSpPr>
          <p:nvPr/>
        </p:nvSpPr>
        <p:spPr>
          <a:xfrm>
            <a:off x="9886950" y="3800475"/>
            <a:ext cx="228600" cy="228600"/>
          </a:xfrm>
          <a:prstGeom prst="ellipse">
            <a:avLst/>
          </a:prstGeom>
          <a:solidFill>
            <a:srgbClr val="2356A8"/>
          </a:solidFill>
          <a:ln w="19050">
            <a:solidFill>
              <a:srgbClr val="B6D7E7"/>
            </a:solidFill>
            <a:prstDash val="solid"/>
          </a:ln>
        </p:spPr>
      </p:sp>
      <p:sp>
        <p:nvSpPr>
          <p:cNvPr id="20" name="Oval 19">
            <a:extLst>
              <a:ext uri="{FF2B5EF4-FFF2-40B4-BE49-F238E27FC236}">
                <a16:creationId xmlns:a16="http://schemas.microsoft.com/office/drawing/2014/main" id="{9E3AC179-FBDF-4413-9BEF-5E638C3AA264}"/>
              </a:ext>
            </a:extLst>
          </p:cNvPr>
          <p:cNvSpPr>
            <a:spLocks noGrp="1"/>
          </p:cNvSpPr>
          <p:nvPr/>
        </p:nvSpPr>
        <p:spPr>
          <a:xfrm>
            <a:off x="11134725" y="4400550"/>
            <a:ext cx="228600" cy="228600"/>
          </a:xfrm>
          <a:prstGeom prst="ellipse">
            <a:avLst/>
          </a:prstGeom>
          <a:solidFill>
            <a:srgbClr val="2356A8"/>
          </a:solidFill>
          <a:ln w="19050">
            <a:solidFill>
              <a:srgbClr val="B6D7E7"/>
            </a:solidFill>
            <a:prstDash val="solid"/>
          </a:ln>
        </p:spPr>
      </p:sp>
      <p:sp>
        <p:nvSpPr>
          <p:cNvPr id="21" name="Oval 20">
            <a:extLst>
              <a:ext uri="{FF2B5EF4-FFF2-40B4-BE49-F238E27FC236}">
                <a16:creationId xmlns:a16="http://schemas.microsoft.com/office/drawing/2014/main" id="{03B22F7C-A9D2-4501-81D5-EED0137AC5CD}"/>
              </a:ext>
            </a:extLst>
          </p:cNvPr>
          <p:cNvSpPr>
            <a:spLocks noGrp="1"/>
          </p:cNvSpPr>
          <p:nvPr/>
        </p:nvSpPr>
        <p:spPr>
          <a:xfrm>
            <a:off x="9086850" y="4524375"/>
            <a:ext cx="228600" cy="228600"/>
          </a:xfrm>
          <a:prstGeom prst="ellipse">
            <a:avLst/>
          </a:prstGeom>
          <a:solidFill>
            <a:srgbClr val="20A4B7"/>
          </a:solidFill>
          <a:ln w="19050">
            <a:solidFill>
              <a:srgbClr val="B6D7E7"/>
            </a:solidFill>
            <a:prstDash val="solid"/>
          </a:ln>
        </p:spPr>
      </p:sp>
      <p:sp>
        <p:nvSpPr>
          <p:cNvPr id="22" name="Rectangle 21">
            <a:extLst>
              <a:ext uri="{FF2B5EF4-FFF2-40B4-BE49-F238E27FC236}">
                <a16:creationId xmlns:a16="http://schemas.microsoft.com/office/drawing/2014/main" id="{C58767C1-F7AF-408A-9002-6A1F934A8EC7}"/>
              </a:ext>
            </a:extLst>
          </p:cNvPr>
          <p:cNvSpPr>
            <a:spLocks noGrp="1"/>
          </p:cNvSpPr>
          <p:nvPr/>
        </p:nvSpPr>
        <p:spPr>
          <a:xfrm>
            <a:off x="8477250" y="5238750"/>
            <a:ext cx="2952750" cy="266700"/>
          </a:xfrm>
          <a:prstGeom prst="rect">
            <a:avLst/>
          </a:prstGeom>
          <a:noFill/>
          <a:ln w="0">
            <a:noFill/>
            <a:prstDash val="solid"/>
          </a:ln>
        </p:spPr>
        <p:txBody>
          <a:bodyPr anchor="ctr"/>
          <a:lstStyle>
            <a:defPPr algn="r">
              <a:defRPr sz="1050" b="1">
                <a:solidFill>
                  <a:srgbClr val="B8C7D9"/>
                </a:solidFill>
              </a:defRPr>
            </a:defPPr>
            <a:lvl1pPr algn="r">
              <a:buNone/>
              <a:defRPr sz="1050" b="1">
                <a:solidFill>
                  <a:srgbClr val="B8C7D9"/>
                </a:solidFill>
              </a:defRPr>
            </a:lvl1pPr>
            <a:lvl2pPr algn="r">
              <a:buNone/>
              <a:defRPr sz="1050" b="1">
                <a:solidFill>
                  <a:srgbClr val="B8C7D9"/>
                </a:solidFill>
              </a:defRPr>
            </a:lvl2pPr>
            <a:lvl3pPr algn="r">
              <a:buNone/>
              <a:defRPr sz="1050" b="1">
                <a:solidFill>
                  <a:srgbClr val="B8C7D9"/>
                </a:solidFill>
              </a:defRPr>
            </a:lvl3pPr>
            <a:lvl4pPr algn="r">
              <a:buNone/>
              <a:defRPr sz="1050" b="1">
                <a:solidFill>
                  <a:srgbClr val="B8C7D9"/>
                </a:solidFill>
              </a:defRPr>
            </a:lvl4pPr>
            <a:lvl5pPr algn="r">
              <a:buNone/>
              <a:defRPr sz="1050" b="1">
                <a:solidFill>
                  <a:srgbClr val="B8C7D9"/>
                </a:solidFill>
              </a:defRPr>
            </a:lvl5pPr>
            <a:lvl6pPr algn="r">
              <a:buNone/>
              <a:defRPr sz="1050" b="1">
                <a:solidFill>
                  <a:srgbClr val="B8C7D9"/>
                </a:solidFill>
              </a:defRPr>
            </a:lvl6pPr>
            <a:lvl7pPr algn="r">
              <a:buNone/>
              <a:defRPr sz="1050" b="1">
                <a:solidFill>
                  <a:srgbClr val="B8C7D9"/>
                </a:solidFill>
              </a:defRPr>
            </a:lvl7pPr>
            <a:lvl8pPr algn="r">
              <a:buNone/>
              <a:defRPr sz="1050" b="1">
                <a:solidFill>
                  <a:srgbClr val="B8C7D9"/>
                </a:solidFill>
              </a:defRPr>
            </a:lvl8pPr>
            <a:lvl9pPr algn="r">
              <a:buNone/>
              <a:defRPr sz="1050" b="1">
                <a:solidFill>
                  <a:srgbClr val="B8C7D9"/>
                </a:solidFill>
              </a:defRPr>
            </a:lvl9pPr>
          </a:lstStyle>
          <a:p>
            <a:pPr algn="r">
              <a:buNone/>
              <a:defRPr sz="1050" b="1">
                <a:solidFill>
                  <a:srgbClr val="B8C7D9"/>
                </a:solidFill>
              </a:defRPr>
            </a:pPr>
            <a:r>
              <a:rPr sz="1050" b="1">
                <a:solidFill>
                  <a:srgbClr val="B8C7D9"/>
                </a:solidFill>
              </a:rPr>
              <a:t>GRAPH  ×  RETRIEVAL  ×  AGENTS</a:t>
            </a:r>
          </a:p>
        </p:txBody>
      </p:sp>
    </p:spTree>
    <p:extLst>
      <p:ext uri="{BB962C8B-B14F-4D97-AF65-F5344CB8AC3E}">
        <p14:creationId xmlns:p14="http://schemas.microsoft.com/office/powerpoint/2010/main" val="57771330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826F1AC-624A-4D5B-838A-68A8E20769AB}"/>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LITERATURE REVIEW / BACKGROUND</a:t>
            </a:r>
          </a:p>
        </p:txBody>
      </p:sp>
      <p:sp>
        <p:nvSpPr>
          <p:cNvPr id="2" name="Rectangle 1">
            <a:extLst>
              <a:ext uri="{FF2B5EF4-FFF2-40B4-BE49-F238E27FC236}">
                <a16:creationId xmlns:a16="http://schemas.microsoft.com/office/drawing/2014/main" id="{872D4CE8-6CCF-4BB7-B7A5-C9EC2202D047}"/>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Background: two ways to find evidence</a:t>
            </a:r>
          </a:p>
        </p:txBody>
      </p:sp>
      <p:sp>
        <p:nvSpPr>
          <p:cNvPr id="3" name="Rectangle 2">
            <a:extLst>
              <a:ext uri="{FF2B5EF4-FFF2-40B4-BE49-F238E27FC236}">
                <a16:creationId xmlns:a16="http://schemas.microsoft.com/office/drawing/2014/main" id="{5A8CDEBD-BD9F-44D0-9E85-A3113630AFC2}"/>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3FAE1A8E-52F4-491A-B125-B426542BC3C4}"/>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02</a:t>
            </a:r>
          </a:p>
        </p:txBody>
      </p:sp>
      <p:sp>
        <p:nvSpPr>
          <p:cNvPr id="7" name="Rectangle 6">
            <a:extLst>
              <a:ext uri="{FF2B5EF4-FFF2-40B4-BE49-F238E27FC236}">
                <a16:creationId xmlns:a16="http://schemas.microsoft.com/office/drawing/2014/main" id="{B912ACE8-D9A3-4B07-A028-CF44AE5C4F13}"/>
              </a:ext>
            </a:extLst>
          </p:cNvPr>
          <p:cNvSpPr>
            <a:spLocks noGrp="1"/>
          </p:cNvSpPr>
          <p:nvPr/>
        </p:nvSpPr>
        <p:spPr>
          <a:xfrm>
            <a:off x="609600" y="1390650"/>
            <a:ext cx="10572750" cy="428625"/>
          </a:xfrm>
          <a:prstGeom prst="rect">
            <a:avLst/>
          </a:prstGeom>
          <a:noFill/>
          <a:ln w="0">
            <a:noFill/>
            <a:prstDash val="solid"/>
          </a:ln>
        </p:spPr>
        <p:txBody>
          <a:bodyPr anchor="ctr"/>
          <a:lstStyle>
            <a:defPPr algn="l">
              <a:defRPr sz="1650" b="1">
                <a:solidFill>
                  <a:srgbClr val="1D2A3B"/>
                </a:solidFill>
              </a:defRPr>
            </a:defPPr>
            <a:lvl1pPr algn="l">
              <a:buNone/>
              <a:defRPr sz="1650" b="1">
                <a:solidFill>
                  <a:srgbClr val="1D2A3B"/>
                </a:solidFill>
              </a:defRPr>
            </a:lvl1pPr>
            <a:lvl2pPr algn="l">
              <a:buNone/>
              <a:defRPr sz="1650" b="1">
                <a:solidFill>
                  <a:srgbClr val="1D2A3B"/>
                </a:solidFill>
              </a:defRPr>
            </a:lvl2pPr>
            <a:lvl3pPr algn="l">
              <a:buNone/>
              <a:defRPr sz="1650" b="1">
                <a:solidFill>
                  <a:srgbClr val="1D2A3B"/>
                </a:solidFill>
              </a:defRPr>
            </a:lvl3pPr>
            <a:lvl4pPr algn="l">
              <a:buNone/>
              <a:defRPr sz="1650" b="1">
                <a:solidFill>
                  <a:srgbClr val="1D2A3B"/>
                </a:solidFill>
              </a:defRPr>
            </a:lvl4pPr>
            <a:lvl5pPr algn="l">
              <a:buNone/>
              <a:defRPr sz="1650" b="1">
                <a:solidFill>
                  <a:srgbClr val="1D2A3B"/>
                </a:solidFill>
              </a:defRPr>
            </a:lvl5pPr>
            <a:lvl6pPr algn="l">
              <a:buNone/>
              <a:defRPr sz="1650" b="1">
                <a:solidFill>
                  <a:srgbClr val="1D2A3B"/>
                </a:solidFill>
              </a:defRPr>
            </a:lvl6pPr>
            <a:lvl7pPr algn="l">
              <a:buNone/>
              <a:defRPr sz="1650" b="1">
                <a:solidFill>
                  <a:srgbClr val="1D2A3B"/>
                </a:solidFill>
              </a:defRPr>
            </a:lvl7pPr>
            <a:lvl8pPr algn="l">
              <a:buNone/>
              <a:defRPr sz="1650" b="1">
                <a:solidFill>
                  <a:srgbClr val="1D2A3B"/>
                </a:solidFill>
              </a:defRPr>
            </a:lvl8pPr>
            <a:lvl9pPr algn="l">
              <a:buNone/>
              <a:defRPr sz="1650" b="1">
                <a:solidFill>
                  <a:srgbClr val="1D2A3B"/>
                </a:solidFill>
              </a:defRPr>
            </a:lvl9pPr>
          </a:lstStyle>
          <a:p>
            <a:pPr algn="l">
              <a:buNone/>
              <a:defRPr sz="1650" b="1">
                <a:solidFill>
                  <a:srgbClr val="1D2A3B"/>
                </a:solidFill>
              </a:defRPr>
            </a:pPr>
            <a:r>
              <a:rPr sz="1650" b="1">
                <a:solidFill>
                  <a:srgbClr val="1D2A3B"/>
                </a:solidFill>
              </a:rPr>
              <a:t>A graph follows connections. Text search finds passages. This project brings both into one answer pipeline.</a:t>
            </a:r>
          </a:p>
        </p:txBody>
      </p:sp>
      <p:sp>
        <p:nvSpPr>
          <p:cNvPr id="8" name="Rectangle 7">
            <a:extLst>
              <a:ext uri="{FF2B5EF4-FFF2-40B4-BE49-F238E27FC236}">
                <a16:creationId xmlns:a16="http://schemas.microsoft.com/office/drawing/2014/main" id="{0DBD11A0-B62A-4961-8F11-33C030D963B3}"/>
              </a:ext>
            </a:extLst>
          </p:cNvPr>
          <p:cNvSpPr>
            <a:spLocks noGrp="1"/>
          </p:cNvSpPr>
          <p:nvPr/>
        </p:nvSpPr>
        <p:spPr>
          <a:xfrm>
            <a:off x="609600" y="2114550"/>
            <a:ext cx="38100" cy="1428750"/>
          </a:xfrm>
          <a:prstGeom prst="rect">
            <a:avLst/>
          </a:prstGeom>
          <a:solidFill>
            <a:srgbClr val="2356A8"/>
          </a:solidFill>
          <a:ln w="0">
            <a:noFill/>
            <a:prstDash val="solid"/>
          </a:ln>
        </p:spPr>
      </p:sp>
      <p:sp>
        <p:nvSpPr>
          <p:cNvPr id="9" name="Rectangle 8">
            <a:extLst>
              <a:ext uri="{FF2B5EF4-FFF2-40B4-BE49-F238E27FC236}">
                <a16:creationId xmlns:a16="http://schemas.microsoft.com/office/drawing/2014/main" id="{2C516BE6-9415-4014-B154-06249972C0F6}"/>
              </a:ext>
            </a:extLst>
          </p:cNvPr>
          <p:cNvSpPr>
            <a:spLocks noGrp="1"/>
          </p:cNvSpPr>
          <p:nvPr/>
        </p:nvSpPr>
        <p:spPr>
          <a:xfrm>
            <a:off x="781050" y="2181225"/>
            <a:ext cx="3048000" cy="257175"/>
          </a:xfrm>
          <a:prstGeom prst="rect">
            <a:avLst/>
          </a:prstGeom>
          <a:noFill/>
          <a:ln w="0">
            <a:noFill/>
            <a:prstDash val="solid"/>
          </a:ln>
        </p:spPr>
        <p:txBody>
          <a:bodyPr anchor="ctr"/>
          <a:lstStyle>
            <a:defPPr algn="l">
              <a:defRPr sz="1500" b="1">
                <a:solidFill>
                  <a:srgbClr val="14233F"/>
                </a:solidFill>
              </a:defRPr>
            </a:defPPr>
            <a:lvl1pPr algn="l">
              <a:buNone/>
              <a:defRPr sz="1500" b="1">
                <a:solidFill>
                  <a:srgbClr val="14233F"/>
                </a:solidFill>
              </a:defRPr>
            </a:lvl1pPr>
            <a:lvl2pPr algn="l">
              <a:buNone/>
              <a:defRPr sz="1500" b="1">
                <a:solidFill>
                  <a:srgbClr val="14233F"/>
                </a:solidFill>
              </a:defRPr>
            </a:lvl2pPr>
            <a:lvl3pPr algn="l">
              <a:buNone/>
              <a:defRPr sz="1500" b="1">
                <a:solidFill>
                  <a:srgbClr val="14233F"/>
                </a:solidFill>
              </a:defRPr>
            </a:lvl3pPr>
            <a:lvl4pPr algn="l">
              <a:buNone/>
              <a:defRPr sz="1500" b="1">
                <a:solidFill>
                  <a:srgbClr val="14233F"/>
                </a:solidFill>
              </a:defRPr>
            </a:lvl4pPr>
            <a:lvl5pPr algn="l">
              <a:buNone/>
              <a:defRPr sz="1500" b="1">
                <a:solidFill>
                  <a:srgbClr val="14233F"/>
                </a:solidFill>
              </a:defRPr>
            </a:lvl5pPr>
            <a:lvl6pPr algn="l">
              <a:buNone/>
              <a:defRPr sz="1500" b="1">
                <a:solidFill>
                  <a:srgbClr val="14233F"/>
                </a:solidFill>
              </a:defRPr>
            </a:lvl6pPr>
            <a:lvl7pPr algn="l">
              <a:buNone/>
              <a:defRPr sz="1500" b="1">
                <a:solidFill>
                  <a:srgbClr val="14233F"/>
                </a:solidFill>
              </a:defRPr>
            </a:lvl7pPr>
            <a:lvl8pPr algn="l">
              <a:buNone/>
              <a:defRPr sz="1500" b="1">
                <a:solidFill>
                  <a:srgbClr val="14233F"/>
                </a:solidFill>
              </a:defRPr>
            </a:lvl8pPr>
            <a:lvl9pPr algn="l">
              <a:buNone/>
              <a:defRPr sz="1500" b="1">
                <a:solidFill>
                  <a:srgbClr val="14233F"/>
                </a:solidFill>
              </a:defRPr>
            </a:lvl9pPr>
          </a:lstStyle>
          <a:p>
            <a:pPr algn="l">
              <a:buNone/>
              <a:defRPr sz="1500" b="1">
                <a:solidFill>
                  <a:srgbClr val="14233F"/>
                </a:solidFill>
              </a:defRPr>
            </a:pPr>
            <a:r>
              <a:rPr sz="1500" b="1">
                <a:solidFill>
                  <a:srgbClr val="14233F"/>
                </a:solidFill>
              </a:rPr>
              <a:t>Knowledge graphs</a:t>
            </a:r>
          </a:p>
        </p:txBody>
      </p:sp>
      <p:sp>
        <p:nvSpPr>
          <p:cNvPr id="10" name="Rectangle 9">
            <a:extLst>
              <a:ext uri="{FF2B5EF4-FFF2-40B4-BE49-F238E27FC236}">
                <a16:creationId xmlns:a16="http://schemas.microsoft.com/office/drawing/2014/main" id="{A3031EA7-9BAA-480F-ABBF-DB3174E352C0}"/>
              </a:ext>
            </a:extLst>
          </p:cNvPr>
          <p:cNvSpPr>
            <a:spLocks noGrp="1"/>
          </p:cNvSpPr>
          <p:nvPr/>
        </p:nvSpPr>
        <p:spPr>
          <a:xfrm>
            <a:off x="781050" y="2476500"/>
            <a:ext cx="3048000" cy="1009650"/>
          </a:xfrm>
          <a:prstGeom prst="rect">
            <a:avLst/>
          </a:prstGeom>
          <a:noFill/>
          <a:ln w="0">
            <a:noFill/>
            <a:prstDash val="solid"/>
          </a:ln>
        </p:spPr>
        <p:txBody>
          <a:bodyPr anchor="t"/>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Typed entity links support relation following and multi-hop paths. Coverage and entity quality constrain results.</a:t>
            </a:r>
          </a:p>
        </p:txBody>
      </p:sp>
      <p:sp>
        <p:nvSpPr>
          <p:cNvPr id="11" name="Rectangle 10">
            <a:extLst>
              <a:ext uri="{FF2B5EF4-FFF2-40B4-BE49-F238E27FC236}">
                <a16:creationId xmlns:a16="http://schemas.microsoft.com/office/drawing/2014/main" id="{A6957E85-4F0F-48C0-8E84-AF7E7AB43518}"/>
              </a:ext>
            </a:extLst>
          </p:cNvPr>
          <p:cNvSpPr>
            <a:spLocks noGrp="1"/>
          </p:cNvSpPr>
          <p:nvPr/>
        </p:nvSpPr>
        <p:spPr>
          <a:xfrm>
            <a:off x="4429125" y="2114550"/>
            <a:ext cx="38100" cy="1428750"/>
          </a:xfrm>
          <a:prstGeom prst="rect">
            <a:avLst/>
          </a:prstGeom>
          <a:solidFill>
            <a:srgbClr val="20A4B7"/>
          </a:solidFill>
          <a:ln w="0">
            <a:noFill/>
            <a:prstDash val="solid"/>
          </a:ln>
        </p:spPr>
      </p:sp>
      <p:sp>
        <p:nvSpPr>
          <p:cNvPr id="12" name="Rectangle 11">
            <a:extLst>
              <a:ext uri="{FF2B5EF4-FFF2-40B4-BE49-F238E27FC236}">
                <a16:creationId xmlns:a16="http://schemas.microsoft.com/office/drawing/2014/main" id="{9ADDAD8D-9185-4F69-B19B-6D2456572E60}"/>
              </a:ext>
            </a:extLst>
          </p:cNvPr>
          <p:cNvSpPr>
            <a:spLocks noGrp="1"/>
          </p:cNvSpPr>
          <p:nvPr/>
        </p:nvSpPr>
        <p:spPr>
          <a:xfrm>
            <a:off x="4600575" y="2181225"/>
            <a:ext cx="3048000" cy="257175"/>
          </a:xfrm>
          <a:prstGeom prst="rect">
            <a:avLst/>
          </a:prstGeom>
          <a:noFill/>
          <a:ln w="0">
            <a:noFill/>
            <a:prstDash val="solid"/>
          </a:ln>
        </p:spPr>
        <p:txBody>
          <a:bodyPr anchor="ctr"/>
          <a:lstStyle>
            <a:defPPr algn="l">
              <a:defRPr sz="1500" b="1">
                <a:solidFill>
                  <a:srgbClr val="14233F"/>
                </a:solidFill>
              </a:defRPr>
            </a:defPPr>
            <a:lvl1pPr algn="l">
              <a:buNone/>
              <a:defRPr sz="1500" b="1">
                <a:solidFill>
                  <a:srgbClr val="14233F"/>
                </a:solidFill>
              </a:defRPr>
            </a:lvl1pPr>
            <a:lvl2pPr algn="l">
              <a:buNone/>
              <a:defRPr sz="1500" b="1">
                <a:solidFill>
                  <a:srgbClr val="14233F"/>
                </a:solidFill>
              </a:defRPr>
            </a:lvl2pPr>
            <a:lvl3pPr algn="l">
              <a:buNone/>
              <a:defRPr sz="1500" b="1">
                <a:solidFill>
                  <a:srgbClr val="14233F"/>
                </a:solidFill>
              </a:defRPr>
            </a:lvl3pPr>
            <a:lvl4pPr algn="l">
              <a:buNone/>
              <a:defRPr sz="1500" b="1">
                <a:solidFill>
                  <a:srgbClr val="14233F"/>
                </a:solidFill>
              </a:defRPr>
            </a:lvl4pPr>
            <a:lvl5pPr algn="l">
              <a:buNone/>
              <a:defRPr sz="1500" b="1">
                <a:solidFill>
                  <a:srgbClr val="14233F"/>
                </a:solidFill>
              </a:defRPr>
            </a:lvl5pPr>
            <a:lvl6pPr algn="l">
              <a:buNone/>
              <a:defRPr sz="1500" b="1">
                <a:solidFill>
                  <a:srgbClr val="14233F"/>
                </a:solidFill>
              </a:defRPr>
            </a:lvl6pPr>
            <a:lvl7pPr algn="l">
              <a:buNone/>
              <a:defRPr sz="1500" b="1">
                <a:solidFill>
                  <a:srgbClr val="14233F"/>
                </a:solidFill>
              </a:defRPr>
            </a:lvl7pPr>
            <a:lvl8pPr algn="l">
              <a:buNone/>
              <a:defRPr sz="1500" b="1">
                <a:solidFill>
                  <a:srgbClr val="14233F"/>
                </a:solidFill>
              </a:defRPr>
            </a:lvl8pPr>
            <a:lvl9pPr algn="l">
              <a:buNone/>
              <a:defRPr sz="1500" b="1">
                <a:solidFill>
                  <a:srgbClr val="14233F"/>
                </a:solidFill>
              </a:defRPr>
            </a:lvl9pPr>
          </a:lstStyle>
          <a:p>
            <a:pPr algn="l">
              <a:buNone/>
              <a:defRPr sz="1500" b="1">
                <a:solidFill>
                  <a:srgbClr val="14233F"/>
                </a:solidFill>
              </a:defRPr>
            </a:pPr>
            <a:r>
              <a:rPr sz="1500" b="1">
                <a:solidFill>
                  <a:srgbClr val="14233F"/>
                </a:solidFill>
              </a:rPr>
              <a:t>Vector retrieval</a:t>
            </a:r>
          </a:p>
        </p:txBody>
      </p:sp>
      <p:sp>
        <p:nvSpPr>
          <p:cNvPr id="13" name="Rectangle 12">
            <a:extLst>
              <a:ext uri="{FF2B5EF4-FFF2-40B4-BE49-F238E27FC236}">
                <a16:creationId xmlns:a16="http://schemas.microsoft.com/office/drawing/2014/main" id="{FF264F8E-BD2F-450F-86C6-35617695BE89}"/>
              </a:ext>
            </a:extLst>
          </p:cNvPr>
          <p:cNvSpPr>
            <a:spLocks noGrp="1"/>
          </p:cNvSpPr>
          <p:nvPr/>
        </p:nvSpPr>
        <p:spPr>
          <a:xfrm>
            <a:off x="4600575" y="2476500"/>
            <a:ext cx="3048000" cy="1009650"/>
          </a:xfrm>
          <a:prstGeom prst="rect">
            <a:avLst/>
          </a:prstGeom>
          <a:noFill/>
          <a:ln w="0">
            <a:noFill/>
            <a:prstDash val="solid"/>
          </a:ln>
        </p:spPr>
        <p:txBody>
          <a:bodyPr anchor="t"/>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Dense embeddings retrieve semantically related passages; similarity alone does not guarantee direct support.</a:t>
            </a:r>
          </a:p>
        </p:txBody>
      </p:sp>
      <p:sp>
        <p:nvSpPr>
          <p:cNvPr id="14" name="Rectangle 13">
            <a:extLst>
              <a:ext uri="{FF2B5EF4-FFF2-40B4-BE49-F238E27FC236}">
                <a16:creationId xmlns:a16="http://schemas.microsoft.com/office/drawing/2014/main" id="{82C12B21-C4B8-4EF6-969F-E1B4D1868C3B}"/>
              </a:ext>
            </a:extLst>
          </p:cNvPr>
          <p:cNvSpPr>
            <a:spLocks noGrp="1"/>
          </p:cNvSpPr>
          <p:nvPr/>
        </p:nvSpPr>
        <p:spPr>
          <a:xfrm>
            <a:off x="8248650" y="2114550"/>
            <a:ext cx="38100" cy="1428750"/>
          </a:xfrm>
          <a:prstGeom prst="rect">
            <a:avLst/>
          </a:prstGeom>
          <a:solidFill>
            <a:srgbClr val="168A70"/>
          </a:solidFill>
          <a:ln w="0">
            <a:noFill/>
            <a:prstDash val="solid"/>
          </a:ln>
        </p:spPr>
      </p:sp>
      <p:sp>
        <p:nvSpPr>
          <p:cNvPr id="15" name="Rectangle 14">
            <a:extLst>
              <a:ext uri="{FF2B5EF4-FFF2-40B4-BE49-F238E27FC236}">
                <a16:creationId xmlns:a16="http://schemas.microsoft.com/office/drawing/2014/main" id="{053D8A67-F45E-4CA8-A4E7-0656719DD9E4}"/>
              </a:ext>
            </a:extLst>
          </p:cNvPr>
          <p:cNvSpPr>
            <a:spLocks noGrp="1"/>
          </p:cNvSpPr>
          <p:nvPr/>
        </p:nvSpPr>
        <p:spPr>
          <a:xfrm>
            <a:off x="8420100" y="2181225"/>
            <a:ext cx="3048000" cy="257175"/>
          </a:xfrm>
          <a:prstGeom prst="rect">
            <a:avLst/>
          </a:prstGeom>
          <a:noFill/>
          <a:ln w="0">
            <a:noFill/>
            <a:prstDash val="solid"/>
          </a:ln>
        </p:spPr>
        <p:txBody>
          <a:bodyPr anchor="ctr"/>
          <a:lstStyle>
            <a:defPPr algn="l">
              <a:defRPr sz="1500" b="1">
                <a:solidFill>
                  <a:srgbClr val="14233F"/>
                </a:solidFill>
              </a:defRPr>
            </a:defPPr>
            <a:lvl1pPr algn="l">
              <a:buNone/>
              <a:defRPr sz="1500" b="1">
                <a:solidFill>
                  <a:srgbClr val="14233F"/>
                </a:solidFill>
              </a:defRPr>
            </a:lvl1pPr>
            <a:lvl2pPr algn="l">
              <a:buNone/>
              <a:defRPr sz="1500" b="1">
                <a:solidFill>
                  <a:srgbClr val="14233F"/>
                </a:solidFill>
              </a:defRPr>
            </a:lvl2pPr>
            <a:lvl3pPr algn="l">
              <a:buNone/>
              <a:defRPr sz="1500" b="1">
                <a:solidFill>
                  <a:srgbClr val="14233F"/>
                </a:solidFill>
              </a:defRPr>
            </a:lvl3pPr>
            <a:lvl4pPr algn="l">
              <a:buNone/>
              <a:defRPr sz="1500" b="1">
                <a:solidFill>
                  <a:srgbClr val="14233F"/>
                </a:solidFill>
              </a:defRPr>
            </a:lvl4pPr>
            <a:lvl5pPr algn="l">
              <a:buNone/>
              <a:defRPr sz="1500" b="1">
                <a:solidFill>
                  <a:srgbClr val="14233F"/>
                </a:solidFill>
              </a:defRPr>
            </a:lvl5pPr>
            <a:lvl6pPr algn="l">
              <a:buNone/>
              <a:defRPr sz="1500" b="1">
                <a:solidFill>
                  <a:srgbClr val="14233F"/>
                </a:solidFill>
              </a:defRPr>
            </a:lvl6pPr>
            <a:lvl7pPr algn="l">
              <a:buNone/>
              <a:defRPr sz="1500" b="1">
                <a:solidFill>
                  <a:srgbClr val="14233F"/>
                </a:solidFill>
              </a:defRPr>
            </a:lvl7pPr>
            <a:lvl8pPr algn="l">
              <a:buNone/>
              <a:defRPr sz="1500" b="1">
                <a:solidFill>
                  <a:srgbClr val="14233F"/>
                </a:solidFill>
              </a:defRPr>
            </a:lvl8pPr>
            <a:lvl9pPr algn="l">
              <a:buNone/>
              <a:defRPr sz="1500" b="1">
                <a:solidFill>
                  <a:srgbClr val="14233F"/>
                </a:solidFill>
              </a:defRPr>
            </a:lvl9pPr>
          </a:lstStyle>
          <a:p>
            <a:pPr algn="l">
              <a:buNone/>
              <a:defRPr sz="1500" b="1">
                <a:solidFill>
                  <a:srgbClr val="14233F"/>
                </a:solidFill>
              </a:defRPr>
            </a:pPr>
            <a:r>
              <a:rPr sz="1500" b="1">
                <a:solidFill>
                  <a:srgbClr val="14233F"/>
                </a:solidFill>
              </a:rPr>
              <a:t>Agentic RAG</a:t>
            </a:r>
          </a:p>
        </p:txBody>
      </p:sp>
      <p:sp>
        <p:nvSpPr>
          <p:cNvPr id="16" name="Rectangle 15">
            <a:extLst>
              <a:ext uri="{FF2B5EF4-FFF2-40B4-BE49-F238E27FC236}">
                <a16:creationId xmlns:a16="http://schemas.microsoft.com/office/drawing/2014/main" id="{B9BFBE8A-A545-4DAE-A72B-BF27B2953A65}"/>
              </a:ext>
            </a:extLst>
          </p:cNvPr>
          <p:cNvSpPr>
            <a:spLocks noGrp="1"/>
          </p:cNvSpPr>
          <p:nvPr/>
        </p:nvSpPr>
        <p:spPr>
          <a:xfrm>
            <a:off x="8420100" y="2476500"/>
            <a:ext cx="3048000" cy="1009650"/>
          </a:xfrm>
          <a:prstGeom prst="rect">
            <a:avLst/>
          </a:prstGeom>
          <a:noFill/>
          <a:ln w="0">
            <a:noFill/>
            <a:prstDash val="solid"/>
          </a:ln>
        </p:spPr>
        <p:txBody>
          <a:bodyPr anchor="t"/>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A router can select evidence tools, then synthesis can answer with provenance. Routing quality must be measured.</a:t>
            </a:r>
          </a:p>
        </p:txBody>
      </p:sp>
      <p:sp>
        <p:nvSpPr>
          <p:cNvPr id="17" name="Rectangle 16">
            <a:extLst>
              <a:ext uri="{FF2B5EF4-FFF2-40B4-BE49-F238E27FC236}">
                <a16:creationId xmlns:a16="http://schemas.microsoft.com/office/drawing/2014/main" id="{1255C030-0C76-406C-9246-DA3B985E1EE6}"/>
              </a:ext>
            </a:extLst>
          </p:cNvPr>
          <p:cNvSpPr>
            <a:spLocks noGrp="1"/>
          </p:cNvSpPr>
          <p:nvPr/>
        </p:nvSpPr>
        <p:spPr>
          <a:xfrm>
            <a:off x="609600" y="3981450"/>
            <a:ext cx="10972800" cy="9525"/>
          </a:xfrm>
          <a:prstGeom prst="rect">
            <a:avLst/>
          </a:prstGeom>
          <a:solidFill>
            <a:srgbClr val="D7E0EC"/>
          </a:solidFill>
          <a:ln w="0">
            <a:noFill/>
            <a:prstDash val="solid"/>
          </a:ln>
        </p:spPr>
      </p:sp>
      <p:sp>
        <p:nvSpPr>
          <p:cNvPr id="18" name="Rectangle 17">
            <a:extLst>
              <a:ext uri="{FF2B5EF4-FFF2-40B4-BE49-F238E27FC236}">
                <a16:creationId xmlns:a16="http://schemas.microsoft.com/office/drawing/2014/main" id="{33661200-CB31-43A7-A78B-AB4EE70D3601}"/>
              </a:ext>
            </a:extLst>
          </p:cNvPr>
          <p:cNvSpPr>
            <a:spLocks noGrp="1"/>
          </p:cNvSpPr>
          <p:nvPr/>
        </p:nvSpPr>
        <p:spPr>
          <a:xfrm>
            <a:off x="609600" y="4248150"/>
            <a:ext cx="5048250" cy="285750"/>
          </a:xfrm>
          <a:prstGeom prst="rect">
            <a:avLst/>
          </a:prstGeom>
          <a:noFill/>
          <a:ln w="0">
            <a:noFill/>
            <a:prstDash val="solid"/>
          </a:ln>
        </p:spPr>
        <p:txBody>
          <a:bodyPr anchor="ctr"/>
          <a:lstStyle>
            <a:defPPr algn="l">
              <a:defRPr sz="1650" b="1">
                <a:solidFill>
                  <a:srgbClr val="14233F"/>
                </a:solidFill>
              </a:defRPr>
            </a:defPPr>
            <a:lvl1pPr algn="l">
              <a:buNone/>
              <a:defRPr sz="1650" b="1">
                <a:solidFill>
                  <a:srgbClr val="14233F"/>
                </a:solidFill>
              </a:defRPr>
            </a:lvl1pPr>
            <a:lvl2pPr algn="l">
              <a:buNone/>
              <a:defRPr sz="1650" b="1">
                <a:solidFill>
                  <a:srgbClr val="14233F"/>
                </a:solidFill>
              </a:defRPr>
            </a:lvl2pPr>
            <a:lvl3pPr algn="l">
              <a:buNone/>
              <a:defRPr sz="1650" b="1">
                <a:solidFill>
                  <a:srgbClr val="14233F"/>
                </a:solidFill>
              </a:defRPr>
            </a:lvl3pPr>
            <a:lvl4pPr algn="l">
              <a:buNone/>
              <a:defRPr sz="1650" b="1">
                <a:solidFill>
                  <a:srgbClr val="14233F"/>
                </a:solidFill>
              </a:defRPr>
            </a:lvl4pPr>
            <a:lvl5pPr algn="l">
              <a:buNone/>
              <a:defRPr sz="1650" b="1">
                <a:solidFill>
                  <a:srgbClr val="14233F"/>
                </a:solidFill>
              </a:defRPr>
            </a:lvl5pPr>
            <a:lvl6pPr algn="l">
              <a:buNone/>
              <a:defRPr sz="1650" b="1">
                <a:solidFill>
                  <a:srgbClr val="14233F"/>
                </a:solidFill>
              </a:defRPr>
            </a:lvl6pPr>
            <a:lvl7pPr algn="l">
              <a:buNone/>
              <a:defRPr sz="1650" b="1">
                <a:solidFill>
                  <a:srgbClr val="14233F"/>
                </a:solidFill>
              </a:defRPr>
            </a:lvl7pPr>
            <a:lvl8pPr algn="l">
              <a:buNone/>
              <a:defRPr sz="1650" b="1">
                <a:solidFill>
                  <a:srgbClr val="14233F"/>
                </a:solidFill>
              </a:defRPr>
            </a:lvl8pPr>
            <a:lvl9pPr algn="l">
              <a:buNone/>
              <a:defRPr sz="1650" b="1">
                <a:solidFill>
                  <a:srgbClr val="14233F"/>
                </a:solidFill>
              </a:defRPr>
            </a:lvl9pPr>
          </a:lstStyle>
          <a:p>
            <a:pPr algn="l">
              <a:buNone/>
              <a:defRPr sz="1650" b="1">
                <a:solidFill>
                  <a:srgbClr val="14233F"/>
                </a:solidFill>
              </a:defRPr>
            </a:pPr>
            <a:r>
              <a:rPr sz="1650" b="1">
                <a:solidFill>
                  <a:srgbClr val="14233F"/>
                </a:solidFill>
              </a:rPr>
              <a:t>What earlier work contributes</a:t>
            </a:r>
          </a:p>
        </p:txBody>
      </p:sp>
      <p:sp>
        <p:nvSpPr>
          <p:cNvPr id="19" name="Rectangle 18">
            <a:extLst>
              <a:ext uri="{FF2B5EF4-FFF2-40B4-BE49-F238E27FC236}">
                <a16:creationId xmlns:a16="http://schemas.microsoft.com/office/drawing/2014/main" id="{DB3AA8F7-9221-40EB-BB20-B51D05523052}"/>
              </a:ext>
            </a:extLst>
          </p:cNvPr>
          <p:cNvSpPr>
            <a:spLocks noGrp="1"/>
          </p:cNvSpPr>
          <p:nvPr/>
        </p:nvSpPr>
        <p:spPr>
          <a:xfrm>
            <a:off x="609600" y="4667250"/>
            <a:ext cx="10763250" cy="571500"/>
          </a:xfrm>
          <a:prstGeom prst="rect">
            <a:avLst/>
          </a:prstGeom>
          <a:noFill/>
          <a:ln w="0">
            <a:noFill/>
            <a:prstDash val="solid"/>
          </a:ln>
        </p:spPr>
        <p:txBody>
          <a:bodyPr anchor="t"/>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RAG grounds answers in documents. Knowledge graphs represent facts and links. Multi-hop QA follows several links to answer one question.</a:t>
            </a:r>
          </a:p>
        </p:txBody>
      </p:sp>
      <p:sp>
        <p:nvSpPr>
          <p:cNvPr id="20" name="Rectangle: Rounded Corners 19">
            <a:extLst>
              <a:ext uri="{FF2B5EF4-FFF2-40B4-BE49-F238E27FC236}">
                <a16:creationId xmlns:a16="http://schemas.microsoft.com/office/drawing/2014/main" id="{09ECD56B-9207-41A2-82AD-CD42A9A5F968}"/>
              </a:ext>
            </a:extLst>
          </p:cNvPr>
          <p:cNvSpPr>
            <a:spLocks noGrp="1"/>
          </p:cNvSpPr>
          <p:nvPr/>
        </p:nvSpPr>
        <p:spPr>
          <a:xfrm>
            <a:off x="609600" y="5448300"/>
            <a:ext cx="2857500" cy="400050"/>
          </a:xfrm>
          <a:prstGeom prst="roundRect">
            <a:avLst>
              <a:gd name="adj" fmla="val 19048"/>
            </a:avLst>
          </a:prstGeom>
          <a:solidFill>
            <a:srgbClr val="EAF1FA"/>
          </a:solidFill>
          <a:ln w="0">
            <a:noFill/>
            <a:prstDash val="solid"/>
          </a:ln>
        </p:spPr>
      </p:sp>
      <p:sp>
        <p:nvSpPr>
          <p:cNvPr id="21" name="Rectangle 20">
            <a:extLst>
              <a:ext uri="{FF2B5EF4-FFF2-40B4-BE49-F238E27FC236}">
                <a16:creationId xmlns:a16="http://schemas.microsoft.com/office/drawing/2014/main" id="{46EE003B-1F6E-42D1-ADD2-ACCE42277A17}"/>
              </a:ext>
            </a:extLst>
          </p:cNvPr>
          <p:cNvSpPr>
            <a:spLocks noGrp="1"/>
          </p:cNvSpPr>
          <p:nvPr/>
        </p:nvSpPr>
        <p:spPr>
          <a:xfrm>
            <a:off x="723900" y="5514975"/>
            <a:ext cx="2628900" cy="257175"/>
          </a:xfrm>
          <a:prstGeom prst="rect">
            <a:avLst/>
          </a:prstGeom>
          <a:noFill/>
          <a:ln w="0">
            <a:noFill/>
            <a:prstDash val="solid"/>
          </a:ln>
        </p:spPr>
        <p:txBody>
          <a:bodyPr anchor="ctr"/>
          <a:lstStyle>
            <a:defPPr algn="ctr">
              <a:defRPr sz="1200" b="1">
                <a:solidFill>
                  <a:srgbClr val="2356A8"/>
                </a:solidFill>
              </a:defRPr>
            </a:defPPr>
            <a:lvl1pPr algn="ctr">
              <a:buNone/>
              <a:defRPr sz="1200" b="1">
                <a:solidFill>
                  <a:srgbClr val="2356A8"/>
                </a:solidFill>
              </a:defRPr>
            </a:lvl1pPr>
            <a:lvl2pPr algn="ctr">
              <a:buNone/>
              <a:defRPr sz="1200" b="1">
                <a:solidFill>
                  <a:srgbClr val="2356A8"/>
                </a:solidFill>
              </a:defRPr>
            </a:lvl2pPr>
            <a:lvl3pPr algn="ctr">
              <a:buNone/>
              <a:defRPr sz="1200" b="1">
                <a:solidFill>
                  <a:srgbClr val="2356A8"/>
                </a:solidFill>
              </a:defRPr>
            </a:lvl3pPr>
            <a:lvl4pPr algn="ctr">
              <a:buNone/>
              <a:defRPr sz="1200" b="1">
                <a:solidFill>
                  <a:srgbClr val="2356A8"/>
                </a:solidFill>
              </a:defRPr>
            </a:lvl4pPr>
            <a:lvl5pPr algn="ctr">
              <a:buNone/>
              <a:defRPr sz="1200" b="1">
                <a:solidFill>
                  <a:srgbClr val="2356A8"/>
                </a:solidFill>
              </a:defRPr>
            </a:lvl5pPr>
            <a:lvl6pPr algn="ctr">
              <a:buNone/>
              <a:defRPr sz="1200" b="1">
                <a:solidFill>
                  <a:srgbClr val="2356A8"/>
                </a:solidFill>
              </a:defRPr>
            </a:lvl6pPr>
            <a:lvl7pPr algn="ctr">
              <a:buNone/>
              <a:defRPr sz="1200" b="1">
                <a:solidFill>
                  <a:srgbClr val="2356A8"/>
                </a:solidFill>
              </a:defRPr>
            </a:lvl7pPr>
            <a:lvl8pPr algn="ctr">
              <a:buNone/>
              <a:defRPr sz="1200" b="1">
                <a:solidFill>
                  <a:srgbClr val="2356A8"/>
                </a:solidFill>
              </a:defRPr>
            </a:lvl8pPr>
            <a:lvl9pPr algn="ctr">
              <a:buNone/>
              <a:defRPr sz="1200" b="1">
                <a:solidFill>
                  <a:srgbClr val="2356A8"/>
                </a:solidFill>
              </a:defRPr>
            </a:lvl9pPr>
          </a:lstStyle>
          <a:p>
            <a:pPr algn="ctr">
              <a:buNone/>
              <a:defRPr sz="1200" b="1">
                <a:solidFill>
                  <a:srgbClr val="2356A8"/>
                </a:solidFill>
              </a:defRPr>
            </a:pPr>
            <a:r>
              <a:rPr sz="1200" b="1">
                <a:solidFill>
                  <a:srgbClr val="2356A8"/>
                </a:solidFill>
              </a:rPr>
              <a:t>Knowledge graph</a:t>
            </a:r>
          </a:p>
        </p:txBody>
      </p:sp>
      <p:sp>
        <p:nvSpPr>
          <p:cNvPr id="22" name="Rectangle: Rounded Corners 21">
            <a:extLst>
              <a:ext uri="{FF2B5EF4-FFF2-40B4-BE49-F238E27FC236}">
                <a16:creationId xmlns:a16="http://schemas.microsoft.com/office/drawing/2014/main" id="{3B5CF112-F4FA-43DB-96B7-C336475FD6CD}"/>
              </a:ext>
            </a:extLst>
          </p:cNvPr>
          <p:cNvSpPr>
            <a:spLocks noGrp="1"/>
          </p:cNvSpPr>
          <p:nvPr/>
        </p:nvSpPr>
        <p:spPr>
          <a:xfrm>
            <a:off x="609600" y="5924550"/>
            <a:ext cx="2857500" cy="400050"/>
          </a:xfrm>
          <a:prstGeom prst="roundRect">
            <a:avLst>
              <a:gd name="adj" fmla="val 19048"/>
            </a:avLst>
          </a:prstGeom>
          <a:solidFill>
            <a:srgbClr val="E7F4F3"/>
          </a:solidFill>
          <a:ln w="0">
            <a:noFill/>
            <a:prstDash val="solid"/>
          </a:ln>
        </p:spPr>
      </p:sp>
      <p:sp>
        <p:nvSpPr>
          <p:cNvPr id="23" name="Rectangle 22">
            <a:extLst>
              <a:ext uri="{FF2B5EF4-FFF2-40B4-BE49-F238E27FC236}">
                <a16:creationId xmlns:a16="http://schemas.microsoft.com/office/drawing/2014/main" id="{B78DF1CB-FB28-421F-9500-DBCA200B2429}"/>
              </a:ext>
            </a:extLst>
          </p:cNvPr>
          <p:cNvSpPr>
            <a:spLocks noGrp="1"/>
          </p:cNvSpPr>
          <p:nvPr/>
        </p:nvSpPr>
        <p:spPr>
          <a:xfrm>
            <a:off x="723900" y="5991225"/>
            <a:ext cx="2628900" cy="257175"/>
          </a:xfrm>
          <a:prstGeom prst="rect">
            <a:avLst/>
          </a:prstGeom>
          <a:noFill/>
          <a:ln w="0">
            <a:noFill/>
            <a:prstDash val="solid"/>
          </a:ln>
        </p:spPr>
        <p:txBody>
          <a:bodyPr anchor="ctr"/>
          <a:lstStyle>
            <a:defPPr algn="ctr">
              <a:defRPr sz="1200" b="1">
                <a:solidFill>
                  <a:srgbClr val="168A70"/>
                </a:solidFill>
              </a:defRPr>
            </a:defPPr>
            <a:lvl1pPr algn="ctr">
              <a:buNone/>
              <a:defRPr sz="1200" b="1">
                <a:solidFill>
                  <a:srgbClr val="168A70"/>
                </a:solidFill>
              </a:defRPr>
            </a:lvl1pPr>
            <a:lvl2pPr algn="ctr">
              <a:buNone/>
              <a:defRPr sz="1200" b="1">
                <a:solidFill>
                  <a:srgbClr val="168A70"/>
                </a:solidFill>
              </a:defRPr>
            </a:lvl2pPr>
            <a:lvl3pPr algn="ctr">
              <a:buNone/>
              <a:defRPr sz="1200" b="1">
                <a:solidFill>
                  <a:srgbClr val="168A70"/>
                </a:solidFill>
              </a:defRPr>
            </a:lvl3pPr>
            <a:lvl4pPr algn="ctr">
              <a:buNone/>
              <a:defRPr sz="1200" b="1">
                <a:solidFill>
                  <a:srgbClr val="168A70"/>
                </a:solidFill>
              </a:defRPr>
            </a:lvl4pPr>
            <a:lvl5pPr algn="ctr">
              <a:buNone/>
              <a:defRPr sz="1200" b="1">
                <a:solidFill>
                  <a:srgbClr val="168A70"/>
                </a:solidFill>
              </a:defRPr>
            </a:lvl5pPr>
            <a:lvl6pPr algn="ctr">
              <a:buNone/>
              <a:defRPr sz="1200" b="1">
                <a:solidFill>
                  <a:srgbClr val="168A70"/>
                </a:solidFill>
              </a:defRPr>
            </a:lvl6pPr>
            <a:lvl7pPr algn="ctr">
              <a:buNone/>
              <a:defRPr sz="1200" b="1">
                <a:solidFill>
                  <a:srgbClr val="168A70"/>
                </a:solidFill>
              </a:defRPr>
            </a:lvl7pPr>
            <a:lvl8pPr algn="ctr">
              <a:buNone/>
              <a:defRPr sz="1200" b="1">
                <a:solidFill>
                  <a:srgbClr val="168A70"/>
                </a:solidFill>
              </a:defRPr>
            </a:lvl8pPr>
            <a:lvl9pPr algn="ctr">
              <a:buNone/>
              <a:defRPr sz="1200" b="1">
                <a:solidFill>
                  <a:srgbClr val="168A70"/>
                </a:solidFill>
              </a:defRPr>
            </a:lvl9pPr>
          </a:lstStyle>
          <a:p>
            <a:pPr algn="ctr">
              <a:buNone/>
              <a:defRPr sz="1200" b="1">
                <a:solidFill>
                  <a:srgbClr val="168A70"/>
                </a:solidFill>
              </a:defRPr>
            </a:pPr>
            <a:r>
              <a:rPr sz="1200" b="1">
                <a:solidFill>
                  <a:srgbClr val="168A70"/>
                </a:solidFill>
              </a:rPr>
              <a:t>Relevant text passages</a:t>
            </a:r>
          </a:p>
        </p:txBody>
      </p:sp>
      <p:sp>
        <p:nvSpPr>
          <p:cNvPr id="24" name="Arrow: Right 23">
            <a:extLst>
              <a:ext uri="{FF2B5EF4-FFF2-40B4-BE49-F238E27FC236}">
                <a16:creationId xmlns:a16="http://schemas.microsoft.com/office/drawing/2014/main" id="{D53030AC-0017-4807-A4BC-1E6F7D562AF5}"/>
              </a:ext>
            </a:extLst>
          </p:cNvPr>
          <p:cNvSpPr>
            <a:spLocks noGrp="1"/>
          </p:cNvSpPr>
          <p:nvPr/>
        </p:nvSpPr>
        <p:spPr>
          <a:xfrm>
            <a:off x="3638550" y="5610225"/>
            <a:ext cx="333375" cy="190500"/>
          </a:xfrm>
          <a:prstGeom prst="rightArrow">
            <a:avLst/>
          </a:prstGeom>
          <a:solidFill>
            <a:srgbClr val="20A4B7"/>
          </a:solidFill>
          <a:ln w="0">
            <a:noFill/>
            <a:prstDash val="solid"/>
          </a:ln>
        </p:spPr>
      </p:sp>
      <p:sp>
        <p:nvSpPr>
          <p:cNvPr id="25" name="Arrow: Right 24">
            <a:extLst>
              <a:ext uri="{FF2B5EF4-FFF2-40B4-BE49-F238E27FC236}">
                <a16:creationId xmlns:a16="http://schemas.microsoft.com/office/drawing/2014/main" id="{5FD50BC0-46CC-4216-BF13-18256BA9A164}"/>
              </a:ext>
            </a:extLst>
          </p:cNvPr>
          <p:cNvSpPr>
            <a:spLocks noGrp="1"/>
          </p:cNvSpPr>
          <p:nvPr/>
        </p:nvSpPr>
        <p:spPr>
          <a:xfrm>
            <a:off x="3638550" y="6086475"/>
            <a:ext cx="333375" cy="190500"/>
          </a:xfrm>
          <a:prstGeom prst="rightArrow">
            <a:avLst/>
          </a:prstGeom>
          <a:solidFill>
            <a:srgbClr val="20A4B7"/>
          </a:solidFill>
          <a:ln w="0">
            <a:noFill/>
            <a:prstDash val="solid"/>
          </a:ln>
        </p:spPr>
      </p:sp>
      <p:sp>
        <p:nvSpPr>
          <p:cNvPr id="26" name="Rectangle: Rounded Corners 25">
            <a:extLst>
              <a:ext uri="{FF2B5EF4-FFF2-40B4-BE49-F238E27FC236}">
                <a16:creationId xmlns:a16="http://schemas.microsoft.com/office/drawing/2014/main" id="{2096D294-4446-435E-AE80-459E606E6E37}"/>
              </a:ext>
            </a:extLst>
          </p:cNvPr>
          <p:cNvSpPr>
            <a:spLocks noGrp="1"/>
          </p:cNvSpPr>
          <p:nvPr/>
        </p:nvSpPr>
        <p:spPr>
          <a:xfrm>
            <a:off x="4095750" y="5600700"/>
            <a:ext cx="2324100" cy="438150"/>
          </a:xfrm>
          <a:prstGeom prst="roundRect">
            <a:avLst>
              <a:gd name="adj" fmla="val 17391"/>
            </a:avLst>
          </a:prstGeom>
          <a:solidFill>
            <a:srgbClr val="14233F"/>
          </a:solidFill>
          <a:ln w="0">
            <a:noFill/>
            <a:prstDash val="solid"/>
          </a:ln>
        </p:spPr>
      </p:sp>
      <p:sp>
        <p:nvSpPr>
          <p:cNvPr id="27" name="Rectangle 26">
            <a:extLst>
              <a:ext uri="{FF2B5EF4-FFF2-40B4-BE49-F238E27FC236}">
                <a16:creationId xmlns:a16="http://schemas.microsoft.com/office/drawing/2014/main" id="{E7533008-D199-4BB6-9708-274573B86E66}"/>
              </a:ext>
            </a:extLst>
          </p:cNvPr>
          <p:cNvSpPr>
            <a:spLocks noGrp="1"/>
          </p:cNvSpPr>
          <p:nvPr/>
        </p:nvSpPr>
        <p:spPr>
          <a:xfrm>
            <a:off x="4219575" y="5676900"/>
            <a:ext cx="2076450" cy="285750"/>
          </a:xfrm>
          <a:prstGeom prst="rect">
            <a:avLst/>
          </a:prstGeom>
          <a:noFill/>
          <a:ln w="0">
            <a:noFill/>
            <a:prstDash val="solid"/>
          </a:ln>
        </p:spPr>
        <p:txBody>
          <a:bodyPr anchor="ctr"/>
          <a:lstStyle>
            <a:defPPr algn="ctr">
              <a:defRPr sz="1200" b="1">
                <a:solidFill>
                  <a:srgbClr val="FFFFFF"/>
                </a:solidFill>
              </a:defRPr>
            </a:defPPr>
            <a:lvl1pPr algn="ctr">
              <a:buNone/>
              <a:defRPr sz="1200" b="1">
                <a:solidFill>
                  <a:srgbClr val="FFFFFF"/>
                </a:solidFill>
              </a:defRPr>
            </a:lvl1pPr>
            <a:lvl2pPr algn="ctr">
              <a:buNone/>
              <a:defRPr sz="1200" b="1">
                <a:solidFill>
                  <a:srgbClr val="FFFFFF"/>
                </a:solidFill>
              </a:defRPr>
            </a:lvl2pPr>
            <a:lvl3pPr algn="ctr">
              <a:buNone/>
              <a:defRPr sz="1200" b="1">
                <a:solidFill>
                  <a:srgbClr val="FFFFFF"/>
                </a:solidFill>
              </a:defRPr>
            </a:lvl3pPr>
            <a:lvl4pPr algn="ctr">
              <a:buNone/>
              <a:defRPr sz="1200" b="1">
                <a:solidFill>
                  <a:srgbClr val="FFFFFF"/>
                </a:solidFill>
              </a:defRPr>
            </a:lvl4pPr>
            <a:lvl5pPr algn="ctr">
              <a:buNone/>
              <a:defRPr sz="1200" b="1">
                <a:solidFill>
                  <a:srgbClr val="FFFFFF"/>
                </a:solidFill>
              </a:defRPr>
            </a:lvl5pPr>
            <a:lvl6pPr algn="ctr">
              <a:buNone/>
              <a:defRPr sz="1200" b="1">
                <a:solidFill>
                  <a:srgbClr val="FFFFFF"/>
                </a:solidFill>
              </a:defRPr>
            </a:lvl6pPr>
            <a:lvl7pPr algn="ctr">
              <a:buNone/>
              <a:defRPr sz="1200" b="1">
                <a:solidFill>
                  <a:srgbClr val="FFFFFF"/>
                </a:solidFill>
              </a:defRPr>
            </a:lvl7pPr>
            <a:lvl8pPr algn="ctr">
              <a:buNone/>
              <a:defRPr sz="1200" b="1">
                <a:solidFill>
                  <a:srgbClr val="FFFFFF"/>
                </a:solidFill>
              </a:defRPr>
            </a:lvl8pPr>
            <a:lvl9pPr algn="ctr">
              <a:buNone/>
              <a:defRPr sz="1200" b="1">
                <a:solidFill>
                  <a:srgbClr val="FFFFFF"/>
                </a:solidFill>
              </a:defRPr>
            </a:lvl9pPr>
          </a:lstStyle>
          <a:p>
            <a:pPr algn="ctr">
              <a:buNone/>
              <a:defRPr sz="1200" b="1">
                <a:solidFill>
                  <a:srgbClr val="FFFFFF"/>
                </a:solidFill>
              </a:defRPr>
            </a:pPr>
            <a:r>
              <a:rPr sz="1200" b="1">
                <a:solidFill>
                  <a:srgbClr val="FFFFFF"/>
                </a:solidFill>
              </a:rPr>
              <a:t>Evidence for answer</a:t>
            </a:r>
          </a:p>
        </p:txBody>
      </p:sp>
      <p:sp>
        <p:nvSpPr>
          <p:cNvPr id="28" name="Rectangle 27">
            <a:extLst>
              <a:ext uri="{FF2B5EF4-FFF2-40B4-BE49-F238E27FC236}">
                <a16:creationId xmlns:a16="http://schemas.microsoft.com/office/drawing/2014/main" id="{148E07C5-62E5-4F1D-93F8-93650944A404}"/>
              </a:ext>
            </a:extLst>
          </p:cNvPr>
          <p:cNvSpPr>
            <a:spLocks noGrp="1"/>
          </p:cNvSpPr>
          <p:nvPr/>
        </p:nvSpPr>
        <p:spPr>
          <a:xfrm>
            <a:off x="6705600" y="5648325"/>
            <a:ext cx="4619625" cy="400050"/>
          </a:xfrm>
          <a:prstGeom prst="rect">
            <a:avLst/>
          </a:prstGeom>
          <a:noFill/>
          <a:ln w="0">
            <a:noFill/>
            <a:prstDash val="solid"/>
          </a:ln>
        </p:spPr>
        <p:txBody>
          <a:bodyPr anchor="ctr"/>
          <a:lstStyle>
            <a:defPPr algn="l">
              <a:defRPr sz="1275" b="1">
                <a:solidFill>
                  <a:srgbClr val="14233F"/>
                </a:solidFill>
              </a:defRPr>
            </a:defPPr>
            <a:lvl1pPr algn="l">
              <a:buNone/>
              <a:defRPr sz="1275" b="1">
                <a:solidFill>
                  <a:srgbClr val="14233F"/>
                </a:solidFill>
              </a:defRPr>
            </a:lvl1pPr>
            <a:lvl2pPr algn="l">
              <a:buNone/>
              <a:defRPr sz="1275" b="1">
                <a:solidFill>
                  <a:srgbClr val="14233F"/>
                </a:solidFill>
              </a:defRPr>
            </a:lvl2pPr>
            <a:lvl3pPr algn="l">
              <a:buNone/>
              <a:defRPr sz="1275" b="1">
                <a:solidFill>
                  <a:srgbClr val="14233F"/>
                </a:solidFill>
              </a:defRPr>
            </a:lvl3pPr>
            <a:lvl4pPr algn="l">
              <a:buNone/>
              <a:defRPr sz="1275" b="1">
                <a:solidFill>
                  <a:srgbClr val="14233F"/>
                </a:solidFill>
              </a:defRPr>
            </a:lvl4pPr>
            <a:lvl5pPr algn="l">
              <a:buNone/>
              <a:defRPr sz="1275" b="1">
                <a:solidFill>
                  <a:srgbClr val="14233F"/>
                </a:solidFill>
              </a:defRPr>
            </a:lvl5pPr>
            <a:lvl6pPr algn="l">
              <a:buNone/>
              <a:defRPr sz="1275" b="1">
                <a:solidFill>
                  <a:srgbClr val="14233F"/>
                </a:solidFill>
              </a:defRPr>
            </a:lvl6pPr>
            <a:lvl7pPr algn="l">
              <a:buNone/>
              <a:defRPr sz="1275" b="1">
                <a:solidFill>
                  <a:srgbClr val="14233F"/>
                </a:solidFill>
              </a:defRPr>
            </a:lvl7pPr>
            <a:lvl8pPr algn="l">
              <a:buNone/>
              <a:defRPr sz="1275" b="1">
                <a:solidFill>
                  <a:srgbClr val="14233F"/>
                </a:solidFill>
              </a:defRPr>
            </a:lvl8pPr>
            <a:lvl9pPr algn="l">
              <a:buNone/>
              <a:defRPr sz="1275" b="1">
                <a:solidFill>
                  <a:srgbClr val="14233F"/>
                </a:solidFill>
              </a:defRPr>
            </a:lvl9pPr>
          </a:lstStyle>
          <a:p>
            <a:pPr algn="l">
              <a:buNone/>
              <a:defRPr sz="1275" b="1">
                <a:solidFill>
                  <a:srgbClr val="14233F"/>
                </a:solidFill>
              </a:defRPr>
            </a:pPr>
            <a:r>
              <a:rPr sz="1275" b="1">
                <a:solidFill>
                  <a:srgbClr val="14233F"/>
                </a:solidFill>
              </a:rPr>
              <a:t>Main point: use both evidence types; check whether each improves answers.</a:t>
            </a:r>
          </a:p>
        </p:txBody>
      </p:sp>
    </p:spTree>
    <p:extLst>
      <p:ext uri="{BB962C8B-B14F-4D97-AF65-F5344CB8AC3E}">
        <p14:creationId xmlns:p14="http://schemas.microsoft.com/office/powerpoint/2010/main" val="32643188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584CBFF-B368-4BF2-90EF-A3C32FB1CCF4}"/>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PROBLEM STATEMENT</a:t>
            </a:r>
          </a:p>
        </p:txBody>
      </p:sp>
      <p:sp>
        <p:nvSpPr>
          <p:cNvPr id="2" name="Rectangle 1">
            <a:extLst>
              <a:ext uri="{FF2B5EF4-FFF2-40B4-BE49-F238E27FC236}">
                <a16:creationId xmlns:a16="http://schemas.microsoft.com/office/drawing/2014/main" id="{F31F3B55-2034-42A5-BCBA-7612FC2E1434}"/>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Problem statement</a:t>
            </a:r>
          </a:p>
        </p:txBody>
      </p:sp>
      <p:sp>
        <p:nvSpPr>
          <p:cNvPr id="3" name="Rectangle 2">
            <a:extLst>
              <a:ext uri="{FF2B5EF4-FFF2-40B4-BE49-F238E27FC236}">
                <a16:creationId xmlns:a16="http://schemas.microsoft.com/office/drawing/2014/main" id="{FD02E044-7D64-4A0A-B7BC-64309C39DDD0}"/>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933897F9-56C1-49F1-AAC6-FB9485619F9D}"/>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03</a:t>
            </a:r>
          </a:p>
        </p:txBody>
      </p:sp>
      <p:sp>
        <p:nvSpPr>
          <p:cNvPr id="7" name="Rectangle 6">
            <a:extLst>
              <a:ext uri="{FF2B5EF4-FFF2-40B4-BE49-F238E27FC236}">
                <a16:creationId xmlns:a16="http://schemas.microsoft.com/office/drawing/2014/main" id="{5B338478-A5DC-4549-81B5-72724DAAFBE0}"/>
              </a:ext>
            </a:extLst>
          </p:cNvPr>
          <p:cNvSpPr>
            <a:spLocks noGrp="1"/>
          </p:cNvSpPr>
          <p:nvPr/>
        </p:nvSpPr>
        <p:spPr>
          <a:xfrm>
            <a:off x="609600" y="1428750"/>
            <a:ext cx="9906000" cy="400050"/>
          </a:xfrm>
          <a:prstGeom prst="rect">
            <a:avLst/>
          </a:prstGeom>
          <a:noFill/>
          <a:ln w="0">
            <a:noFill/>
            <a:prstDash val="solid"/>
          </a:ln>
        </p:spPr>
        <p:txBody>
          <a:bodyPr anchor="ctr"/>
          <a:lstStyle>
            <a:defPPr algn="l">
              <a:defRPr sz="1875" b="1">
                <a:solidFill>
                  <a:srgbClr val="14233F"/>
                </a:solidFill>
              </a:defRPr>
            </a:defPPr>
            <a:lvl1pPr algn="l">
              <a:buNone/>
              <a:defRPr sz="1875" b="1">
                <a:solidFill>
                  <a:srgbClr val="14233F"/>
                </a:solidFill>
              </a:defRPr>
            </a:lvl1pPr>
            <a:lvl2pPr algn="l">
              <a:buNone/>
              <a:defRPr sz="1875" b="1">
                <a:solidFill>
                  <a:srgbClr val="14233F"/>
                </a:solidFill>
              </a:defRPr>
            </a:lvl2pPr>
            <a:lvl3pPr algn="l">
              <a:buNone/>
              <a:defRPr sz="1875" b="1">
                <a:solidFill>
                  <a:srgbClr val="14233F"/>
                </a:solidFill>
              </a:defRPr>
            </a:lvl3pPr>
            <a:lvl4pPr algn="l">
              <a:buNone/>
              <a:defRPr sz="1875" b="1">
                <a:solidFill>
                  <a:srgbClr val="14233F"/>
                </a:solidFill>
              </a:defRPr>
            </a:lvl4pPr>
            <a:lvl5pPr algn="l">
              <a:buNone/>
              <a:defRPr sz="1875" b="1">
                <a:solidFill>
                  <a:srgbClr val="14233F"/>
                </a:solidFill>
              </a:defRPr>
            </a:lvl5pPr>
            <a:lvl6pPr algn="l">
              <a:buNone/>
              <a:defRPr sz="1875" b="1">
                <a:solidFill>
                  <a:srgbClr val="14233F"/>
                </a:solidFill>
              </a:defRPr>
            </a:lvl6pPr>
            <a:lvl7pPr algn="l">
              <a:buNone/>
              <a:defRPr sz="1875" b="1">
                <a:solidFill>
                  <a:srgbClr val="14233F"/>
                </a:solidFill>
              </a:defRPr>
            </a:lvl7pPr>
            <a:lvl8pPr algn="l">
              <a:buNone/>
              <a:defRPr sz="1875" b="1">
                <a:solidFill>
                  <a:srgbClr val="14233F"/>
                </a:solidFill>
              </a:defRPr>
            </a:lvl8pPr>
            <a:lvl9pPr algn="l">
              <a:buNone/>
              <a:defRPr sz="1875" b="1">
                <a:solidFill>
                  <a:srgbClr val="14233F"/>
                </a:solidFill>
              </a:defRPr>
            </a:lvl9pPr>
          </a:lstStyle>
          <a:p>
            <a:pPr algn="l">
              <a:buNone/>
              <a:defRPr sz="1875" b="1">
                <a:solidFill>
                  <a:srgbClr val="14233F"/>
                </a:solidFill>
              </a:defRPr>
            </a:pPr>
            <a:r>
              <a:rPr sz="1875" b="1">
                <a:solidFill>
                  <a:srgbClr val="14233F"/>
                </a:solidFill>
              </a:rPr>
              <a:t>One search method may miss a key fact or the text that explains it.</a:t>
            </a:r>
          </a:p>
        </p:txBody>
      </p:sp>
      <p:sp>
        <p:nvSpPr>
          <p:cNvPr id="8" name="Oval 7">
            <a:extLst>
              <a:ext uri="{FF2B5EF4-FFF2-40B4-BE49-F238E27FC236}">
                <a16:creationId xmlns:a16="http://schemas.microsoft.com/office/drawing/2014/main" id="{AB9798DD-FC23-4CD8-ABBC-B62BBA6A72CB}"/>
              </a:ext>
            </a:extLst>
          </p:cNvPr>
          <p:cNvSpPr>
            <a:spLocks noGrp="1"/>
          </p:cNvSpPr>
          <p:nvPr/>
        </p:nvSpPr>
        <p:spPr>
          <a:xfrm>
            <a:off x="647700" y="2257425"/>
            <a:ext cx="323850" cy="323850"/>
          </a:xfrm>
          <a:prstGeom prst="ellipse">
            <a:avLst/>
          </a:prstGeom>
          <a:solidFill>
            <a:srgbClr val="2356A8"/>
          </a:solidFill>
          <a:ln w="0">
            <a:noFill/>
            <a:prstDash val="solid"/>
          </a:ln>
        </p:spPr>
      </p:sp>
      <p:sp>
        <p:nvSpPr>
          <p:cNvPr id="9" name="Rectangle 8">
            <a:extLst>
              <a:ext uri="{FF2B5EF4-FFF2-40B4-BE49-F238E27FC236}">
                <a16:creationId xmlns:a16="http://schemas.microsoft.com/office/drawing/2014/main" id="{2B9C3C7C-D927-4142-A130-4A712C6672AA}"/>
              </a:ext>
            </a:extLst>
          </p:cNvPr>
          <p:cNvSpPr>
            <a:spLocks noGrp="1"/>
          </p:cNvSpPr>
          <p:nvPr/>
        </p:nvSpPr>
        <p:spPr>
          <a:xfrm>
            <a:off x="647700" y="2257425"/>
            <a:ext cx="323850" cy="323850"/>
          </a:xfrm>
          <a:prstGeom prst="rect">
            <a:avLst/>
          </a:prstGeom>
          <a:noFill/>
          <a:ln w="0">
            <a:noFill/>
            <a:prstDash val="solid"/>
          </a:ln>
        </p:spPr>
        <p:txBody>
          <a:bodyPr anchor="ctr"/>
          <a:lstStyle>
            <a:defPPr algn="ctr">
              <a:defRPr sz="1200" b="1">
                <a:solidFill>
                  <a:srgbClr val="FFFFFF"/>
                </a:solidFill>
              </a:defRPr>
            </a:defPPr>
            <a:lvl1pPr algn="ctr">
              <a:buNone/>
              <a:defRPr sz="1200" b="1">
                <a:solidFill>
                  <a:srgbClr val="FFFFFF"/>
                </a:solidFill>
              </a:defRPr>
            </a:lvl1pPr>
            <a:lvl2pPr algn="ctr">
              <a:buNone/>
              <a:defRPr sz="1200" b="1">
                <a:solidFill>
                  <a:srgbClr val="FFFFFF"/>
                </a:solidFill>
              </a:defRPr>
            </a:lvl2pPr>
            <a:lvl3pPr algn="ctr">
              <a:buNone/>
              <a:defRPr sz="1200" b="1">
                <a:solidFill>
                  <a:srgbClr val="FFFFFF"/>
                </a:solidFill>
              </a:defRPr>
            </a:lvl3pPr>
            <a:lvl4pPr algn="ctr">
              <a:buNone/>
              <a:defRPr sz="1200" b="1">
                <a:solidFill>
                  <a:srgbClr val="FFFFFF"/>
                </a:solidFill>
              </a:defRPr>
            </a:lvl4pPr>
            <a:lvl5pPr algn="ctr">
              <a:buNone/>
              <a:defRPr sz="1200" b="1">
                <a:solidFill>
                  <a:srgbClr val="FFFFFF"/>
                </a:solidFill>
              </a:defRPr>
            </a:lvl5pPr>
            <a:lvl6pPr algn="ctr">
              <a:buNone/>
              <a:defRPr sz="1200" b="1">
                <a:solidFill>
                  <a:srgbClr val="FFFFFF"/>
                </a:solidFill>
              </a:defRPr>
            </a:lvl6pPr>
            <a:lvl7pPr algn="ctr">
              <a:buNone/>
              <a:defRPr sz="1200" b="1">
                <a:solidFill>
                  <a:srgbClr val="FFFFFF"/>
                </a:solidFill>
              </a:defRPr>
            </a:lvl7pPr>
            <a:lvl8pPr algn="ctr">
              <a:buNone/>
              <a:defRPr sz="1200" b="1">
                <a:solidFill>
                  <a:srgbClr val="FFFFFF"/>
                </a:solidFill>
              </a:defRPr>
            </a:lvl8pPr>
            <a:lvl9pPr algn="ctr">
              <a:buNone/>
              <a:defRPr sz="1200" b="1">
                <a:solidFill>
                  <a:srgbClr val="FFFFFF"/>
                </a:solidFill>
              </a:defRPr>
            </a:lvl9pPr>
          </a:lstStyle>
          <a:p>
            <a:pPr algn="ctr">
              <a:buNone/>
              <a:defRPr sz="1200" b="1">
                <a:solidFill>
                  <a:srgbClr val="FFFFFF"/>
                </a:solidFill>
              </a:defRPr>
            </a:pPr>
            <a:r>
              <a:rPr sz="1200" b="1">
                <a:solidFill>
                  <a:srgbClr val="FFFFFF"/>
                </a:solidFill>
              </a:rPr>
              <a:t>1</a:t>
            </a:r>
          </a:p>
        </p:txBody>
      </p:sp>
      <p:sp>
        <p:nvSpPr>
          <p:cNvPr id="10" name="Rectangle 9">
            <a:extLst>
              <a:ext uri="{FF2B5EF4-FFF2-40B4-BE49-F238E27FC236}">
                <a16:creationId xmlns:a16="http://schemas.microsoft.com/office/drawing/2014/main" id="{8CD1A388-36E4-4B58-923F-8AD53B2C0C67}"/>
              </a:ext>
            </a:extLst>
          </p:cNvPr>
          <p:cNvSpPr>
            <a:spLocks noGrp="1"/>
          </p:cNvSpPr>
          <p:nvPr/>
        </p:nvSpPr>
        <p:spPr>
          <a:xfrm>
            <a:off x="1181100" y="2190750"/>
            <a:ext cx="2428875" cy="266700"/>
          </a:xfrm>
          <a:prstGeom prst="rect">
            <a:avLst/>
          </a:prstGeom>
          <a:noFill/>
          <a:ln w="0">
            <a:noFill/>
            <a:prstDash val="solid"/>
          </a:ln>
        </p:spPr>
        <p:txBody>
          <a:bodyPr anchor="ctr"/>
          <a:lstStyle>
            <a:defPPr algn="l">
              <a:defRPr sz="1575" b="1">
                <a:solidFill>
                  <a:srgbClr val="14233F"/>
                </a:solidFill>
              </a:defRPr>
            </a:defPPr>
            <a:lvl1pPr algn="l">
              <a:buNone/>
              <a:defRPr sz="1575" b="1">
                <a:solidFill>
                  <a:srgbClr val="14233F"/>
                </a:solidFill>
              </a:defRPr>
            </a:lvl1pPr>
            <a:lvl2pPr algn="l">
              <a:buNone/>
              <a:defRPr sz="1575" b="1">
                <a:solidFill>
                  <a:srgbClr val="14233F"/>
                </a:solidFill>
              </a:defRPr>
            </a:lvl2pPr>
            <a:lvl3pPr algn="l">
              <a:buNone/>
              <a:defRPr sz="1575" b="1">
                <a:solidFill>
                  <a:srgbClr val="14233F"/>
                </a:solidFill>
              </a:defRPr>
            </a:lvl3pPr>
            <a:lvl4pPr algn="l">
              <a:buNone/>
              <a:defRPr sz="1575" b="1">
                <a:solidFill>
                  <a:srgbClr val="14233F"/>
                </a:solidFill>
              </a:defRPr>
            </a:lvl4pPr>
            <a:lvl5pPr algn="l">
              <a:buNone/>
              <a:defRPr sz="1575" b="1">
                <a:solidFill>
                  <a:srgbClr val="14233F"/>
                </a:solidFill>
              </a:defRPr>
            </a:lvl5pPr>
            <a:lvl6pPr algn="l">
              <a:buNone/>
              <a:defRPr sz="1575" b="1">
                <a:solidFill>
                  <a:srgbClr val="14233F"/>
                </a:solidFill>
              </a:defRPr>
            </a:lvl6pPr>
            <a:lvl7pPr algn="l">
              <a:buNone/>
              <a:defRPr sz="1575" b="1">
                <a:solidFill>
                  <a:srgbClr val="14233F"/>
                </a:solidFill>
              </a:defRPr>
            </a:lvl7pPr>
            <a:lvl8pPr algn="l">
              <a:buNone/>
              <a:defRPr sz="1575" b="1">
                <a:solidFill>
                  <a:srgbClr val="14233F"/>
                </a:solidFill>
              </a:defRPr>
            </a:lvl8pPr>
            <a:lvl9pPr algn="l">
              <a:buNone/>
              <a:defRPr sz="1575" b="1">
                <a:solidFill>
                  <a:srgbClr val="14233F"/>
                </a:solidFill>
              </a:defRPr>
            </a:lvl9pPr>
          </a:lstStyle>
          <a:p>
            <a:pPr algn="l">
              <a:buNone/>
              <a:defRPr sz="1575" b="1">
                <a:solidFill>
                  <a:srgbClr val="14233F"/>
                </a:solidFill>
              </a:defRPr>
            </a:pPr>
            <a:r>
              <a:rPr sz="1575" b="1">
                <a:solidFill>
                  <a:srgbClr val="14233F"/>
                </a:solidFill>
              </a:rPr>
              <a:t>Missing links</a:t>
            </a:r>
          </a:p>
        </p:txBody>
      </p:sp>
      <p:sp>
        <p:nvSpPr>
          <p:cNvPr id="11" name="Rectangle 10">
            <a:extLst>
              <a:ext uri="{FF2B5EF4-FFF2-40B4-BE49-F238E27FC236}">
                <a16:creationId xmlns:a16="http://schemas.microsoft.com/office/drawing/2014/main" id="{E2874A37-24B0-4965-BBB2-A80A3485E5CB}"/>
              </a:ext>
            </a:extLst>
          </p:cNvPr>
          <p:cNvSpPr>
            <a:spLocks noGrp="1"/>
          </p:cNvSpPr>
          <p:nvPr/>
        </p:nvSpPr>
        <p:spPr>
          <a:xfrm>
            <a:off x="3676650" y="2181225"/>
            <a:ext cx="7239000" cy="457200"/>
          </a:xfrm>
          <a:prstGeom prst="rect">
            <a:avLst/>
          </a:prstGeom>
          <a:noFill/>
          <a:ln w="0">
            <a:noFill/>
            <a:prstDash val="solid"/>
          </a:ln>
        </p:spPr>
        <p:txBody>
          <a:bodyPr anchor="ctr"/>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The graph may not contain the connection needed for a multi-step answer.</a:t>
            </a:r>
          </a:p>
        </p:txBody>
      </p:sp>
      <p:sp>
        <p:nvSpPr>
          <p:cNvPr id="12" name="Oval 11">
            <a:extLst>
              <a:ext uri="{FF2B5EF4-FFF2-40B4-BE49-F238E27FC236}">
                <a16:creationId xmlns:a16="http://schemas.microsoft.com/office/drawing/2014/main" id="{3AA0A598-E7D4-415D-A663-D2C50C4891EF}"/>
              </a:ext>
            </a:extLst>
          </p:cNvPr>
          <p:cNvSpPr>
            <a:spLocks noGrp="1"/>
          </p:cNvSpPr>
          <p:nvPr/>
        </p:nvSpPr>
        <p:spPr>
          <a:xfrm>
            <a:off x="647700" y="3133725"/>
            <a:ext cx="323850" cy="323850"/>
          </a:xfrm>
          <a:prstGeom prst="ellipse">
            <a:avLst/>
          </a:prstGeom>
          <a:solidFill>
            <a:srgbClr val="20A4B7"/>
          </a:solidFill>
          <a:ln w="0">
            <a:noFill/>
            <a:prstDash val="solid"/>
          </a:ln>
        </p:spPr>
      </p:sp>
      <p:sp>
        <p:nvSpPr>
          <p:cNvPr id="13" name="Rectangle 12">
            <a:extLst>
              <a:ext uri="{FF2B5EF4-FFF2-40B4-BE49-F238E27FC236}">
                <a16:creationId xmlns:a16="http://schemas.microsoft.com/office/drawing/2014/main" id="{EFBB5A20-55C4-438D-B4F4-5E13A8D79B46}"/>
              </a:ext>
            </a:extLst>
          </p:cNvPr>
          <p:cNvSpPr>
            <a:spLocks noGrp="1"/>
          </p:cNvSpPr>
          <p:nvPr/>
        </p:nvSpPr>
        <p:spPr>
          <a:xfrm>
            <a:off x="647700" y="3133725"/>
            <a:ext cx="323850" cy="323850"/>
          </a:xfrm>
          <a:prstGeom prst="rect">
            <a:avLst/>
          </a:prstGeom>
          <a:noFill/>
          <a:ln w="0">
            <a:noFill/>
            <a:prstDash val="solid"/>
          </a:ln>
        </p:spPr>
        <p:txBody>
          <a:bodyPr anchor="ctr"/>
          <a:lstStyle>
            <a:defPPr algn="ctr">
              <a:defRPr sz="1200" b="1">
                <a:solidFill>
                  <a:srgbClr val="FFFFFF"/>
                </a:solidFill>
              </a:defRPr>
            </a:defPPr>
            <a:lvl1pPr algn="ctr">
              <a:buNone/>
              <a:defRPr sz="1200" b="1">
                <a:solidFill>
                  <a:srgbClr val="FFFFFF"/>
                </a:solidFill>
              </a:defRPr>
            </a:lvl1pPr>
            <a:lvl2pPr algn="ctr">
              <a:buNone/>
              <a:defRPr sz="1200" b="1">
                <a:solidFill>
                  <a:srgbClr val="FFFFFF"/>
                </a:solidFill>
              </a:defRPr>
            </a:lvl2pPr>
            <a:lvl3pPr algn="ctr">
              <a:buNone/>
              <a:defRPr sz="1200" b="1">
                <a:solidFill>
                  <a:srgbClr val="FFFFFF"/>
                </a:solidFill>
              </a:defRPr>
            </a:lvl3pPr>
            <a:lvl4pPr algn="ctr">
              <a:buNone/>
              <a:defRPr sz="1200" b="1">
                <a:solidFill>
                  <a:srgbClr val="FFFFFF"/>
                </a:solidFill>
              </a:defRPr>
            </a:lvl4pPr>
            <a:lvl5pPr algn="ctr">
              <a:buNone/>
              <a:defRPr sz="1200" b="1">
                <a:solidFill>
                  <a:srgbClr val="FFFFFF"/>
                </a:solidFill>
              </a:defRPr>
            </a:lvl5pPr>
            <a:lvl6pPr algn="ctr">
              <a:buNone/>
              <a:defRPr sz="1200" b="1">
                <a:solidFill>
                  <a:srgbClr val="FFFFFF"/>
                </a:solidFill>
              </a:defRPr>
            </a:lvl6pPr>
            <a:lvl7pPr algn="ctr">
              <a:buNone/>
              <a:defRPr sz="1200" b="1">
                <a:solidFill>
                  <a:srgbClr val="FFFFFF"/>
                </a:solidFill>
              </a:defRPr>
            </a:lvl7pPr>
            <a:lvl8pPr algn="ctr">
              <a:buNone/>
              <a:defRPr sz="1200" b="1">
                <a:solidFill>
                  <a:srgbClr val="FFFFFF"/>
                </a:solidFill>
              </a:defRPr>
            </a:lvl8pPr>
            <a:lvl9pPr algn="ctr">
              <a:buNone/>
              <a:defRPr sz="1200" b="1">
                <a:solidFill>
                  <a:srgbClr val="FFFFFF"/>
                </a:solidFill>
              </a:defRPr>
            </a:lvl9pPr>
          </a:lstStyle>
          <a:p>
            <a:pPr algn="ctr">
              <a:buNone/>
              <a:defRPr sz="1200" b="1">
                <a:solidFill>
                  <a:srgbClr val="FFFFFF"/>
                </a:solidFill>
              </a:defRPr>
            </a:pPr>
            <a:r>
              <a:rPr sz="1200" b="1">
                <a:solidFill>
                  <a:srgbClr val="FFFFFF"/>
                </a:solidFill>
              </a:rPr>
              <a:t>2</a:t>
            </a:r>
          </a:p>
        </p:txBody>
      </p:sp>
      <p:sp>
        <p:nvSpPr>
          <p:cNvPr id="14" name="Rectangle 13">
            <a:extLst>
              <a:ext uri="{FF2B5EF4-FFF2-40B4-BE49-F238E27FC236}">
                <a16:creationId xmlns:a16="http://schemas.microsoft.com/office/drawing/2014/main" id="{CDC59ABB-278C-485E-BA69-8B13D7932D84}"/>
              </a:ext>
            </a:extLst>
          </p:cNvPr>
          <p:cNvSpPr>
            <a:spLocks noGrp="1"/>
          </p:cNvSpPr>
          <p:nvPr/>
        </p:nvSpPr>
        <p:spPr>
          <a:xfrm>
            <a:off x="1181100" y="3067050"/>
            <a:ext cx="2428875" cy="266700"/>
          </a:xfrm>
          <a:prstGeom prst="rect">
            <a:avLst/>
          </a:prstGeom>
          <a:noFill/>
          <a:ln w="0">
            <a:noFill/>
            <a:prstDash val="solid"/>
          </a:ln>
        </p:spPr>
        <p:txBody>
          <a:bodyPr anchor="ctr"/>
          <a:lstStyle>
            <a:defPPr algn="l">
              <a:defRPr sz="1575" b="1">
                <a:solidFill>
                  <a:srgbClr val="14233F"/>
                </a:solidFill>
              </a:defRPr>
            </a:defPPr>
            <a:lvl1pPr algn="l">
              <a:buNone/>
              <a:defRPr sz="1575" b="1">
                <a:solidFill>
                  <a:srgbClr val="14233F"/>
                </a:solidFill>
              </a:defRPr>
            </a:lvl1pPr>
            <a:lvl2pPr algn="l">
              <a:buNone/>
              <a:defRPr sz="1575" b="1">
                <a:solidFill>
                  <a:srgbClr val="14233F"/>
                </a:solidFill>
              </a:defRPr>
            </a:lvl2pPr>
            <a:lvl3pPr algn="l">
              <a:buNone/>
              <a:defRPr sz="1575" b="1">
                <a:solidFill>
                  <a:srgbClr val="14233F"/>
                </a:solidFill>
              </a:defRPr>
            </a:lvl3pPr>
            <a:lvl4pPr algn="l">
              <a:buNone/>
              <a:defRPr sz="1575" b="1">
                <a:solidFill>
                  <a:srgbClr val="14233F"/>
                </a:solidFill>
              </a:defRPr>
            </a:lvl4pPr>
            <a:lvl5pPr algn="l">
              <a:buNone/>
              <a:defRPr sz="1575" b="1">
                <a:solidFill>
                  <a:srgbClr val="14233F"/>
                </a:solidFill>
              </a:defRPr>
            </a:lvl5pPr>
            <a:lvl6pPr algn="l">
              <a:buNone/>
              <a:defRPr sz="1575" b="1">
                <a:solidFill>
                  <a:srgbClr val="14233F"/>
                </a:solidFill>
              </a:defRPr>
            </a:lvl6pPr>
            <a:lvl7pPr algn="l">
              <a:buNone/>
              <a:defRPr sz="1575" b="1">
                <a:solidFill>
                  <a:srgbClr val="14233F"/>
                </a:solidFill>
              </a:defRPr>
            </a:lvl7pPr>
            <a:lvl8pPr algn="l">
              <a:buNone/>
              <a:defRPr sz="1575" b="1">
                <a:solidFill>
                  <a:srgbClr val="14233F"/>
                </a:solidFill>
              </a:defRPr>
            </a:lvl8pPr>
            <a:lvl9pPr algn="l">
              <a:buNone/>
              <a:defRPr sz="1575" b="1">
                <a:solidFill>
                  <a:srgbClr val="14233F"/>
                </a:solidFill>
              </a:defRPr>
            </a:lvl9pPr>
          </a:lstStyle>
          <a:p>
            <a:pPr algn="l">
              <a:buNone/>
              <a:defRPr sz="1575" b="1">
                <a:solidFill>
                  <a:srgbClr val="14233F"/>
                </a:solidFill>
              </a:defRPr>
            </a:pPr>
            <a:r>
              <a:rPr sz="1575" b="1">
                <a:solidFill>
                  <a:srgbClr val="14233F"/>
                </a:solidFill>
              </a:rPr>
              <a:t>Similar, but not proof</a:t>
            </a:r>
          </a:p>
        </p:txBody>
      </p:sp>
      <p:sp>
        <p:nvSpPr>
          <p:cNvPr id="15" name="Rectangle 14">
            <a:extLst>
              <a:ext uri="{FF2B5EF4-FFF2-40B4-BE49-F238E27FC236}">
                <a16:creationId xmlns:a16="http://schemas.microsoft.com/office/drawing/2014/main" id="{656F57E3-DE05-4777-8504-A00C48D65BDE}"/>
              </a:ext>
            </a:extLst>
          </p:cNvPr>
          <p:cNvSpPr>
            <a:spLocks noGrp="1"/>
          </p:cNvSpPr>
          <p:nvPr/>
        </p:nvSpPr>
        <p:spPr>
          <a:xfrm>
            <a:off x="3676650" y="3057525"/>
            <a:ext cx="7239000" cy="457200"/>
          </a:xfrm>
          <a:prstGeom prst="rect">
            <a:avLst/>
          </a:prstGeom>
          <a:noFill/>
          <a:ln w="0">
            <a:noFill/>
            <a:prstDash val="solid"/>
          </a:ln>
        </p:spPr>
        <p:txBody>
          <a:bodyPr anchor="ctr"/>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A passage can sound relevant without giving the answer.</a:t>
            </a:r>
          </a:p>
        </p:txBody>
      </p:sp>
      <p:sp>
        <p:nvSpPr>
          <p:cNvPr id="16" name="Oval 15">
            <a:extLst>
              <a:ext uri="{FF2B5EF4-FFF2-40B4-BE49-F238E27FC236}">
                <a16:creationId xmlns:a16="http://schemas.microsoft.com/office/drawing/2014/main" id="{1BC52290-EB12-42E8-ACD6-B1D835A6A4A7}"/>
              </a:ext>
            </a:extLst>
          </p:cNvPr>
          <p:cNvSpPr>
            <a:spLocks noGrp="1"/>
          </p:cNvSpPr>
          <p:nvPr/>
        </p:nvSpPr>
        <p:spPr>
          <a:xfrm>
            <a:off x="647700" y="4010025"/>
            <a:ext cx="323850" cy="323850"/>
          </a:xfrm>
          <a:prstGeom prst="ellipse">
            <a:avLst/>
          </a:prstGeom>
          <a:solidFill>
            <a:srgbClr val="D35D72"/>
          </a:solidFill>
          <a:ln w="0">
            <a:noFill/>
            <a:prstDash val="solid"/>
          </a:ln>
        </p:spPr>
      </p:sp>
      <p:sp>
        <p:nvSpPr>
          <p:cNvPr id="17" name="Rectangle 16">
            <a:extLst>
              <a:ext uri="{FF2B5EF4-FFF2-40B4-BE49-F238E27FC236}">
                <a16:creationId xmlns:a16="http://schemas.microsoft.com/office/drawing/2014/main" id="{67F1832A-6CAE-42F4-A9F2-98C3238C1425}"/>
              </a:ext>
            </a:extLst>
          </p:cNvPr>
          <p:cNvSpPr>
            <a:spLocks noGrp="1"/>
          </p:cNvSpPr>
          <p:nvPr/>
        </p:nvSpPr>
        <p:spPr>
          <a:xfrm>
            <a:off x="647700" y="4010025"/>
            <a:ext cx="323850" cy="323850"/>
          </a:xfrm>
          <a:prstGeom prst="rect">
            <a:avLst/>
          </a:prstGeom>
          <a:noFill/>
          <a:ln w="0">
            <a:noFill/>
            <a:prstDash val="solid"/>
          </a:ln>
        </p:spPr>
        <p:txBody>
          <a:bodyPr anchor="ctr"/>
          <a:lstStyle>
            <a:defPPr algn="ctr">
              <a:defRPr sz="1200" b="1">
                <a:solidFill>
                  <a:srgbClr val="FFFFFF"/>
                </a:solidFill>
              </a:defRPr>
            </a:defPPr>
            <a:lvl1pPr algn="ctr">
              <a:buNone/>
              <a:defRPr sz="1200" b="1">
                <a:solidFill>
                  <a:srgbClr val="FFFFFF"/>
                </a:solidFill>
              </a:defRPr>
            </a:lvl1pPr>
            <a:lvl2pPr algn="ctr">
              <a:buNone/>
              <a:defRPr sz="1200" b="1">
                <a:solidFill>
                  <a:srgbClr val="FFFFFF"/>
                </a:solidFill>
              </a:defRPr>
            </a:lvl2pPr>
            <a:lvl3pPr algn="ctr">
              <a:buNone/>
              <a:defRPr sz="1200" b="1">
                <a:solidFill>
                  <a:srgbClr val="FFFFFF"/>
                </a:solidFill>
              </a:defRPr>
            </a:lvl3pPr>
            <a:lvl4pPr algn="ctr">
              <a:buNone/>
              <a:defRPr sz="1200" b="1">
                <a:solidFill>
                  <a:srgbClr val="FFFFFF"/>
                </a:solidFill>
              </a:defRPr>
            </a:lvl4pPr>
            <a:lvl5pPr algn="ctr">
              <a:buNone/>
              <a:defRPr sz="1200" b="1">
                <a:solidFill>
                  <a:srgbClr val="FFFFFF"/>
                </a:solidFill>
              </a:defRPr>
            </a:lvl5pPr>
            <a:lvl6pPr algn="ctr">
              <a:buNone/>
              <a:defRPr sz="1200" b="1">
                <a:solidFill>
                  <a:srgbClr val="FFFFFF"/>
                </a:solidFill>
              </a:defRPr>
            </a:lvl6pPr>
            <a:lvl7pPr algn="ctr">
              <a:buNone/>
              <a:defRPr sz="1200" b="1">
                <a:solidFill>
                  <a:srgbClr val="FFFFFF"/>
                </a:solidFill>
              </a:defRPr>
            </a:lvl7pPr>
            <a:lvl8pPr algn="ctr">
              <a:buNone/>
              <a:defRPr sz="1200" b="1">
                <a:solidFill>
                  <a:srgbClr val="FFFFFF"/>
                </a:solidFill>
              </a:defRPr>
            </a:lvl8pPr>
            <a:lvl9pPr algn="ctr">
              <a:buNone/>
              <a:defRPr sz="1200" b="1">
                <a:solidFill>
                  <a:srgbClr val="FFFFFF"/>
                </a:solidFill>
              </a:defRPr>
            </a:lvl9pPr>
          </a:lstStyle>
          <a:p>
            <a:pPr algn="ctr">
              <a:buNone/>
              <a:defRPr sz="1200" b="1">
                <a:solidFill>
                  <a:srgbClr val="FFFFFF"/>
                </a:solidFill>
              </a:defRPr>
            </a:pPr>
            <a:r>
              <a:rPr sz="1200" b="1">
                <a:solidFill>
                  <a:srgbClr val="FFFFFF"/>
                </a:solidFill>
              </a:rPr>
              <a:t>3</a:t>
            </a:r>
          </a:p>
        </p:txBody>
      </p:sp>
      <p:sp>
        <p:nvSpPr>
          <p:cNvPr id="18" name="Rectangle 17">
            <a:extLst>
              <a:ext uri="{FF2B5EF4-FFF2-40B4-BE49-F238E27FC236}">
                <a16:creationId xmlns:a16="http://schemas.microsoft.com/office/drawing/2014/main" id="{3FFC6140-BDBE-4825-B832-2D9D09E72740}"/>
              </a:ext>
            </a:extLst>
          </p:cNvPr>
          <p:cNvSpPr>
            <a:spLocks noGrp="1"/>
          </p:cNvSpPr>
          <p:nvPr/>
        </p:nvSpPr>
        <p:spPr>
          <a:xfrm>
            <a:off x="1181100" y="3943350"/>
            <a:ext cx="2428875" cy="266700"/>
          </a:xfrm>
          <a:prstGeom prst="rect">
            <a:avLst/>
          </a:prstGeom>
          <a:noFill/>
          <a:ln w="0">
            <a:noFill/>
            <a:prstDash val="solid"/>
          </a:ln>
        </p:spPr>
        <p:txBody>
          <a:bodyPr anchor="ctr"/>
          <a:lstStyle>
            <a:defPPr algn="l">
              <a:defRPr sz="1575" b="1">
                <a:solidFill>
                  <a:srgbClr val="14233F"/>
                </a:solidFill>
              </a:defRPr>
            </a:defPPr>
            <a:lvl1pPr algn="l">
              <a:buNone/>
              <a:defRPr sz="1575" b="1">
                <a:solidFill>
                  <a:srgbClr val="14233F"/>
                </a:solidFill>
              </a:defRPr>
            </a:lvl1pPr>
            <a:lvl2pPr algn="l">
              <a:buNone/>
              <a:defRPr sz="1575" b="1">
                <a:solidFill>
                  <a:srgbClr val="14233F"/>
                </a:solidFill>
              </a:defRPr>
            </a:lvl2pPr>
            <a:lvl3pPr algn="l">
              <a:buNone/>
              <a:defRPr sz="1575" b="1">
                <a:solidFill>
                  <a:srgbClr val="14233F"/>
                </a:solidFill>
              </a:defRPr>
            </a:lvl3pPr>
            <a:lvl4pPr algn="l">
              <a:buNone/>
              <a:defRPr sz="1575" b="1">
                <a:solidFill>
                  <a:srgbClr val="14233F"/>
                </a:solidFill>
              </a:defRPr>
            </a:lvl4pPr>
            <a:lvl5pPr algn="l">
              <a:buNone/>
              <a:defRPr sz="1575" b="1">
                <a:solidFill>
                  <a:srgbClr val="14233F"/>
                </a:solidFill>
              </a:defRPr>
            </a:lvl5pPr>
            <a:lvl6pPr algn="l">
              <a:buNone/>
              <a:defRPr sz="1575" b="1">
                <a:solidFill>
                  <a:srgbClr val="14233F"/>
                </a:solidFill>
              </a:defRPr>
            </a:lvl6pPr>
            <a:lvl7pPr algn="l">
              <a:buNone/>
              <a:defRPr sz="1575" b="1">
                <a:solidFill>
                  <a:srgbClr val="14233F"/>
                </a:solidFill>
              </a:defRPr>
            </a:lvl7pPr>
            <a:lvl8pPr algn="l">
              <a:buNone/>
              <a:defRPr sz="1575" b="1">
                <a:solidFill>
                  <a:srgbClr val="14233F"/>
                </a:solidFill>
              </a:defRPr>
            </a:lvl8pPr>
            <a:lvl9pPr algn="l">
              <a:buNone/>
              <a:defRPr sz="1575" b="1">
                <a:solidFill>
                  <a:srgbClr val="14233F"/>
                </a:solidFill>
              </a:defRPr>
            </a:lvl9pPr>
          </a:lstStyle>
          <a:p>
            <a:pPr algn="l">
              <a:buNone/>
              <a:defRPr sz="1575" b="1">
                <a:solidFill>
                  <a:srgbClr val="14233F"/>
                </a:solidFill>
              </a:defRPr>
            </a:pPr>
            <a:r>
              <a:rPr sz="1575" b="1">
                <a:solidFill>
                  <a:srgbClr val="14233F"/>
                </a:solidFill>
              </a:rPr>
              <a:t>Extra generated claims</a:t>
            </a:r>
          </a:p>
        </p:txBody>
      </p:sp>
      <p:sp>
        <p:nvSpPr>
          <p:cNvPr id="19" name="Rectangle 18">
            <a:extLst>
              <a:ext uri="{FF2B5EF4-FFF2-40B4-BE49-F238E27FC236}">
                <a16:creationId xmlns:a16="http://schemas.microsoft.com/office/drawing/2014/main" id="{83D14BAC-F037-478F-B90D-7B44FDE65B00}"/>
              </a:ext>
            </a:extLst>
          </p:cNvPr>
          <p:cNvSpPr>
            <a:spLocks noGrp="1"/>
          </p:cNvSpPr>
          <p:nvPr/>
        </p:nvSpPr>
        <p:spPr>
          <a:xfrm>
            <a:off x="3676650" y="3933825"/>
            <a:ext cx="7239000" cy="457200"/>
          </a:xfrm>
          <a:prstGeom prst="rect">
            <a:avLst/>
          </a:prstGeom>
          <a:noFill/>
          <a:ln w="0">
            <a:noFill/>
            <a:prstDash val="solid"/>
          </a:ln>
        </p:spPr>
        <p:txBody>
          <a:bodyPr anchor="ctr"/>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The model may add details that the evidence does not support.</a:t>
            </a:r>
          </a:p>
        </p:txBody>
      </p:sp>
      <p:sp>
        <p:nvSpPr>
          <p:cNvPr id="20" name="Oval 19">
            <a:extLst>
              <a:ext uri="{FF2B5EF4-FFF2-40B4-BE49-F238E27FC236}">
                <a16:creationId xmlns:a16="http://schemas.microsoft.com/office/drawing/2014/main" id="{F70E4DD6-D62C-482D-8B0A-986842556C4D}"/>
              </a:ext>
            </a:extLst>
          </p:cNvPr>
          <p:cNvSpPr>
            <a:spLocks noGrp="1"/>
          </p:cNvSpPr>
          <p:nvPr/>
        </p:nvSpPr>
        <p:spPr>
          <a:xfrm>
            <a:off x="647700" y="4886325"/>
            <a:ext cx="323850" cy="323850"/>
          </a:xfrm>
          <a:prstGeom prst="ellipse">
            <a:avLst/>
          </a:prstGeom>
          <a:solidFill>
            <a:srgbClr val="168A70"/>
          </a:solidFill>
          <a:ln w="0">
            <a:noFill/>
            <a:prstDash val="solid"/>
          </a:ln>
        </p:spPr>
      </p:sp>
      <p:sp>
        <p:nvSpPr>
          <p:cNvPr id="21" name="Rectangle 20">
            <a:extLst>
              <a:ext uri="{FF2B5EF4-FFF2-40B4-BE49-F238E27FC236}">
                <a16:creationId xmlns:a16="http://schemas.microsoft.com/office/drawing/2014/main" id="{2D5D1FFD-34DE-4BA5-A304-39158798FFF0}"/>
              </a:ext>
            </a:extLst>
          </p:cNvPr>
          <p:cNvSpPr>
            <a:spLocks noGrp="1"/>
          </p:cNvSpPr>
          <p:nvPr/>
        </p:nvSpPr>
        <p:spPr>
          <a:xfrm>
            <a:off x="647700" y="4886325"/>
            <a:ext cx="323850" cy="323850"/>
          </a:xfrm>
          <a:prstGeom prst="rect">
            <a:avLst/>
          </a:prstGeom>
          <a:noFill/>
          <a:ln w="0">
            <a:noFill/>
            <a:prstDash val="solid"/>
          </a:ln>
        </p:spPr>
        <p:txBody>
          <a:bodyPr anchor="ctr"/>
          <a:lstStyle>
            <a:defPPr algn="ctr">
              <a:defRPr sz="1200" b="1">
                <a:solidFill>
                  <a:srgbClr val="FFFFFF"/>
                </a:solidFill>
              </a:defRPr>
            </a:defPPr>
            <a:lvl1pPr algn="ctr">
              <a:buNone/>
              <a:defRPr sz="1200" b="1">
                <a:solidFill>
                  <a:srgbClr val="FFFFFF"/>
                </a:solidFill>
              </a:defRPr>
            </a:lvl1pPr>
            <a:lvl2pPr algn="ctr">
              <a:buNone/>
              <a:defRPr sz="1200" b="1">
                <a:solidFill>
                  <a:srgbClr val="FFFFFF"/>
                </a:solidFill>
              </a:defRPr>
            </a:lvl2pPr>
            <a:lvl3pPr algn="ctr">
              <a:buNone/>
              <a:defRPr sz="1200" b="1">
                <a:solidFill>
                  <a:srgbClr val="FFFFFF"/>
                </a:solidFill>
              </a:defRPr>
            </a:lvl3pPr>
            <a:lvl4pPr algn="ctr">
              <a:buNone/>
              <a:defRPr sz="1200" b="1">
                <a:solidFill>
                  <a:srgbClr val="FFFFFF"/>
                </a:solidFill>
              </a:defRPr>
            </a:lvl4pPr>
            <a:lvl5pPr algn="ctr">
              <a:buNone/>
              <a:defRPr sz="1200" b="1">
                <a:solidFill>
                  <a:srgbClr val="FFFFFF"/>
                </a:solidFill>
              </a:defRPr>
            </a:lvl5pPr>
            <a:lvl6pPr algn="ctr">
              <a:buNone/>
              <a:defRPr sz="1200" b="1">
                <a:solidFill>
                  <a:srgbClr val="FFFFFF"/>
                </a:solidFill>
              </a:defRPr>
            </a:lvl6pPr>
            <a:lvl7pPr algn="ctr">
              <a:buNone/>
              <a:defRPr sz="1200" b="1">
                <a:solidFill>
                  <a:srgbClr val="FFFFFF"/>
                </a:solidFill>
              </a:defRPr>
            </a:lvl7pPr>
            <a:lvl8pPr algn="ctr">
              <a:buNone/>
              <a:defRPr sz="1200" b="1">
                <a:solidFill>
                  <a:srgbClr val="FFFFFF"/>
                </a:solidFill>
              </a:defRPr>
            </a:lvl8pPr>
            <a:lvl9pPr algn="ctr">
              <a:buNone/>
              <a:defRPr sz="1200" b="1">
                <a:solidFill>
                  <a:srgbClr val="FFFFFF"/>
                </a:solidFill>
              </a:defRPr>
            </a:lvl9pPr>
          </a:lstStyle>
          <a:p>
            <a:pPr algn="ctr">
              <a:buNone/>
              <a:defRPr sz="1200" b="1">
                <a:solidFill>
                  <a:srgbClr val="FFFFFF"/>
                </a:solidFill>
              </a:defRPr>
            </a:pPr>
            <a:r>
              <a:rPr sz="1200" b="1">
                <a:solidFill>
                  <a:srgbClr val="FFFFFF"/>
                </a:solidFill>
              </a:rPr>
              <a:t>4</a:t>
            </a:r>
          </a:p>
        </p:txBody>
      </p:sp>
      <p:sp>
        <p:nvSpPr>
          <p:cNvPr id="22" name="Rectangle 21">
            <a:extLst>
              <a:ext uri="{FF2B5EF4-FFF2-40B4-BE49-F238E27FC236}">
                <a16:creationId xmlns:a16="http://schemas.microsoft.com/office/drawing/2014/main" id="{E3D295D6-8D8F-45B8-AE96-2D0625DAF390}"/>
              </a:ext>
            </a:extLst>
          </p:cNvPr>
          <p:cNvSpPr>
            <a:spLocks noGrp="1"/>
          </p:cNvSpPr>
          <p:nvPr/>
        </p:nvSpPr>
        <p:spPr>
          <a:xfrm>
            <a:off x="1181100" y="4819650"/>
            <a:ext cx="2428875" cy="266700"/>
          </a:xfrm>
          <a:prstGeom prst="rect">
            <a:avLst/>
          </a:prstGeom>
          <a:noFill/>
          <a:ln w="0">
            <a:noFill/>
            <a:prstDash val="solid"/>
          </a:ln>
        </p:spPr>
        <p:txBody>
          <a:bodyPr anchor="ctr"/>
          <a:lstStyle>
            <a:defPPr algn="l">
              <a:defRPr sz="1575" b="1">
                <a:solidFill>
                  <a:srgbClr val="14233F"/>
                </a:solidFill>
              </a:defRPr>
            </a:defPPr>
            <a:lvl1pPr algn="l">
              <a:buNone/>
              <a:defRPr sz="1575" b="1">
                <a:solidFill>
                  <a:srgbClr val="14233F"/>
                </a:solidFill>
              </a:defRPr>
            </a:lvl1pPr>
            <a:lvl2pPr algn="l">
              <a:buNone/>
              <a:defRPr sz="1575" b="1">
                <a:solidFill>
                  <a:srgbClr val="14233F"/>
                </a:solidFill>
              </a:defRPr>
            </a:lvl2pPr>
            <a:lvl3pPr algn="l">
              <a:buNone/>
              <a:defRPr sz="1575" b="1">
                <a:solidFill>
                  <a:srgbClr val="14233F"/>
                </a:solidFill>
              </a:defRPr>
            </a:lvl3pPr>
            <a:lvl4pPr algn="l">
              <a:buNone/>
              <a:defRPr sz="1575" b="1">
                <a:solidFill>
                  <a:srgbClr val="14233F"/>
                </a:solidFill>
              </a:defRPr>
            </a:lvl4pPr>
            <a:lvl5pPr algn="l">
              <a:buNone/>
              <a:defRPr sz="1575" b="1">
                <a:solidFill>
                  <a:srgbClr val="14233F"/>
                </a:solidFill>
              </a:defRPr>
            </a:lvl5pPr>
            <a:lvl6pPr algn="l">
              <a:buNone/>
              <a:defRPr sz="1575" b="1">
                <a:solidFill>
                  <a:srgbClr val="14233F"/>
                </a:solidFill>
              </a:defRPr>
            </a:lvl6pPr>
            <a:lvl7pPr algn="l">
              <a:buNone/>
              <a:defRPr sz="1575" b="1">
                <a:solidFill>
                  <a:srgbClr val="14233F"/>
                </a:solidFill>
              </a:defRPr>
            </a:lvl7pPr>
            <a:lvl8pPr algn="l">
              <a:buNone/>
              <a:defRPr sz="1575" b="1">
                <a:solidFill>
                  <a:srgbClr val="14233F"/>
                </a:solidFill>
              </a:defRPr>
            </a:lvl8pPr>
            <a:lvl9pPr algn="l">
              <a:buNone/>
              <a:defRPr sz="1575" b="1">
                <a:solidFill>
                  <a:srgbClr val="14233F"/>
                </a:solidFill>
              </a:defRPr>
            </a:lvl9pPr>
          </a:lstStyle>
          <a:p>
            <a:pPr algn="l">
              <a:buNone/>
              <a:defRPr sz="1575" b="1">
                <a:solidFill>
                  <a:srgbClr val="14233F"/>
                </a:solidFill>
              </a:defRPr>
            </a:pPr>
            <a:r>
              <a:rPr sz="1575" b="1">
                <a:solidFill>
                  <a:srgbClr val="14233F"/>
                </a:solidFill>
              </a:rPr>
              <a:t>Unreliable updates</a:t>
            </a:r>
          </a:p>
        </p:txBody>
      </p:sp>
      <p:sp>
        <p:nvSpPr>
          <p:cNvPr id="23" name="Rectangle 22">
            <a:extLst>
              <a:ext uri="{FF2B5EF4-FFF2-40B4-BE49-F238E27FC236}">
                <a16:creationId xmlns:a16="http://schemas.microsoft.com/office/drawing/2014/main" id="{BA841B24-51A4-4E35-A388-6EB8F39ED186}"/>
              </a:ext>
            </a:extLst>
          </p:cNvPr>
          <p:cNvSpPr>
            <a:spLocks noGrp="1"/>
          </p:cNvSpPr>
          <p:nvPr/>
        </p:nvSpPr>
        <p:spPr>
          <a:xfrm>
            <a:off x="3676650" y="4810125"/>
            <a:ext cx="7239000" cy="457200"/>
          </a:xfrm>
          <a:prstGeom prst="rect">
            <a:avLst/>
          </a:prstGeom>
          <a:noFill/>
          <a:ln w="0">
            <a:noFill/>
            <a:prstDash val="solid"/>
          </a:ln>
        </p:spPr>
        <p:txBody>
          <a:bodyPr anchor="ctr"/>
          <a:lstStyle>
            <a:defPPr algn="l">
              <a:defRPr sz="1425" b="0">
                <a:solidFill>
                  <a:srgbClr val="5D6B7C"/>
                </a:solidFill>
              </a:defRPr>
            </a:defPPr>
            <a:lvl1pPr algn="l">
              <a:buNone/>
              <a:defRPr sz="1425" b="0">
                <a:solidFill>
                  <a:srgbClr val="5D6B7C"/>
                </a:solidFill>
              </a:defRPr>
            </a:lvl1pPr>
            <a:lvl2pPr algn="l">
              <a:buNone/>
              <a:defRPr sz="1425" b="0">
                <a:solidFill>
                  <a:srgbClr val="5D6B7C"/>
                </a:solidFill>
              </a:defRPr>
            </a:lvl2pPr>
            <a:lvl3pPr algn="l">
              <a:buNone/>
              <a:defRPr sz="1425" b="0">
                <a:solidFill>
                  <a:srgbClr val="5D6B7C"/>
                </a:solidFill>
              </a:defRPr>
            </a:lvl3pPr>
            <a:lvl4pPr algn="l">
              <a:buNone/>
              <a:defRPr sz="1425" b="0">
                <a:solidFill>
                  <a:srgbClr val="5D6B7C"/>
                </a:solidFill>
              </a:defRPr>
            </a:lvl4pPr>
            <a:lvl5pPr algn="l">
              <a:buNone/>
              <a:defRPr sz="1425" b="0">
                <a:solidFill>
                  <a:srgbClr val="5D6B7C"/>
                </a:solidFill>
              </a:defRPr>
            </a:lvl5pPr>
            <a:lvl6pPr algn="l">
              <a:buNone/>
              <a:defRPr sz="1425" b="0">
                <a:solidFill>
                  <a:srgbClr val="5D6B7C"/>
                </a:solidFill>
              </a:defRPr>
            </a:lvl6pPr>
            <a:lvl7pPr algn="l">
              <a:buNone/>
              <a:defRPr sz="1425" b="0">
                <a:solidFill>
                  <a:srgbClr val="5D6B7C"/>
                </a:solidFill>
              </a:defRPr>
            </a:lvl7pPr>
            <a:lvl8pPr algn="l">
              <a:buNone/>
              <a:defRPr sz="1425" b="0">
                <a:solidFill>
                  <a:srgbClr val="5D6B7C"/>
                </a:solidFill>
              </a:defRPr>
            </a:lvl8pPr>
            <a:lvl9pPr algn="l">
              <a:buNone/>
              <a:defRPr sz="1425" b="0">
                <a:solidFill>
                  <a:srgbClr val="5D6B7C"/>
                </a:solidFill>
              </a:defRPr>
            </a:lvl9pPr>
          </a:lstStyle>
          <a:p>
            <a:pPr algn="l">
              <a:buNone/>
              <a:defRPr sz="1425" b="0">
                <a:solidFill>
                  <a:srgbClr val="5D6B7C"/>
                </a:solidFill>
              </a:defRPr>
            </a:pPr>
            <a:r>
              <a:rPr sz="1425" b="0">
                <a:solidFill>
                  <a:srgbClr val="5D6B7C"/>
                </a:solidFill>
              </a:rPr>
              <a:t>Wrong or repeated facts can make the graph less useful over time.</a:t>
            </a:r>
          </a:p>
        </p:txBody>
      </p:sp>
      <p:sp>
        <p:nvSpPr>
          <p:cNvPr id="24" name="Rectangle: Rounded Corners 23">
            <a:extLst>
              <a:ext uri="{FF2B5EF4-FFF2-40B4-BE49-F238E27FC236}">
                <a16:creationId xmlns:a16="http://schemas.microsoft.com/office/drawing/2014/main" id="{FBBDFC27-F344-4B8C-B0E7-E41D65B546B7}"/>
              </a:ext>
            </a:extLst>
          </p:cNvPr>
          <p:cNvSpPr>
            <a:spLocks noGrp="1"/>
          </p:cNvSpPr>
          <p:nvPr/>
        </p:nvSpPr>
        <p:spPr>
          <a:xfrm>
            <a:off x="609600" y="5715000"/>
            <a:ext cx="10972800" cy="381000"/>
          </a:xfrm>
          <a:prstGeom prst="roundRect">
            <a:avLst>
              <a:gd name="adj" fmla="val 20000"/>
            </a:avLst>
          </a:prstGeom>
          <a:solidFill>
            <a:srgbClr val="EAF1FA"/>
          </a:solidFill>
          <a:ln w="0">
            <a:noFill/>
            <a:prstDash val="solid"/>
          </a:ln>
        </p:spPr>
      </p:sp>
      <p:sp>
        <p:nvSpPr>
          <p:cNvPr id="25" name="Rectangle 24">
            <a:extLst>
              <a:ext uri="{FF2B5EF4-FFF2-40B4-BE49-F238E27FC236}">
                <a16:creationId xmlns:a16="http://schemas.microsoft.com/office/drawing/2014/main" id="{B360F8E2-81A3-4295-AA17-261C0F8AC238}"/>
              </a:ext>
            </a:extLst>
          </p:cNvPr>
          <p:cNvSpPr>
            <a:spLocks noGrp="1"/>
          </p:cNvSpPr>
          <p:nvPr/>
        </p:nvSpPr>
        <p:spPr>
          <a:xfrm>
            <a:off x="781050" y="5753100"/>
            <a:ext cx="1476375" cy="285750"/>
          </a:xfrm>
          <a:prstGeom prst="rect">
            <a:avLst/>
          </a:prstGeom>
          <a:noFill/>
          <a:ln w="0">
            <a:noFill/>
            <a:prstDash val="solid"/>
          </a:ln>
        </p:spPr>
        <p:txBody>
          <a:bodyPr anchor="ctr"/>
          <a:lstStyle>
            <a:defPPr algn="l">
              <a:defRPr sz="1125" b="1">
                <a:solidFill>
                  <a:srgbClr val="2356A8"/>
                </a:solidFill>
              </a:defRPr>
            </a:defPPr>
            <a:lvl1pPr algn="l">
              <a:buNone/>
              <a:defRPr sz="1125" b="1">
                <a:solidFill>
                  <a:srgbClr val="2356A8"/>
                </a:solidFill>
              </a:defRPr>
            </a:lvl1pPr>
            <a:lvl2pPr algn="l">
              <a:buNone/>
              <a:defRPr sz="1125" b="1">
                <a:solidFill>
                  <a:srgbClr val="2356A8"/>
                </a:solidFill>
              </a:defRPr>
            </a:lvl2pPr>
            <a:lvl3pPr algn="l">
              <a:buNone/>
              <a:defRPr sz="1125" b="1">
                <a:solidFill>
                  <a:srgbClr val="2356A8"/>
                </a:solidFill>
              </a:defRPr>
            </a:lvl3pPr>
            <a:lvl4pPr algn="l">
              <a:buNone/>
              <a:defRPr sz="1125" b="1">
                <a:solidFill>
                  <a:srgbClr val="2356A8"/>
                </a:solidFill>
              </a:defRPr>
            </a:lvl4pPr>
            <a:lvl5pPr algn="l">
              <a:buNone/>
              <a:defRPr sz="1125" b="1">
                <a:solidFill>
                  <a:srgbClr val="2356A8"/>
                </a:solidFill>
              </a:defRPr>
            </a:lvl5pPr>
            <a:lvl6pPr algn="l">
              <a:buNone/>
              <a:defRPr sz="1125" b="1">
                <a:solidFill>
                  <a:srgbClr val="2356A8"/>
                </a:solidFill>
              </a:defRPr>
            </a:lvl6pPr>
            <a:lvl7pPr algn="l">
              <a:buNone/>
              <a:defRPr sz="1125" b="1">
                <a:solidFill>
                  <a:srgbClr val="2356A8"/>
                </a:solidFill>
              </a:defRPr>
            </a:lvl7pPr>
            <a:lvl8pPr algn="l">
              <a:buNone/>
              <a:defRPr sz="1125" b="1">
                <a:solidFill>
                  <a:srgbClr val="2356A8"/>
                </a:solidFill>
              </a:defRPr>
            </a:lvl8pPr>
            <a:lvl9pPr algn="l">
              <a:buNone/>
              <a:defRPr sz="1125" b="1">
                <a:solidFill>
                  <a:srgbClr val="2356A8"/>
                </a:solidFill>
              </a:defRPr>
            </a:lvl9pPr>
          </a:lstStyle>
          <a:p>
            <a:pPr algn="l">
              <a:buNone/>
              <a:defRPr sz="1125" b="1">
                <a:solidFill>
                  <a:srgbClr val="2356A8"/>
                </a:solidFill>
              </a:defRPr>
            </a:pPr>
            <a:r>
              <a:rPr sz="1125" b="1">
                <a:solidFill>
                  <a:srgbClr val="2356A8"/>
                </a:solidFill>
              </a:rPr>
              <a:t>Project question</a:t>
            </a:r>
          </a:p>
        </p:txBody>
      </p:sp>
      <p:sp>
        <p:nvSpPr>
          <p:cNvPr id="26" name="Rectangle 25">
            <a:extLst>
              <a:ext uri="{FF2B5EF4-FFF2-40B4-BE49-F238E27FC236}">
                <a16:creationId xmlns:a16="http://schemas.microsoft.com/office/drawing/2014/main" id="{E20F651F-6460-480C-A563-E98E41DBFD35}"/>
              </a:ext>
            </a:extLst>
          </p:cNvPr>
          <p:cNvSpPr>
            <a:spLocks noGrp="1"/>
          </p:cNvSpPr>
          <p:nvPr/>
        </p:nvSpPr>
        <p:spPr>
          <a:xfrm>
            <a:off x="2343150" y="5734050"/>
            <a:ext cx="8572500" cy="323850"/>
          </a:xfrm>
          <a:prstGeom prst="rect">
            <a:avLst/>
          </a:prstGeom>
          <a:noFill/>
          <a:ln w="0">
            <a:noFill/>
            <a:prstDash val="solid"/>
          </a:ln>
        </p:spPr>
        <p:txBody>
          <a:bodyPr anchor="ctr"/>
          <a:lstStyle>
            <a:defPPr algn="l">
              <a:defRPr sz="1350" b="1">
                <a:solidFill>
                  <a:srgbClr val="14233F"/>
                </a:solidFill>
              </a:defRPr>
            </a:defPPr>
            <a:lvl1pPr algn="l">
              <a:buNone/>
              <a:defRPr sz="1350" b="1">
                <a:solidFill>
                  <a:srgbClr val="14233F"/>
                </a:solidFill>
              </a:defRPr>
            </a:lvl1pPr>
            <a:lvl2pPr algn="l">
              <a:buNone/>
              <a:defRPr sz="1350" b="1">
                <a:solidFill>
                  <a:srgbClr val="14233F"/>
                </a:solidFill>
              </a:defRPr>
            </a:lvl2pPr>
            <a:lvl3pPr algn="l">
              <a:buNone/>
              <a:defRPr sz="1350" b="1">
                <a:solidFill>
                  <a:srgbClr val="14233F"/>
                </a:solidFill>
              </a:defRPr>
            </a:lvl3pPr>
            <a:lvl4pPr algn="l">
              <a:buNone/>
              <a:defRPr sz="1350" b="1">
                <a:solidFill>
                  <a:srgbClr val="14233F"/>
                </a:solidFill>
              </a:defRPr>
            </a:lvl4pPr>
            <a:lvl5pPr algn="l">
              <a:buNone/>
              <a:defRPr sz="1350" b="1">
                <a:solidFill>
                  <a:srgbClr val="14233F"/>
                </a:solidFill>
              </a:defRPr>
            </a:lvl5pPr>
            <a:lvl6pPr algn="l">
              <a:buNone/>
              <a:defRPr sz="1350" b="1">
                <a:solidFill>
                  <a:srgbClr val="14233F"/>
                </a:solidFill>
              </a:defRPr>
            </a:lvl6pPr>
            <a:lvl7pPr algn="l">
              <a:buNone/>
              <a:defRPr sz="1350" b="1">
                <a:solidFill>
                  <a:srgbClr val="14233F"/>
                </a:solidFill>
              </a:defRPr>
            </a:lvl7pPr>
            <a:lvl8pPr algn="l">
              <a:buNone/>
              <a:defRPr sz="1350" b="1">
                <a:solidFill>
                  <a:srgbClr val="14233F"/>
                </a:solidFill>
              </a:defRPr>
            </a:lvl8pPr>
            <a:lvl9pPr algn="l">
              <a:buNone/>
              <a:defRPr sz="1350" b="1">
                <a:solidFill>
                  <a:srgbClr val="14233F"/>
                </a:solidFill>
              </a:defRPr>
            </a:lvl9pPr>
          </a:lstStyle>
          <a:p>
            <a:pPr algn="l">
              <a:buNone/>
              <a:defRPr sz="1350" b="1">
                <a:solidFill>
                  <a:srgbClr val="14233F"/>
                </a:solidFill>
              </a:defRPr>
            </a:pPr>
            <a:r>
              <a:rPr sz="1350" b="1">
                <a:solidFill>
                  <a:srgbClr val="14233F"/>
                </a:solidFill>
              </a:rPr>
              <a:t>Can one system find the right facts, explain its evidence, and update its graph carefully?</a:t>
            </a:r>
          </a:p>
        </p:txBody>
      </p:sp>
    </p:spTree>
    <p:extLst>
      <p:ext uri="{BB962C8B-B14F-4D97-AF65-F5344CB8AC3E}">
        <p14:creationId xmlns:p14="http://schemas.microsoft.com/office/powerpoint/2010/main" val="204578881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1ABBC74-B8D8-46D7-80D5-197BBBF939D1}"/>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PROPOSED METHODOLOGY / PROPOSED WORK</a:t>
            </a:r>
          </a:p>
        </p:txBody>
      </p:sp>
      <p:sp>
        <p:nvSpPr>
          <p:cNvPr id="2" name="Rectangle 1">
            <a:extLst>
              <a:ext uri="{FF2B5EF4-FFF2-40B4-BE49-F238E27FC236}">
                <a16:creationId xmlns:a16="http://schemas.microsoft.com/office/drawing/2014/main" id="{F2850487-7A11-41A0-81B3-BA037B7243B0}"/>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Method: prepare, route, retrieve, answer</a:t>
            </a:r>
          </a:p>
        </p:txBody>
      </p:sp>
      <p:sp>
        <p:nvSpPr>
          <p:cNvPr id="3" name="Rectangle 2">
            <a:extLst>
              <a:ext uri="{FF2B5EF4-FFF2-40B4-BE49-F238E27FC236}">
                <a16:creationId xmlns:a16="http://schemas.microsoft.com/office/drawing/2014/main" id="{E8D9393A-F6CD-426A-B1DF-26DC61ACC6EC}"/>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7A85F072-158E-417E-9DA9-5C343FEB5FF9}"/>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04</a:t>
            </a:r>
          </a:p>
        </p:txBody>
      </p:sp>
      <p:sp>
        <p:nvSpPr>
          <p:cNvPr id="7" name="Rectangle: Rounded Corners 6">
            <a:extLst>
              <a:ext uri="{FF2B5EF4-FFF2-40B4-BE49-F238E27FC236}">
                <a16:creationId xmlns:a16="http://schemas.microsoft.com/office/drawing/2014/main" id="{593A9670-2F1B-4EFF-AAF2-5A1695765924}"/>
              </a:ext>
            </a:extLst>
          </p:cNvPr>
          <p:cNvSpPr>
            <a:spLocks noGrp="1"/>
          </p:cNvSpPr>
          <p:nvPr/>
        </p:nvSpPr>
        <p:spPr>
          <a:xfrm>
            <a:off x="609600" y="1638300"/>
            <a:ext cx="3314700" cy="1066800"/>
          </a:xfrm>
          <a:prstGeom prst="roundRect">
            <a:avLst>
              <a:gd name="adj" fmla="val 7143"/>
            </a:avLst>
          </a:prstGeom>
          <a:solidFill>
            <a:srgbClr val="FFFFFF"/>
          </a:solidFill>
          <a:ln w="9525">
            <a:solidFill>
              <a:srgbClr val="D7E0EC"/>
            </a:solidFill>
            <a:prstDash val="solid"/>
          </a:ln>
        </p:spPr>
      </p:sp>
      <p:sp>
        <p:nvSpPr>
          <p:cNvPr id="8" name="Rectangle: Rounded Corners 7">
            <a:extLst>
              <a:ext uri="{FF2B5EF4-FFF2-40B4-BE49-F238E27FC236}">
                <a16:creationId xmlns:a16="http://schemas.microsoft.com/office/drawing/2014/main" id="{73912EEC-872F-4A2D-914A-01B517644F99}"/>
              </a:ext>
            </a:extLst>
          </p:cNvPr>
          <p:cNvSpPr>
            <a:spLocks noGrp="1"/>
          </p:cNvSpPr>
          <p:nvPr/>
        </p:nvSpPr>
        <p:spPr>
          <a:xfrm>
            <a:off x="762000" y="1771650"/>
            <a:ext cx="1009650" cy="285750"/>
          </a:xfrm>
          <a:prstGeom prst="roundRect">
            <a:avLst>
              <a:gd name="adj" fmla="val 26667"/>
            </a:avLst>
          </a:prstGeom>
          <a:solidFill>
            <a:srgbClr val="2356A8"/>
          </a:solidFill>
          <a:ln w="0">
            <a:noFill/>
            <a:prstDash val="solid"/>
          </a:ln>
        </p:spPr>
      </p:sp>
      <p:sp>
        <p:nvSpPr>
          <p:cNvPr id="9" name="Rectangle 8">
            <a:extLst>
              <a:ext uri="{FF2B5EF4-FFF2-40B4-BE49-F238E27FC236}">
                <a16:creationId xmlns:a16="http://schemas.microsoft.com/office/drawing/2014/main" id="{C2E536E9-4C7E-4F28-8A9F-42F26DFBF655}"/>
              </a:ext>
            </a:extLst>
          </p:cNvPr>
          <p:cNvSpPr>
            <a:spLocks noGrp="1"/>
          </p:cNvSpPr>
          <p:nvPr/>
        </p:nvSpPr>
        <p:spPr>
          <a:xfrm>
            <a:off x="838200" y="17811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01  Prepare</a:t>
            </a:r>
          </a:p>
        </p:txBody>
      </p:sp>
      <p:sp>
        <p:nvSpPr>
          <p:cNvPr id="10" name="Rectangle 9">
            <a:extLst>
              <a:ext uri="{FF2B5EF4-FFF2-40B4-BE49-F238E27FC236}">
                <a16:creationId xmlns:a16="http://schemas.microsoft.com/office/drawing/2014/main" id="{984D6D77-99E8-482E-AD83-837100C01097}"/>
              </a:ext>
            </a:extLst>
          </p:cNvPr>
          <p:cNvSpPr>
            <a:spLocks noGrp="1"/>
          </p:cNvSpPr>
          <p:nvPr/>
        </p:nvSpPr>
        <p:spPr>
          <a:xfrm>
            <a:off x="771525" y="21717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Normalize data, split text, assign passage IDs</a:t>
            </a:r>
          </a:p>
        </p:txBody>
      </p:sp>
      <p:sp>
        <p:nvSpPr>
          <p:cNvPr id="11" name="Rectangle: Rounded Corners 10">
            <a:extLst>
              <a:ext uri="{FF2B5EF4-FFF2-40B4-BE49-F238E27FC236}">
                <a16:creationId xmlns:a16="http://schemas.microsoft.com/office/drawing/2014/main" id="{12D1F223-33EA-4B85-B418-D602B5A9ACFC}"/>
              </a:ext>
            </a:extLst>
          </p:cNvPr>
          <p:cNvSpPr>
            <a:spLocks noGrp="1"/>
          </p:cNvSpPr>
          <p:nvPr/>
        </p:nvSpPr>
        <p:spPr>
          <a:xfrm>
            <a:off x="4438650" y="1638300"/>
            <a:ext cx="3314700" cy="1066800"/>
          </a:xfrm>
          <a:prstGeom prst="roundRect">
            <a:avLst>
              <a:gd name="adj" fmla="val 7143"/>
            </a:avLst>
          </a:prstGeom>
          <a:solidFill>
            <a:srgbClr val="FFFFFF"/>
          </a:solidFill>
          <a:ln w="9525">
            <a:solidFill>
              <a:srgbClr val="D7E0EC"/>
            </a:solidFill>
            <a:prstDash val="solid"/>
          </a:ln>
        </p:spPr>
      </p:sp>
      <p:sp>
        <p:nvSpPr>
          <p:cNvPr id="12" name="Rectangle: Rounded Corners 11">
            <a:extLst>
              <a:ext uri="{FF2B5EF4-FFF2-40B4-BE49-F238E27FC236}">
                <a16:creationId xmlns:a16="http://schemas.microsoft.com/office/drawing/2014/main" id="{CC48BD59-6765-4B62-B9EF-6AEAD02D6915}"/>
              </a:ext>
            </a:extLst>
          </p:cNvPr>
          <p:cNvSpPr>
            <a:spLocks noGrp="1"/>
          </p:cNvSpPr>
          <p:nvPr/>
        </p:nvSpPr>
        <p:spPr>
          <a:xfrm>
            <a:off x="4591050" y="1771650"/>
            <a:ext cx="1009650" cy="285750"/>
          </a:xfrm>
          <a:prstGeom prst="roundRect">
            <a:avLst>
              <a:gd name="adj" fmla="val 26667"/>
            </a:avLst>
          </a:prstGeom>
          <a:solidFill>
            <a:srgbClr val="20A4B7"/>
          </a:solidFill>
          <a:ln w="0">
            <a:noFill/>
            <a:prstDash val="solid"/>
          </a:ln>
        </p:spPr>
      </p:sp>
      <p:sp>
        <p:nvSpPr>
          <p:cNvPr id="13" name="Rectangle 12">
            <a:extLst>
              <a:ext uri="{FF2B5EF4-FFF2-40B4-BE49-F238E27FC236}">
                <a16:creationId xmlns:a16="http://schemas.microsoft.com/office/drawing/2014/main" id="{F01291E2-8659-40C1-B870-49370FBB2C02}"/>
              </a:ext>
            </a:extLst>
          </p:cNvPr>
          <p:cNvSpPr>
            <a:spLocks noGrp="1"/>
          </p:cNvSpPr>
          <p:nvPr/>
        </p:nvSpPr>
        <p:spPr>
          <a:xfrm>
            <a:off x="4667250" y="17811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02  Curate</a:t>
            </a:r>
          </a:p>
        </p:txBody>
      </p:sp>
      <p:sp>
        <p:nvSpPr>
          <p:cNvPr id="14" name="Rectangle 13">
            <a:extLst>
              <a:ext uri="{FF2B5EF4-FFF2-40B4-BE49-F238E27FC236}">
                <a16:creationId xmlns:a16="http://schemas.microsoft.com/office/drawing/2014/main" id="{8A4ECCE7-D178-4882-8C5A-B8ACA46894D1}"/>
              </a:ext>
            </a:extLst>
          </p:cNvPr>
          <p:cNvSpPr>
            <a:spLocks noGrp="1"/>
          </p:cNvSpPr>
          <p:nvPr/>
        </p:nvSpPr>
        <p:spPr>
          <a:xfrm>
            <a:off x="4600575" y="21717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Extract triples → verify → resolve entities</a:t>
            </a:r>
          </a:p>
        </p:txBody>
      </p:sp>
      <p:sp>
        <p:nvSpPr>
          <p:cNvPr id="15" name="Rectangle: Rounded Corners 14">
            <a:extLst>
              <a:ext uri="{FF2B5EF4-FFF2-40B4-BE49-F238E27FC236}">
                <a16:creationId xmlns:a16="http://schemas.microsoft.com/office/drawing/2014/main" id="{F30E1F7D-4B17-4E23-A234-0D892670A376}"/>
              </a:ext>
            </a:extLst>
          </p:cNvPr>
          <p:cNvSpPr>
            <a:spLocks noGrp="1"/>
          </p:cNvSpPr>
          <p:nvPr/>
        </p:nvSpPr>
        <p:spPr>
          <a:xfrm>
            <a:off x="8267700" y="1638300"/>
            <a:ext cx="3314700" cy="1066800"/>
          </a:xfrm>
          <a:prstGeom prst="roundRect">
            <a:avLst>
              <a:gd name="adj" fmla="val 7143"/>
            </a:avLst>
          </a:prstGeom>
          <a:solidFill>
            <a:srgbClr val="FFFFFF"/>
          </a:solidFill>
          <a:ln w="9525">
            <a:solidFill>
              <a:srgbClr val="D7E0EC"/>
            </a:solidFill>
            <a:prstDash val="solid"/>
          </a:ln>
        </p:spPr>
      </p:sp>
      <p:sp>
        <p:nvSpPr>
          <p:cNvPr id="16" name="Rectangle: Rounded Corners 15">
            <a:extLst>
              <a:ext uri="{FF2B5EF4-FFF2-40B4-BE49-F238E27FC236}">
                <a16:creationId xmlns:a16="http://schemas.microsoft.com/office/drawing/2014/main" id="{3033202E-4846-40AF-8108-70BCD31B89AE}"/>
              </a:ext>
            </a:extLst>
          </p:cNvPr>
          <p:cNvSpPr>
            <a:spLocks noGrp="1"/>
          </p:cNvSpPr>
          <p:nvPr/>
        </p:nvSpPr>
        <p:spPr>
          <a:xfrm>
            <a:off x="8420100" y="1771650"/>
            <a:ext cx="1009650" cy="285750"/>
          </a:xfrm>
          <a:prstGeom prst="roundRect">
            <a:avLst>
              <a:gd name="adj" fmla="val 26667"/>
            </a:avLst>
          </a:prstGeom>
          <a:solidFill>
            <a:srgbClr val="168A70"/>
          </a:solidFill>
          <a:ln w="0">
            <a:noFill/>
            <a:prstDash val="solid"/>
          </a:ln>
        </p:spPr>
      </p:sp>
      <p:sp>
        <p:nvSpPr>
          <p:cNvPr id="17" name="Rectangle 16">
            <a:extLst>
              <a:ext uri="{FF2B5EF4-FFF2-40B4-BE49-F238E27FC236}">
                <a16:creationId xmlns:a16="http://schemas.microsoft.com/office/drawing/2014/main" id="{99D53A98-E98E-482B-BAEC-78E227629E4D}"/>
              </a:ext>
            </a:extLst>
          </p:cNvPr>
          <p:cNvSpPr>
            <a:spLocks noGrp="1"/>
          </p:cNvSpPr>
          <p:nvPr/>
        </p:nvSpPr>
        <p:spPr>
          <a:xfrm>
            <a:off x="8496300" y="17811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03  Route</a:t>
            </a:r>
          </a:p>
        </p:txBody>
      </p:sp>
      <p:sp>
        <p:nvSpPr>
          <p:cNvPr id="18" name="Rectangle 17">
            <a:extLst>
              <a:ext uri="{FF2B5EF4-FFF2-40B4-BE49-F238E27FC236}">
                <a16:creationId xmlns:a16="http://schemas.microsoft.com/office/drawing/2014/main" id="{BD6CE764-8BB8-4199-9F46-8B11FCF23022}"/>
              </a:ext>
            </a:extLst>
          </p:cNvPr>
          <p:cNvSpPr>
            <a:spLocks noGrp="1"/>
          </p:cNvSpPr>
          <p:nvPr/>
        </p:nvSpPr>
        <p:spPr>
          <a:xfrm>
            <a:off x="8429625" y="21717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Choose text search, graph search, or both</a:t>
            </a:r>
          </a:p>
        </p:txBody>
      </p:sp>
      <p:sp>
        <p:nvSpPr>
          <p:cNvPr id="19" name="Rectangle: Rounded Corners 18">
            <a:extLst>
              <a:ext uri="{FF2B5EF4-FFF2-40B4-BE49-F238E27FC236}">
                <a16:creationId xmlns:a16="http://schemas.microsoft.com/office/drawing/2014/main" id="{822AC802-F6B2-4B0C-9E1B-50CEE749956E}"/>
              </a:ext>
            </a:extLst>
          </p:cNvPr>
          <p:cNvSpPr>
            <a:spLocks noGrp="1"/>
          </p:cNvSpPr>
          <p:nvPr/>
        </p:nvSpPr>
        <p:spPr>
          <a:xfrm>
            <a:off x="609600" y="3124200"/>
            <a:ext cx="3314700" cy="1066800"/>
          </a:xfrm>
          <a:prstGeom prst="roundRect">
            <a:avLst>
              <a:gd name="adj" fmla="val 7143"/>
            </a:avLst>
          </a:prstGeom>
          <a:solidFill>
            <a:srgbClr val="FFFFFF"/>
          </a:solidFill>
          <a:ln w="9525">
            <a:solidFill>
              <a:srgbClr val="D7E0EC"/>
            </a:solidFill>
            <a:prstDash val="solid"/>
          </a:ln>
        </p:spPr>
      </p:sp>
      <p:sp>
        <p:nvSpPr>
          <p:cNvPr id="20" name="Rectangle: Rounded Corners 19">
            <a:extLst>
              <a:ext uri="{FF2B5EF4-FFF2-40B4-BE49-F238E27FC236}">
                <a16:creationId xmlns:a16="http://schemas.microsoft.com/office/drawing/2014/main" id="{6EB95974-A148-4AFC-88EB-BCBC5C825797}"/>
              </a:ext>
            </a:extLst>
          </p:cNvPr>
          <p:cNvSpPr>
            <a:spLocks noGrp="1"/>
          </p:cNvSpPr>
          <p:nvPr/>
        </p:nvSpPr>
        <p:spPr>
          <a:xfrm>
            <a:off x="762000" y="3257550"/>
            <a:ext cx="1009650" cy="285750"/>
          </a:xfrm>
          <a:prstGeom prst="roundRect">
            <a:avLst>
              <a:gd name="adj" fmla="val 26667"/>
            </a:avLst>
          </a:prstGeom>
          <a:solidFill>
            <a:srgbClr val="2356A8"/>
          </a:solidFill>
          <a:ln w="0">
            <a:noFill/>
            <a:prstDash val="solid"/>
          </a:ln>
        </p:spPr>
      </p:sp>
      <p:sp>
        <p:nvSpPr>
          <p:cNvPr id="21" name="Rectangle 20">
            <a:extLst>
              <a:ext uri="{FF2B5EF4-FFF2-40B4-BE49-F238E27FC236}">
                <a16:creationId xmlns:a16="http://schemas.microsoft.com/office/drawing/2014/main" id="{83A87B48-2120-40A3-B3D2-396D771BD152}"/>
              </a:ext>
            </a:extLst>
          </p:cNvPr>
          <p:cNvSpPr>
            <a:spLocks noGrp="1"/>
          </p:cNvSpPr>
          <p:nvPr/>
        </p:nvSpPr>
        <p:spPr>
          <a:xfrm>
            <a:off x="838200" y="32670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06  Evolve</a:t>
            </a:r>
          </a:p>
        </p:txBody>
      </p:sp>
      <p:sp>
        <p:nvSpPr>
          <p:cNvPr id="22" name="Rectangle 21">
            <a:extLst>
              <a:ext uri="{FF2B5EF4-FFF2-40B4-BE49-F238E27FC236}">
                <a16:creationId xmlns:a16="http://schemas.microsoft.com/office/drawing/2014/main" id="{3C81078A-5446-495F-9F50-12ABDE70BB3F}"/>
              </a:ext>
            </a:extLst>
          </p:cNvPr>
          <p:cNvSpPr>
            <a:spLocks noGrp="1"/>
          </p:cNvSpPr>
          <p:nvPr/>
        </p:nvSpPr>
        <p:spPr>
          <a:xfrm>
            <a:off x="771525" y="36576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Gate candidate facts; merge, decay, or prune</a:t>
            </a:r>
          </a:p>
        </p:txBody>
      </p:sp>
      <p:sp>
        <p:nvSpPr>
          <p:cNvPr id="23" name="Rectangle: Rounded Corners 22">
            <a:extLst>
              <a:ext uri="{FF2B5EF4-FFF2-40B4-BE49-F238E27FC236}">
                <a16:creationId xmlns:a16="http://schemas.microsoft.com/office/drawing/2014/main" id="{6B6791D2-2990-4CB9-A6E8-DB4F614C1C84}"/>
              </a:ext>
            </a:extLst>
          </p:cNvPr>
          <p:cNvSpPr>
            <a:spLocks noGrp="1"/>
          </p:cNvSpPr>
          <p:nvPr/>
        </p:nvSpPr>
        <p:spPr>
          <a:xfrm>
            <a:off x="4438650" y="3124200"/>
            <a:ext cx="3314700" cy="1066800"/>
          </a:xfrm>
          <a:prstGeom prst="roundRect">
            <a:avLst>
              <a:gd name="adj" fmla="val 7143"/>
            </a:avLst>
          </a:prstGeom>
          <a:solidFill>
            <a:srgbClr val="FFFFFF"/>
          </a:solidFill>
          <a:ln w="9525">
            <a:solidFill>
              <a:srgbClr val="D7E0EC"/>
            </a:solidFill>
            <a:prstDash val="solid"/>
          </a:ln>
        </p:spPr>
      </p:sp>
      <p:sp>
        <p:nvSpPr>
          <p:cNvPr id="24" name="Rectangle: Rounded Corners 23">
            <a:extLst>
              <a:ext uri="{FF2B5EF4-FFF2-40B4-BE49-F238E27FC236}">
                <a16:creationId xmlns:a16="http://schemas.microsoft.com/office/drawing/2014/main" id="{28267B94-B4D3-4810-A2CA-63A0F7262643}"/>
              </a:ext>
            </a:extLst>
          </p:cNvPr>
          <p:cNvSpPr>
            <a:spLocks noGrp="1"/>
          </p:cNvSpPr>
          <p:nvPr/>
        </p:nvSpPr>
        <p:spPr>
          <a:xfrm>
            <a:off x="4591050" y="3257550"/>
            <a:ext cx="1009650" cy="285750"/>
          </a:xfrm>
          <a:prstGeom prst="roundRect">
            <a:avLst>
              <a:gd name="adj" fmla="val 26667"/>
            </a:avLst>
          </a:prstGeom>
          <a:solidFill>
            <a:srgbClr val="20A4B7"/>
          </a:solidFill>
          <a:ln w="0">
            <a:noFill/>
            <a:prstDash val="solid"/>
          </a:ln>
        </p:spPr>
      </p:sp>
      <p:sp>
        <p:nvSpPr>
          <p:cNvPr id="25" name="Rectangle 24">
            <a:extLst>
              <a:ext uri="{FF2B5EF4-FFF2-40B4-BE49-F238E27FC236}">
                <a16:creationId xmlns:a16="http://schemas.microsoft.com/office/drawing/2014/main" id="{E21E35D4-B4B2-4EF6-8C89-5F956ADFB6AC}"/>
              </a:ext>
            </a:extLst>
          </p:cNvPr>
          <p:cNvSpPr>
            <a:spLocks noGrp="1"/>
          </p:cNvSpPr>
          <p:nvPr/>
        </p:nvSpPr>
        <p:spPr>
          <a:xfrm>
            <a:off x="4667250" y="32670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05  Answer</a:t>
            </a:r>
          </a:p>
        </p:txBody>
      </p:sp>
      <p:sp>
        <p:nvSpPr>
          <p:cNvPr id="26" name="Rectangle 25">
            <a:extLst>
              <a:ext uri="{FF2B5EF4-FFF2-40B4-BE49-F238E27FC236}">
                <a16:creationId xmlns:a16="http://schemas.microsoft.com/office/drawing/2014/main" id="{873531E5-4B4E-4F39-B92A-4A4306765318}"/>
              </a:ext>
            </a:extLst>
          </p:cNvPr>
          <p:cNvSpPr>
            <a:spLocks noGrp="1"/>
          </p:cNvSpPr>
          <p:nvPr/>
        </p:nvSpPr>
        <p:spPr>
          <a:xfrm>
            <a:off x="4600575" y="36576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Synthesize from evidence and retain provenance</a:t>
            </a:r>
          </a:p>
        </p:txBody>
      </p:sp>
      <p:sp>
        <p:nvSpPr>
          <p:cNvPr id="27" name="Rectangle: Rounded Corners 26">
            <a:extLst>
              <a:ext uri="{FF2B5EF4-FFF2-40B4-BE49-F238E27FC236}">
                <a16:creationId xmlns:a16="http://schemas.microsoft.com/office/drawing/2014/main" id="{C7A68B8B-2C41-46F4-941E-F63BB22F0758}"/>
              </a:ext>
            </a:extLst>
          </p:cNvPr>
          <p:cNvSpPr>
            <a:spLocks noGrp="1"/>
          </p:cNvSpPr>
          <p:nvPr/>
        </p:nvSpPr>
        <p:spPr>
          <a:xfrm>
            <a:off x="8267700" y="3124200"/>
            <a:ext cx="3314700" cy="1066800"/>
          </a:xfrm>
          <a:prstGeom prst="roundRect">
            <a:avLst>
              <a:gd name="adj" fmla="val 7143"/>
            </a:avLst>
          </a:prstGeom>
          <a:solidFill>
            <a:srgbClr val="FFFFFF"/>
          </a:solidFill>
          <a:ln w="9525">
            <a:solidFill>
              <a:srgbClr val="D7E0EC"/>
            </a:solidFill>
            <a:prstDash val="solid"/>
          </a:ln>
        </p:spPr>
      </p:sp>
      <p:sp>
        <p:nvSpPr>
          <p:cNvPr id="28" name="Rectangle: Rounded Corners 27">
            <a:extLst>
              <a:ext uri="{FF2B5EF4-FFF2-40B4-BE49-F238E27FC236}">
                <a16:creationId xmlns:a16="http://schemas.microsoft.com/office/drawing/2014/main" id="{75EC134D-6A9F-495E-BDB0-45E6CCE1811D}"/>
              </a:ext>
            </a:extLst>
          </p:cNvPr>
          <p:cNvSpPr>
            <a:spLocks noGrp="1"/>
          </p:cNvSpPr>
          <p:nvPr/>
        </p:nvSpPr>
        <p:spPr>
          <a:xfrm>
            <a:off x="8420100" y="3257550"/>
            <a:ext cx="1009650" cy="285750"/>
          </a:xfrm>
          <a:prstGeom prst="roundRect">
            <a:avLst>
              <a:gd name="adj" fmla="val 26667"/>
            </a:avLst>
          </a:prstGeom>
          <a:solidFill>
            <a:srgbClr val="168A70"/>
          </a:solidFill>
          <a:ln w="0">
            <a:noFill/>
            <a:prstDash val="solid"/>
          </a:ln>
        </p:spPr>
      </p:sp>
      <p:sp>
        <p:nvSpPr>
          <p:cNvPr id="29" name="Rectangle 28">
            <a:extLst>
              <a:ext uri="{FF2B5EF4-FFF2-40B4-BE49-F238E27FC236}">
                <a16:creationId xmlns:a16="http://schemas.microsoft.com/office/drawing/2014/main" id="{C3F0C9BD-FF67-421C-AC32-92CE312EE377}"/>
              </a:ext>
            </a:extLst>
          </p:cNvPr>
          <p:cNvSpPr>
            <a:spLocks noGrp="1"/>
          </p:cNvSpPr>
          <p:nvPr/>
        </p:nvSpPr>
        <p:spPr>
          <a:xfrm>
            <a:off x="8496300" y="3267075"/>
            <a:ext cx="857250" cy="26670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04  Retrieve</a:t>
            </a:r>
          </a:p>
        </p:txBody>
      </p:sp>
      <p:sp>
        <p:nvSpPr>
          <p:cNvPr id="30" name="Rectangle 29">
            <a:extLst>
              <a:ext uri="{FF2B5EF4-FFF2-40B4-BE49-F238E27FC236}">
                <a16:creationId xmlns:a16="http://schemas.microsoft.com/office/drawing/2014/main" id="{89F9E3CF-3653-4C55-B323-C16132487C18}"/>
              </a:ext>
            </a:extLst>
          </p:cNvPr>
          <p:cNvSpPr>
            <a:spLocks noGrp="1"/>
          </p:cNvSpPr>
          <p:nvPr/>
        </p:nvSpPr>
        <p:spPr>
          <a:xfrm>
            <a:off x="8429625" y="3657600"/>
            <a:ext cx="2990850" cy="419100"/>
          </a:xfrm>
          <a:prstGeom prst="rect">
            <a:avLst/>
          </a:prstGeom>
          <a:noFill/>
          <a:ln w="0">
            <a:noFill/>
            <a:prstDash val="solid"/>
          </a:ln>
        </p:spPr>
        <p:txBody>
          <a:bodyPr anchor="t"/>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Gather passages and/or graph paths</a:t>
            </a:r>
          </a:p>
        </p:txBody>
      </p:sp>
      <p:sp>
        <p:nvSpPr>
          <p:cNvPr id="31" name="Arrow: Right 30">
            <a:extLst>
              <a:ext uri="{FF2B5EF4-FFF2-40B4-BE49-F238E27FC236}">
                <a16:creationId xmlns:a16="http://schemas.microsoft.com/office/drawing/2014/main" id="{34B9073E-8A17-4E33-B9D8-495367639D33}"/>
              </a:ext>
            </a:extLst>
          </p:cNvPr>
          <p:cNvSpPr>
            <a:spLocks noGrp="1"/>
          </p:cNvSpPr>
          <p:nvPr/>
        </p:nvSpPr>
        <p:spPr>
          <a:xfrm>
            <a:off x="4019550" y="2076450"/>
            <a:ext cx="285750" cy="190500"/>
          </a:xfrm>
          <a:prstGeom prst="rightArrow">
            <a:avLst/>
          </a:prstGeom>
          <a:solidFill>
            <a:srgbClr val="20A4B7"/>
          </a:solidFill>
          <a:ln w="0">
            <a:noFill/>
            <a:prstDash val="solid"/>
          </a:ln>
        </p:spPr>
      </p:sp>
      <p:sp>
        <p:nvSpPr>
          <p:cNvPr id="32" name="Arrow: Right 31">
            <a:extLst>
              <a:ext uri="{FF2B5EF4-FFF2-40B4-BE49-F238E27FC236}">
                <a16:creationId xmlns:a16="http://schemas.microsoft.com/office/drawing/2014/main" id="{476C1088-4109-4EE8-BE9F-0EFC0704E073}"/>
              </a:ext>
            </a:extLst>
          </p:cNvPr>
          <p:cNvSpPr>
            <a:spLocks noGrp="1"/>
          </p:cNvSpPr>
          <p:nvPr/>
        </p:nvSpPr>
        <p:spPr>
          <a:xfrm>
            <a:off x="7848600" y="2076450"/>
            <a:ext cx="285750" cy="190500"/>
          </a:xfrm>
          <a:prstGeom prst="rightArrow">
            <a:avLst/>
          </a:prstGeom>
          <a:solidFill>
            <a:srgbClr val="20A4B7"/>
          </a:solidFill>
          <a:ln w="0">
            <a:noFill/>
            <a:prstDash val="solid"/>
          </a:ln>
        </p:spPr>
      </p:sp>
      <p:sp>
        <p:nvSpPr>
          <p:cNvPr id="33" name="Arrow: Down 32">
            <a:extLst>
              <a:ext uri="{FF2B5EF4-FFF2-40B4-BE49-F238E27FC236}">
                <a16:creationId xmlns:a16="http://schemas.microsoft.com/office/drawing/2014/main" id="{985179A4-800E-41FF-9080-1F67822FAB06}"/>
              </a:ext>
            </a:extLst>
          </p:cNvPr>
          <p:cNvSpPr>
            <a:spLocks noGrp="1"/>
          </p:cNvSpPr>
          <p:nvPr/>
        </p:nvSpPr>
        <p:spPr>
          <a:xfrm>
            <a:off x="10534650" y="2781300"/>
            <a:ext cx="228600" cy="323850"/>
          </a:xfrm>
          <a:prstGeom prst="downArrow">
            <a:avLst/>
          </a:prstGeom>
          <a:solidFill>
            <a:srgbClr val="20A4B7"/>
          </a:solidFill>
          <a:ln w="0">
            <a:noFill/>
            <a:prstDash val="solid"/>
          </a:ln>
        </p:spPr>
      </p:sp>
      <p:sp>
        <p:nvSpPr>
          <p:cNvPr id="34" name="Arrow: Left 33">
            <a:extLst>
              <a:ext uri="{FF2B5EF4-FFF2-40B4-BE49-F238E27FC236}">
                <a16:creationId xmlns:a16="http://schemas.microsoft.com/office/drawing/2014/main" id="{BCBCD59C-61AE-442B-BBC4-748D36537D00}"/>
              </a:ext>
            </a:extLst>
          </p:cNvPr>
          <p:cNvSpPr>
            <a:spLocks noGrp="1"/>
          </p:cNvSpPr>
          <p:nvPr/>
        </p:nvSpPr>
        <p:spPr>
          <a:xfrm>
            <a:off x="7848600" y="3562350"/>
            <a:ext cx="285750" cy="190500"/>
          </a:xfrm>
          <a:prstGeom prst="leftArrow">
            <a:avLst/>
          </a:prstGeom>
          <a:solidFill>
            <a:srgbClr val="20A4B7"/>
          </a:solidFill>
          <a:ln w="0">
            <a:noFill/>
            <a:prstDash val="solid"/>
          </a:ln>
        </p:spPr>
      </p:sp>
      <p:sp>
        <p:nvSpPr>
          <p:cNvPr id="35" name="Arrow: Left 34">
            <a:extLst>
              <a:ext uri="{FF2B5EF4-FFF2-40B4-BE49-F238E27FC236}">
                <a16:creationId xmlns:a16="http://schemas.microsoft.com/office/drawing/2014/main" id="{FCE5E842-4C34-4744-8C12-4E3F774CCCAA}"/>
              </a:ext>
            </a:extLst>
          </p:cNvPr>
          <p:cNvSpPr>
            <a:spLocks noGrp="1"/>
          </p:cNvSpPr>
          <p:nvPr/>
        </p:nvSpPr>
        <p:spPr>
          <a:xfrm>
            <a:off x="4019550" y="3562350"/>
            <a:ext cx="285750" cy="190500"/>
          </a:xfrm>
          <a:prstGeom prst="leftArrow">
            <a:avLst/>
          </a:prstGeom>
          <a:solidFill>
            <a:srgbClr val="20A4B7"/>
          </a:solidFill>
          <a:ln w="0">
            <a:noFill/>
            <a:prstDash val="solid"/>
          </a:ln>
        </p:spPr>
      </p:sp>
      <p:sp>
        <p:nvSpPr>
          <p:cNvPr id="36" name="Rectangle 35">
            <a:extLst>
              <a:ext uri="{FF2B5EF4-FFF2-40B4-BE49-F238E27FC236}">
                <a16:creationId xmlns:a16="http://schemas.microsoft.com/office/drawing/2014/main" id="{5FD282FB-6277-43D0-921C-BA1BD7622DBB}"/>
              </a:ext>
            </a:extLst>
          </p:cNvPr>
          <p:cNvSpPr>
            <a:spLocks noGrp="1"/>
          </p:cNvSpPr>
          <p:nvPr/>
        </p:nvSpPr>
        <p:spPr>
          <a:xfrm>
            <a:off x="609600" y="4629150"/>
            <a:ext cx="10972800" cy="361950"/>
          </a:xfrm>
          <a:prstGeom prst="rect">
            <a:avLst/>
          </a:prstGeom>
          <a:noFill/>
          <a:ln w="0">
            <a:noFill/>
            <a:prstDash val="solid"/>
          </a:ln>
        </p:spPr>
        <p:txBody>
          <a:bodyPr anchor="ctr"/>
          <a:lstStyle>
            <a:defPPr algn="ctr">
              <a:defRPr sz="1425" b="1">
                <a:solidFill>
                  <a:srgbClr val="14233F"/>
                </a:solidFill>
              </a:defRPr>
            </a:defPPr>
            <a:lvl1pPr algn="ctr">
              <a:buNone/>
              <a:defRPr sz="1425" b="1">
                <a:solidFill>
                  <a:srgbClr val="14233F"/>
                </a:solidFill>
              </a:defRPr>
            </a:lvl1pPr>
            <a:lvl2pPr algn="ctr">
              <a:buNone/>
              <a:defRPr sz="1425" b="1">
                <a:solidFill>
                  <a:srgbClr val="14233F"/>
                </a:solidFill>
              </a:defRPr>
            </a:lvl2pPr>
            <a:lvl3pPr algn="ctr">
              <a:buNone/>
              <a:defRPr sz="1425" b="1">
                <a:solidFill>
                  <a:srgbClr val="14233F"/>
                </a:solidFill>
              </a:defRPr>
            </a:lvl3pPr>
            <a:lvl4pPr algn="ctr">
              <a:buNone/>
              <a:defRPr sz="1425" b="1">
                <a:solidFill>
                  <a:srgbClr val="14233F"/>
                </a:solidFill>
              </a:defRPr>
            </a:lvl4pPr>
            <a:lvl5pPr algn="ctr">
              <a:buNone/>
              <a:defRPr sz="1425" b="1">
                <a:solidFill>
                  <a:srgbClr val="14233F"/>
                </a:solidFill>
              </a:defRPr>
            </a:lvl5pPr>
            <a:lvl6pPr algn="ctr">
              <a:buNone/>
              <a:defRPr sz="1425" b="1">
                <a:solidFill>
                  <a:srgbClr val="14233F"/>
                </a:solidFill>
              </a:defRPr>
            </a:lvl6pPr>
            <a:lvl7pPr algn="ctr">
              <a:buNone/>
              <a:defRPr sz="1425" b="1">
                <a:solidFill>
                  <a:srgbClr val="14233F"/>
                </a:solidFill>
              </a:defRPr>
            </a:lvl7pPr>
            <a:lvl8pPr algn="ctr">
              <a:buNone/>
              <a:defRPr sz="1425" b="1">
                <a:solidFill>
                  <a:srgbClr val="14233F"/>
                </a:solidFill>
              </a:defRPr>
            </a:lvl8pPr>
            <a:lvl9pPr algn="ctr">
              <a:buNone/>
              <a:defRPr sz="1425" b="1">
                <a:solidFill>
                  <a:srgbClr val="14233F"/>
                </a:solidFill>
              </a:defRPr>
            </a:lvl9pPr>
          </a:lstStyle>
          <a:p>
            <a:pPr algn="ctr">
              <a:buNone/>
              <a:defRPr sz="1425" b="1">
                <a:solidFill>
                  <a:srgbClr val="14233F"/>
                </a:solidFill>
              </a:defRPr>
            </a:pPr>
            <a:r>
              <a:rPr sz="1425" b="1">
                <a:solidFill>
                  <a:srgbClr val="14233F"/>
                </a:solidFill>
              </a:rPr>
              <a:t>First check that facts are supported. Then use the retrieved evidence to write the answer.</a:t>
            </a:r>
          </a:p>
        </p:txBody>
      </p:sp>
      <p:sp>
        <p:nvSpPr>
          <p:cNvPr id="37" name="Rectangle 36">
            <a:extLst>
              <a:ext uri="{FF2B5EF4-FFF2-40B4-BE49-F238E27FC236}">
                <a16:creationId xmlns:a16="http://schemas.microsoft.com/office/drawing/2014/main" id="{0FF77903-59A0-4790-9D0C-B29E9014798C}"/>
              </a:ext>
            </a:extLst>
          </p:cNvPr>
          <p:cNvSpPr>
            <a:spLocks noGrp="1"/>
          </p:cNvSpPr>
          <p:nvPr/>
        </p:nvSpPr>
        <p:spPr>
          <a:xfrm>
            <a:off x="609600" y="5219700"/>
            <a:ext cx="10972800" cy="304800"/>
          </a:xfrm>
          <a:prstGeom prst="rect">
            <a:avLst/>
          </a:prstGeom>
          <a:noFill/>
          <a:ln w="0">
            <a:noFill/>
            <a:prstDash val="solid"/>
          </a:ln>
        </p:spPr>
        <p:txBody>
          <a:bodyPr anchor="ctr"/>
          <a:lstStyle>
            <a:defPPr algn="ctr">
              <a:defRPr sz="1200" b="0">
                <a:solidFill>
                  <a:srgbClr val="5D6B7C"/>
                </a:solidFill>
              </a:defRPr>
            </a:defPPr>
            <a:lvl1pPr algn="ctr">
              <a:buNone/>
              <a:defRPr sz="1200" b="0">
                <a:solidFill>
                  <a:srgbClr val="5D6B7C"/>
                </a:solidFill>
              </a:defRPr>
            </a:lvl1pPr>
            <a:lvl2pPr algn="ctr">
              <a:buNone/>
              <a:defRPr sz="1200" b="0">
                <a:solidFill>
                  <a:srgbClr val="5D6B7C"/>
                </a:solidFill>
              </a:defRPr>
            </a:lvl2pPr>
            <a:lvl3pPr algn="ctr">
              <a:buNone/>
              <a:defRPr sz="1200" b="0">
                <a:solidFill>
                  <a:srgbClr val="5D6B7C"/>
                </a:solidFill>
              </a:defRPr>
            </a:lvl3pPr>
            <a:lvl4pPr algn="ctr">
              <a:buNone/>
              <a:defRPr sz="1200" b="0">
                <a:solidFill>
                  <a:srgbClr val="5D6B7C"/>
                </a:solidFill>
              </a:defRPr>
            </a:lvl4pPr>
            <a:lvl5pPr algn="ctr">
              <a:buNone/>
              <a:defRPr sz="1200" b="0">
                <a:solidFill>
                  <a:srgbClr val="5D6B7C"/>
                </a:solidFill>
              </a:defRPr>
            </a:lvl5pPr>
            <a:lvl6pPr algn="ctr">
              <a:buNone/>
              <a:defRPr sz="1200" b="0">
                <a:solidFill>
                  <a:srgbClr val="5D6B7C"/>
                </a:solidFill>
              </a:defRPr>
            </a:lvl6pPr>
            <a:lvl7pPr algn="ctr">
              <a:buNone/>
              <a:defRPr sz="1200" b="0">
                <a:solidFill>
                  <a:srgbClr val="5D6B7C"/>
                </a:solidFill>
              </a:defRPr>
            </a:lvl7pPr>
            <a:lvl8pPr algn="ctr">
              <a:buNone/>
              <a:defRPr sz="1200" b="0">
                <a:solidFill>
                  <a:srgbClr val="5D6B7C"/>
                </a:solidFill>
              </a:defRPr>
            </a:lvl8pPr>
            <a:lvl9pPr algn="ctr">
              <a:buNone/>
              <a:defRPr sz="1200" b="0">
                <a:solidFill>
                  <a:srgbClr val="5D6B7C"/>
                </a:solidFill>
              </a:defRPr>
            </a:lvl9pPr>
          </a:lstStyle>
          <a:p>
            <a:pPr algn="ctr">
              <a:buNone/>
              <a:defRPr sz="1200" b="0">
                <a:solidFill>
                  <a:srgbClr val="5D6B7C"/>
                </a:solidFill>
              </a:defRPr>
            </a:pPr>
            <a:r>
              <a:rPr sz="1200" b="0">
                <a:solidFill>
                  <a:srgbClr val="5D6B7C"/>
                </a:solidFill>
              </a:rPr>
              <a:t>In the evaluation: Exact Match · Token F1 · results by hop · query time · software tests</a:t>
            </a:r>
          </a:p>
        </p:txBody>
      </p:sp>
    </p:spTree>
    <p:extLst>
      <p:ext uri="{BB962C8B-B14F-4D97-AF65-F5344CB8AC3E}">
        <p14:creationId xmlns:p14="http://schemas.microsoft.com/office/powerpoint/2010/main" val="208146308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83F09D0E-F234-4C19-96BF-E8F9FC721213}"/>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SYSTEM DIAGRAM / PROPOSED ALGORITHM / FLOWCHART</a:t>
            </a:r>
          </a:p>
        </p:txBody>
      </p:sp>
      <p:sp>
        <p:nvSpPr>
          <p:cNvPr id="2" name="Rectangle 1">
            <a:extLst>
              <a:ext uri="{FF2B5EF4-FFF2-40B4-BE49-F238E27FC236}">
                <a16:creationId xmlns:a16="http://schemas.microsoft.com/office/drawing/2014/main" id="{103E720D-A70E-429A-AE5D-E01C5D07EFC2}"/>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System architecture: from question to evidence</a:t>
            </a:r>
          </a:p>
        </p:txBody>
      </p:sp>
      <p:sp>
        <p:nvSpPr>
          <p:cNvPr id="3" name="Rectangle 2">
            <a:extLst>
              <a:ext uri="{FF2B5EF4-FFF2-40B4-BE49-F238E27FC236}">
                <a16:creationId xmlns:a16="http://schemas.microsoft.com/office/drawing/2014/main" id="{31710DE8-11C8-4AA3-928F-03E15A5A1F5A}"/>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BB93A059-9D77-4694-91A2-46762D36A524}"/>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05</a:t>
            </a:r>
          </a:p>
        </p:txBody>
      </p:sp>
      <p:sp>
        <p:nvSpPr>
          <p:cNvPr id="7" name="Rectangle: Rounded Corners 6">
            <a:extLst>
              <a:ext uri="{FF2B5EF4-FFF2-40B4-BE49-F238E27FC236}">
                <a16:creationId xmlns:a16="http://schemas.microsoft.com/office/drawing/2014/main" id="{C3527E4B-384C-4D76-8A71-910327A07928}"/>
              </a:ext>
            </a:extLst>
          </p:cNvPr>
          <p:cNvSpPr>
            <a:spLocks noGrp="1"/>
          </p:cNvSpPr>
          <p:nvPr/>
        </p:nvSpPr>
        <p:spPr>
          <a:xfrm>
            <a:off x="609600" y="2114550"/>
            <a:ext cx="1600200" cy="1066800"/>
          </a:xfrm>
          <a:prstGeom prst="roundRect">
            <a:avLst>
              <a:gd name="adj" fmla="val 7143"/>
            </a:avLst>
          </a:prstGeom>
          <a:solidFill>
            <a:srgbClr val="FFFFFF"/>
          </a:solidFill>
          <a:ln w="9525">
            <a:solidFill>
              <a:srgbClr val="D7E0EC"/>
            </a:solidFill>
            <a:prstDash val="solid"/>
          </a:ln>
        </p:spPr>
      </p:sp>
      <p:sp>
        <p:nvSpPr>
          <p:cNvPr id="8" name="Rectangle 7">
            <a:extLst>
              <a:ext uri="{FF2B5EF4-FFF2-40B4-BE49-F238E27FC236}">
                <a16:creationId xmlns:a16="http://schemas.microsoft.com/office/drawing/2014/main" id="{684EDFC6-F6FE-4721-8B24-B69AB3701214}"/>
              </a:ext>
            </a:extLst>
          </p:cNvPr>
          <p:cNvSpPr>
            <a:spLocks noGrp="1"/>
          </p:cNvSpPr>
          <p:nvPr/>
        </p:nvSpPr>
        <p:spPr>
          <a:xfrm>
            <a:off x="609600" y="2114550"/>
            <a:ext cx="47625" cy="1066800"/>
          </a:xfrm>
          <a:prstGeom prst="rect">
            <a:avLst/>
          </a:prstGeom>
          <a:solidFill>
            <a:srgbClr val="14233F"/>
          </a:solidFill>
          <a:ln w="0">
            <a:noFill/>
            <a:prstDash val="solid"/>
          </a:ln>
        </p:spPr>
      </p:sp>
      <p:sp>
        <p:nvSpPr>
          <p:cNvPr id="9" name="Rectangle 8">
            <a:extLst>
              <a:ext uri="{FF2B5EF4-FFF2-40B4-BE49-F238E27FC236}">
                <a16:creationId xmlns:a16="http://schemas.microsoft.com/office/drawing/2014/main" id="{1E706AEE-C163-4383-9C2E-D5961B2B4FD7}"/>
              </a:ext>
            </a:extLst>
          </p:cNvPr>
          <p:cNvSpPr>
            <a:spLocks noGrp="1"/>
          </p:cNvSpPr>
          <p:nvPr/>
        </p:nvSpPr>
        <p:spPr>
          <a:xfrm>
            <a:off x="781050" y="2276475"/>
            <a:ext cx="1276350" cy="28575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Question</a:t>
            </a:r>
          </a:p>
        </p:txBody>
      </p:sp>
      <p:sp>
        <p:nvSpPr>
          <p:cNvPr id="10" name="Rectangle 9">
            <a:extLst>
              <a:ext uri="{FF2B5EF4-FFF2-40B4-BE49-F238E27FC236}">
                <a16:creationId xmlns:a16="http://schemas.microsoft.com/office/drawing/2014/main" id="{61A0E1E8-B99E-4968-8489-F2DB6DB2E0F4}"/>
              </a:ext>
            </a:extLst>
          </p:cNvPr>
          <p:cNvSpPr>
            <a:spLocks noGrp="1"/>
          </p:cNvSpPr>
          <p:nvPr/>
        </p:nvSpPr>
        <p:spPr>
          <a:xfrm>
            <a:off x="781050" y="2619375"/>
            <a:ext cx="1276350" cy="419100"/>
          </a:xfrm>
          <a:prstGeom prst="rect">
            <a:avLst/>
          </a:prstGeom>
          <a:noFill/>
          <a:ln w="0">
            <a:noFill/>
            <a:prstDash val="solid"/>
          </a:ln>
        </p:spPr>
        <p:txBody>
          <a:bodyPr anchor="t"/>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natural-language</a:t>
            </a:r>
          </a:p>
          <a:p>
            <a:pPr algn="l">
              <a:buNone/>
              <a:defRPr sz="1125" b="0">
                <a:solidFill>
                  <a:srgbClr val="5D6B7C"/>
                </a:solidFill>
              </a:defRPr>
            </a:pPr>
            <a:r>
              <a:rPr sz="1125" b="0">
                <a:solidFill>
                  <a:srgbClr val="5D6B7C"/>
                </a:solidFill>
              </a:rPr>
              <a:t>query</a:t>
            </a:r>
          </a:p>
        </p:txBody>
      </p:sp>
      <p:sp>
        <p:nvSpPr>
          <p:cNvPr id="11" name="Rectangle: Rounded Corners 10">
            <a:extLst>
              <a:ext uri="{FF2B5EF4-FFF2-40B4-BE49-F238E27FC236}">
                <a16:creationId xmlns:a16="http://schemas.microsoft.com/office/drawing/2014/main" id="{E894F8A6-B6D0-46D2-A9C3-7060CA584AF9}"/>
              </a:ext>
            </a:extLst>
          </p:cNvPr>
          <p:cNvSpPr>
            <a:spLocks noGrp="1"/>
          </p:cNvSpPr>
          <p:nvPr/>
        </p:nvSpPr>
        <p:spPr>
          <a:xfrm>
            <a:off x="2514600" y="2114550"/>
            <a:ext cx="1714500" cy="1066800"/>
          </a:xfrm>
          <a:prstGeom prst="roundRect">
            <a:avLst>
              <a:gd name="adj" fmla="val 7143"/>
            </a:avLst>
          </a:prstGeom>
          <a:solidFill>
            <a:srgbClr val="FFFFFF"/>
          </a:solidFill>
          <a:ln w="9525">
            <a:solidFill>
              <a:srgbClr val="D7E0EC"/>
            </a:solidFill>
            <a:prstDash val="solid"/>
          </a:ln>
        </p:spPr>
      </p:sp>
      <p:sp>
        <p:nvSpPr>
          <p:cNvPr id="12" name="Rectangle 11">
            <a:extLst>
              <a:ext uri="{FF2B5EF4-FFF2-40B4-BE49-F238E27FC236}">
                <a16:creationId xmlns:a16="http://schemas.microsoft.com/office/drawing/2014/main" id="{77FF222C-7A50-4913-8D12-2CB4AA339229}"/>
              </a:ext>
            </a:extLst>
          </p:cNvPr>
          <p:cNvSpPr>
            <a:spLocks noGrp="1"/>
          </p:cNvSpPr>
          <p:nvPr/>
        </p:nvSpPr>
        <p:spPr>
          <a:xfrm>
            <a:off x="2514600" y="2114550"/>
            <a:ext cx="47625" cy="1066800"/>
          </a:xfrm>
          <a:prstGeom prst="rect">
            <a:avLst/>
          </a:prstGeom>
          <a:solidFill>
            <a:srgbClr val="2356A8"/>
          </a:solidFill>
          <a:ln w="0">
            <a:noFill/>
            <a:prstDash val="solid"/>
          </a:ln>
        </p:spPr>
      </p:sp>
      <p:sp>
        <p:nvSpPr>
          <p:cNvPr id="13" name="Rectangle 12">
            <a:extLst>
              <a:ext uri="{FF2B5EF4-FFF2-40B4-BE49-F238E27FC236}">
                <a16:creationId xmlns:a16="http://schemas.microsoft.com/office/drawing/2014/main" id="{D1B2BA0F-B9D8-414D-9BAE-93CA90E4BCF2}"/>
              </a:ext>
            </a:extLst>
          </p:cNvPr>
          <p:cNvSpPr>
            <a:spLocks noGrp="1"/>
          </p:cNvSpPr>
          <p:nvPr/>
        </p:nvSpPr>
        <p:spPr>
          <a:xfrm>
            <a:off x="2686050" y="2276475"/>
            <a:ext cx="1390650" cy="28575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Router</a:t>
            </a:r>
          </a:p>
        </p:txBody>
      </p:sp>
      <p:sp>
        <p:nvSpPr>
          <p:cNvPr id="14" name="Rectangle 13">
            <a:extLst>
              <a:ext uri="{FF2B5EF4-FFF2-40B4-BE49-F238E27FC236}">
                <a16:creationId xmlns:a16="http://schemas.microsoft.com/office/drawing/2014/main" id="{600D05B2-DA52-4E80-8107-1E1F0EAB1796}"/>
              </a:ext>
            </a:extLst>
          </p:cNvPr>
          <p:cNvSpPr>
            <a:spLocks noGrp="1"/>
          </p:cNvSpPr>
          <p:nvPr/>
        </p:nvSpPr>
        <p:spPr>
          <a:xfrm>
            <a:off x="2686050" y="2619375"/>
            <a:ext cx="1390650" cy="419100"/>
          </a:xfrm>
          <a:prstGeom prst="rect">
            <a:avLst/>
          </a:prstGeom>
          <a:noFill/>
          <a:ln w="0">
            <a:noFill/>
            <a:prstDash val="solid"/>
          </a:ln>
        </p:spPr>
        <p:txBody>
          <a:bodyPr anchor="t"/>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vector · KG · hybrid</a:t>
            </a:r>
          </a:p>
        </p:txBody>
      </p:sp>
      <p:sp>
        <p:nvSpPr>
          <p:cNvPr id="15" name="Rectangle: Rounded Corners 14">
            <a:extLst>
              <a:ext uri="{FF2B5EF4-FFF2-40B4-BE49-F238E27FC236}">
                <a16:creationId xmlns:a16="http://schemas.microsoft.com/office/drawing/2014/main" id="{957B5170-9C3E-4E8B-9489-AD19CD2124AC}"/>
              </a:ext>
            </a:extLst>
          </p:cNvPr>
          <p:cNvSpPr>
            <a:spLocks noGrp="1"/>
          </p:cNvSpPr>
          <p:nvPr/>
        </p:nvSpPr>
        <p:spPr>
          <a:xfrm>
            <a:off x="4533900" y="2114550"/>
            <a:ext cx="2095500" cy="1066800"/>
          </a:xfrm>
          <a:prstGeom prst="roundRect">
            <a:avLst>
              <a:gd name="adj" fmla="val 7143"/>
            </a:avLst>
          </a:prstGeom>
          <a:solidFill>
            <a:srgbClr val="FFFFFF"/>
          </a:solidFill>
          <a:ln w="9525">
            <a:solidFill>
              <a:srgbClr val="D7E0EC"/>
            </a:solidFill>
            <a:prstDash val="solid"/>
          </a:ln>
        </p:spPr>
      </p:sp>
      <p:sp>
        <p:nvSpPr>
          <p:cNvPr id="16" name="Rectangle 15">
            <a:extLst>
              <a:ext uri="{FF2B5EF4-FFF2-40B4-BE49-F238E27FC236}">
                <a16:creationId xmlns:a16="http://schemas.microsoft.com/office/drawing/2014/main" id="{CFB1FEA9-EFFF-4B45-BEFA-41F0799EA22F}"/>
              </a:ext>
            </a:extLst>
          </p:cNvPr>
          <p:cNvSpPr>
            <a:spLocks noGrp="1"/>
          </p:cNvSpPr>
          <p:nvPr/>
        </p:nvSpPr>
        <p:spPr>
          <a:xfrm>
            <a:off x="4533900" y="2114550"/>
            <a:ext cx="47625" cy="1066800"/>
          </a:xfrm>
          <a:prstGeom prst="rect">
            <a:avLst/>
          </a:prstGeom>
          <a:solidFill>
            <a:srgbClr val="20A4B7"/>
          </a:solidFill>
          <a:ln w="0">
            <a:noFill/>
            <a:prstDash val="solid"/>
          </a:ln>
        </p:spPr>
      </p:sp>
      <p:sp>
        <p:nvSpPr>
          <p:cNvPr id="17" name="Rectangle 16">
            <a:extLst>
              <a:ext uri="{FF2B5EF4-FFF2-40B4-BE49-F238E27FC236}">
                <a16:creationId xmlns:a16="http://schemas.microsoft.com/office/drawing/2014/main" id="{87F451F0-1725-4B05-8D20-049764D6E6E0}"/>
              </a:ext>
            </a:extLst>
          </p:cNvPr>
          <p:cNvSpPr>
            <a:spLocks noGrp="1"/>
          </p:cNvSpPr>
          <p:nvPr/>
        </p:nvSpPr>
        <p:spPr>
          <a:xfrm>
            <a:off x="4705350" y="2276475"/>
            <a:ext cx="1771650" cy="28575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Evidence retrieval</a:t>
            </a:r>
          </a:p>
        </p:txBody>
      </p:sp>
      <p:sp>
        <p:nvSpPr>
          <p:cNvPr id="18" name="Rectangle 17">
            <a:extLst>
              <a:ext uri="{FF2B5EF4-FFF2-40B4-BE49-F238E27FC236}">
                <a16:creationId xmlns:a16="http://schemas.microsoft.com/office/drawing/2014/main" id="{BE7AB444-9934-41F4-B931-C549FCBB6538}"/>
              </a:ext>
            </a:extLst>
          </p:cNvPr>
          <p:cNvSpPr>
            <a:spLocks noGrp="1"/>
          </p:cNvSpPr>
          <p:nvPr/>
        </p:nvSpPr>
        <p:spPr>
          <a:xfrm>
            <a:off x="4705350" y="2619375"/>
            <a:ext cx="1771650" cy="419100"/>
          </a:xfrm>
          <a:prstGeom prst="rect">
            <a:avLst/>
          </a:prstGeom>
          <a:noFill/>
          <a:ln w="0">
            <a:noFill/>
            <a:prstDash val="solid"/>
          </a:ln>
        </p:spPr>
        <p:txBody>
          <a:bodyPr anchor="t"/>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passages + scored</a:t>
            </a:r>
          </a:p>
          <a:p>
            <a:pPr algn="l">
              <a:buNone/>
              <a:defRPr sz="1125" b="0">
                <a:solidFill>
                  <a:srgbClr val="5D6B7C"/>
                </a:solidFill>
              </a:defRPr>
            </a:pPr>
            <a:r>
              <a:rPr sz="1125" b="0">
                <a:solidFill>
                  <a:srgbClr val="5D6B7C"/>
                </a:solidFill>
              </a:rPr>
              <a:t>graph paths</a:t>
            </a:r>
          </a:p>
        </p:txBody>
      </p:sp>
      <p:sp>
        <p:nvSpPr>
          <p:cNvPr id="19" name="Rectangle: Rounded Corners 18">
            <a:extLst>
              <a:ext uri="{FF2B5EF4-FFF2-40B4-BE49-F238E27FC236}">
                <a16:creationId xmlns:a16="http://schemas.microsoft.com/office/drawing/2014/main" id="{50594D8C-AC5A-4993-9289-B8368497C720}"/>
              </a:ext>
            </a:extLst>
          </p:cNvPr>
          <p:cNvSpPr>
            <a:spLocks noGrp="1"/>
          </p:cNvSpPr>
          <p:nvPr/>
        </p:nvSpPr>
        <p:spPr>
          <a:xfrm>
            <a:off x="6934200" y="2114550"/>
            <a:ext cx="2000250" cy="1066800"/>
          </a:xfrm>
          <a:prstGeom prst="roundRect">
            <a:avLst>
              <a:gd name="adj" fmla="val 7143"/>
            </a:avLst>
          </a:prstGeom>
          <a:solidFill>
            <a:srgbClr val="FFFFFF"/>
          </a:solidFill>
          <a:ln w="9525">
            <a:solidFill>
              <a:srgbClr val="D7E0EC"/>
            </a:solidFill>
            <a:prstDash val="solid"/>
          </a:ln>
        </p:spPr>
      </p:sp>
      <p:sp>
        <p:nvSpPr>
          <p:cNvPr id="20" name="Rectangle 19">
            <a:extLst>
              <a:ext uri="{FF2B5EF4-FFF2-40B4-BE49-F238E27FC236}">
                <a16:creationId xmlns:a16="http://schemas.microsoft.com/office/drawing/2014/main" id="{B6303361-F1DD-4B22-8741-10B341ED29EB}"/>
              </a:ext>
            </a:extLst>
          </p:cNvPr>
          <p:cNvSpPr>
            <a:spLocks noGrp="1"/>
          </p:cNvSpPr>
          <p:nvPr/>
        </p:nvSpPr>
        <p:spPr>
          <a:xfrm>
            <a:off x="6934200" y="2114550"/>
            <a:ext cx="47625" cy="1066800"/>
          </a:xfrm>
          <a:prstGeom prst="rect">
            <a:avLst/>
          </a:prstGeom>
          <a:solidFill>
            <a:srgbClr val="168A70"/>
          </a:solidFill>
          <a:ln w="0">
            <a:noFill/>
            <a:prstDash val="solid"/>
          </a:ln>
        </p:spPr>
      </p:sp>
      <p:sp>
        <p:nvSpPr>
          <p:cNvPr id="21" name="Rectangle 20">
            <a:extLst>
              <a:ext uri="{FF2B5EF4-FFF2-40B4-BE49-F238E27FC236}">
                <a16:creationId xmlns:a16="http://schemas.microsoft.com/office/drawing/2014/main" id="{EF20DA1C-8641-4B55-880C-EA3F093CCDDE}"/>
              </a:ext>
            </a:extLst>
          </p:cNvPr>
          <p:cNvSpPr>
            <a:spLocks noGrp="1"/>
          </p:cNvSpPr>
          <p:nvPr/>
        </p:nvSpPr>
        <p:spPr>
          <a:xfrm>
            <a:off x="7105650" y="2276475"/>
            <a:ext cx="1676400" cy="28575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Synthesis</a:t>
            </a:r>
          </a:p>
        </p:txBody>
      </p:sp>
      <p:sp>
        <p:nvSpPr>
          <p:cNvPr id="22" name="Rectangle 21">
            <a:extLst>
              <a:ext uri="{FF2B5EF4-FFF2-40B4-BE49-F238E27FC236}">
                <a16:creationId xmlns:a16="http://schemas.microsoft.com/office/drawing/2014/main" id="{0F080570-B8E3-4475-8198-EAAFBBBE3F8F}"/>
              </a:ext>
            </a:extLst>
          </p:cNvPr>
          <p:cNvSpPr>
            <a:spLocks noGrp="1"/>
          </p:cNvSpPr>
          <p:nvPr/>
        </p:nvSpPr>
        <p:spPr>
          <a:xfrm>
            <a:off x="7105650" y="2619375"/>
            <a:ext cx="1676400" cy="419100"/>
          </a:xfrm>
          <a:prstGeom prst="rect">
            <a:avLst/>
          </a:prstGeom>
          <a:noFill/>
          <a:ln w="0">
            <a:noFill/>
            <a:prstDash val="solid"/>
          </a:ln>
        </p:spPr>
        <p:txBody>
          <a:bodyPr anchor="t"/>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answer from retrieved</a:t>
            </a:r>
          </a:p>
          <a:p>
            <a:pPr algn="l">
              <a:buNone/>
              <a:defRPr sz="1125" b="0">
                <a:solidFill>
                  <a:srgbClr val="5D6B7C"/>
                </a:solidFill>
              </a:defRPr>
            </a:pPr>
            <a:r>
              <a:rPr sz="1125" b="0">
                <a:solidFill>
                  <a:srgbClr val="5D6B7C"/>
                </a:solidFill>
              </a:rPr>
              <a:t>evidence</a:t>
            </a:r>
          </a:p>
        </p:txBody>
      </p:sp>
      <p:sp>
        <p:nvSpPr>
          <p:cNvPr id="23" name="Rectangle: Rounded Corners 22">
            <a:extLst>
              <a:ext uri="{FF2B5EF4-FFF2-40B4-BE49-F238E27FC236}">
                <a16:creationId xmlns:a16="http://schemas.microsoft.com/office/drawing/2014/main" id="{F4E3C170-1240-42F4-BC92-4AA583992A4F}"/>
              </a:ext>
            </a:extLst>
          </p:cNvPr>
          <p:cNvSpPr>
            <a:spLocks noGrp="1"/>
          </p:cNvSpPr>
          <p:nvPr/>
        </p:nvSpPr>
        <p:spPr>
          <a:xfrm>
            <a:off x="9239250" y="2114550"/>
            <a:ext cx="2305050" cy="1066800"/>
          </a:xfrm>
          <a:prstGeom prst="roundRect">
            <a:avLst>
              <a:gd name="adj" fmla="val 7143"/>
            </a:avLst>
          </a:prstGeom>
          <a:solidFill>
            <a:srgbClr val="FFFFFF"/>
          </a:solidFill>
          <a:ln w="9525">
            <a:solidFill>
              <a:srgbClr val="D7E0EC"/>
            </a:solidFill>
            <a:prstDash val="solid"/>
          </a:ln>
        </p:spPr>
      </p:sp>
      <p:sp>
        <p:nvSpPr>
          <p:cNvPr id="24" name="Rectangle 23">
            <a:extLst>
              <a:ext uri="{FF2B5EF4-FFF2-40B4-BE49-F238E27FC236}">
                <a16:creationId xmlns:a16="http://schemas.microsoft.com/office/drawing/2014/main" id="{D9C64902-8FA2-44B9-8E08-5A4D2438193D}"/>
              </a:ext>
            </a:extLst>
          </p:cNvPr>
          <p:cNvSpPr>
            <a:spLocks noGrp="1"/>
          </p:cNvSpPr>
          <p:nvPr/>
        </p:nvSpPr>
        <p:spPr>
          <a:xfrm>
            <a:off x="9239250" y="2114550"/>
            <a:ext cx="47625" cy="1066800"/>
          </a:xfrm>
          <a:prstGeom prst="rect">
            <a:avLst/>
          </a:prstGeom>
          <a:solidFill>
            <a:srgbClr val="14233F"/>
          </a:solidFill>
          <a:ln w="0">
            <a:noFill/>
            <a:prstDash val="solid"/>
          </a:ln>
        </p:spPr>
      </p:sp>
      <p:sp>
        <p:nvSpPr>
          <p:cNvPr id="25" name="Rectangle 24">
            <a:extLst>
              <a:ext uri="{FF2B5EF4-FFF2-40B4-BE49-F238E27FC236}">
                <a16:creationId xmlns:a16="http://schemas.microsoft.com/office/drawing/2014/main" id="{B10CB2D7-06DF-48AB-85F7-0D66A0470516}"/>
              </a:ext>
            </a:extLst>
          </p:cNvPr>
          <p:cNvSpPr>
            <a:spLocks noGrp="1"/>
          </p:cNvSpPr>
          <p:nvPr/>
        </p:nvSpPr>
        <p:spPr>
          <a:xfrm>
            <a:off x="9410700" y="2276475"/>
            <a:ext cx="1981200" cy="28575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Answer + provenance</a:t>
            </a:r>
          </a:p>
        </p:txBody>
      </p:sp>
      <p:sp>
        <p:nvSpPr>
          <p:cNvPr id="26" name="Rectangle 25">
            <a:extLst>
              <a:ext uri="{FF2B5EF4-FFF2-40B4-BE49-F238E27FC236}">
                <a16:creationId xmlns:a16="http://schemas.microsoft.com/office/drawing/2014/main" id="{513FC5F7-1A2B-416C-8AE1-93C246212209}"/>
              </a:ext>
            </a:extLst>
          </p:cNvPr>
          <p:cNvSpPr>
            <a:spLocks noGrp="1"/>
          </p:cNvSpPr>
          <p:nvPr/>
        </p:nvSpPr>
        <p:spPr>
          <a:xfrm>
            <a:off x="9410700" y="2619375"/>
            <a:ext cx="1981200" cy="419100"/>
          </a:xfrm>
          <a:prstGeom prst="rect">
            <a:avLst/>
          </a:prstGeom>
          <a:noFill/>
          <a:ln w="0">
            <a:noFill/>
            <a:prstDash val="solid"/>
          </a:ln>
        </p:spPr>
        <p:txBody>
          <a:bodyPr anchor="t"/>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response linked to</a:t>
            </a:r>
          </a:p>
          <a:p>
            <a:pPr algn="l">
              <a:buNone/>
              <a:defRPr sz="1125" b="0">
                <a:solidFill>
                  <a:srgbClr val="5D6B7C"/>
                </a:solidFill>
              </a:defRPr>
            </a:pPr>
            <a:r>
              <a:rPr sz="1125" b="0">
                <a:solidFill>
                  <a:srgbClr val="5D6B7C"/>
                </a:solidFill>
              </a:rPr>
              <a:t>source evidence</a:t>
            </a:r>
          </a:p>
        </p:txBody>
      </p:sp>
      <p:sp>
        <p:nvSpPr>
          <p:cNvPr id="27" name="Arrow: Right 26">
            <a:extLst>
              <a:ext uri="{FF2B5EF4-FFF2-40B4-BE49-F238E27FC236}">
                <a16:creationId xmlns:a16="http://schemas.microsoft.com/office/drawing/2014/main" id="{7EF667F9-56C3-4356-9E1D-6AD7862BE061}"/>
              </a:ext>
            </a:extLst>
          </p:cNvPr>
          <p:cNvSpPr>
            <a:spLocks noGrp="1"/>
          </p:cNvSpPr>
          <p:nvPr/>
        </p:nvSpPr>
        <p:spPr>
          <a:xfrm>
            <a:off x="2247900" y="2552700"/>
            <a:ext cx="228600" cy="190500"/>
          </a:xfrm>
          <a:prstGeom prst="rightArrow">
            <a:avLst/>
          </a:prstGeom>
          <a:solidFill>
            <a:srgbClr val="20A4B7"/>
          </a:solidFill>
          <a:ln w="0">
            <a:noFill/>
            <a:prstDash val="solid"/>
          </a:ln>
        </p:spPr>
      </p:sp>
      <p:sp>
        <p:nvSpPr>
          <p:cNvPr id="28" name="Arrow: Right 27">
            <a:extLst>
              <a:ext uri="{FF2B5EF4-FFF2-40B4-BE49-F238E27FC236}">
                <a16:creationId xmlns:a16="http://schemas.microsoft.com/office/drawing/2014/main" id="{00CC590C-B7F6-4F6B-B894-E914D33686FB}"/>
              </a:ext>
            </a:extLst>
          </p:cNvPr>
          <p:cNvSpPr>
            <a:spLocks noGrp="1"/>
          </p:cNvSpPr>
          <p:nvPr/>
        </p:nvSpPr>
        <p:spPr>
          <a:xfrm>
            <a:off x="4286250" y="2552700"/>
            <a:ext cx="228600" cy="190500"/>
          </a:xfrm>
          <a:prstGeom prst="rightArrow">
            <a:avLst/>
          </a:prstGeom>
          <a:solidFill>
            <a:srgbClr val="20A4B7"/>
          </a:solidFill>
          <a:ln w="0">
            <a:noFill/>
            <a:prstDash val="solid"/>
          </a:ln>
        </p:spPr>
      </p:sp>
      <p:sp>
        <p:nvSpPr>
          <p:cNvPr id="29" name="Arrow: Right 28">
            <a:extLst>
              <a:ext uri="{FF2B5EF4-FFF2-40B4-BE49-F238E27FC236}">
                <a16:creationId xmlns:a16="http://schemas.microsoft.com/office/drawing/2014/main" id="{758BB948-DB97-4D81-B34B-F0445E11A74E}"/>
              </a:ext>
            </a:extLst>
          </p:cNvPr>
          <p:cNvSpPr>
            <a:spLocks noGrp="1"/>
          </p:cNvSpPr>
          <p:nvPr/>
        </p:nvSpPr>
        <p:spPr>
          <a:xfrm>
            <a:off x="6686550" y="2552700"/>
            <a:ext cx="228600" cy="190500"/>
          </a:xfrm>
          <a:prstGeom prst="rightArrow">
            <a:avLst/>
          </a:prstGeom>
          <a:solidFill>
            <a:srgbClr val="20A4B7"/>
          </a:solidFill>
          <a:ln w="0">
            <a:noFill/>
            <a:prstDash val="solid"/>
          </a:ln>
        </p:spPr>
      </p:sp>
      <p:sp>
        <p:nvSpPr>
          <p:cNvPr id="30" name="Arrow: Right 29">
            <a:extLst>
              <a:ext uri="{FF2B5EF4-FFF2-40B4-BE49-F238E27FC236}">
                <a16:creationId xmlns:a16="http://schemas.microsoft.com/office/drawing/2014/main" id="{B1647461-EF5E-4DAA-99FF-D6C50BE502F0}"/>
              </a:ext>
            </a:extLst>
          </p:cNvPr>
          <p:cNvSpPr>
            <a:spLocks noGrp="1"/>
          </p:cNvSpPr>
          <p:nvPr/>
        </p:nvSpPr>
        <p:spPr>
          <a:xfrm>
            <a:off x="8991600" y="2552700"/>
            <a:ext cx="228600" cy="190500"/>
          </a:xfrm>
          <a:prstGeom prst="rightArrow">
            <a:avLst/>
          </a:prstGeom>
          <a:solidFill>
            <a:srgbClr val="20A4B7"/>
          </a:solidFill>
          <a:ln w="0">
            <a:noFill/>
            <a:prstDash val="solid"/>
          </a:ln>
        </p:spPr>
      </p:sp>
      <p:sp>
        <p:nvSpPr>
          <p:cNvPr id="31" name="Rectangle 30">
            <a:extLst>
              <a:ext uri="{FF2B5EF4-FFF2-40B4-BE49-F238E27FC236}">
                <a16:creationId xmlns:a16="http://schemas.microsoft.com/office/drawing/2014/main" id="{F2FFBF4A-C020-40C3-8DC6-131391387139}"/>
              </a:ext>
            </a:extLst>
          </p:cNvPr>
          <p:cNvSpPr>
            <a:spLocks noGrp="1"/>
          </p:cNvSpPr>
          <p:nvPr/>
        </p:nvSpPr>
        <p:spPr>
          <a:xfrm>
            <a:off x="609600" y="1409700"/>
            <a:ext cx="6572250" cy="238125"/>
          </a:xfrm>
          <a:prstGeom prst="rect">
            <a:avLst/>
          </a:prstGeom>
          <a:noFill/>
          <a:ln w="0">
            <a:noFill/>
            <a:prstDash val="solid"/>
          </a:ln>
        </p:spPr>
        <p:txBody>
          <a:bodyPr anchor="ctr"/>
          <a:lstStyle>
            <a:defPPr algn="l">
              <a:defRPr sz="1200" b="1">
                <a:solidFill>
                  <a:srgbClr val="2356A8"/>
                </a:solidFill>
              </a:defRPr>
            </a:defPPr>
            <a:lvl1pPr algn="l">
              <a:buNone/>
              <a:defRPr sz="1200" b="1">
                <a:solidFill>
                  <a:srgbClr val="2356A8"/>
                </a:solidFill>
              </a:defRPr>
            </a:lvl1pPr>
            <a:lvl2pPr algn="l">
              <a:buNone/>
              <a:defRPr sz="1200" b="1">
                <a:solidFill>
                  <a:srgbClr val="2356A8"/>
                </a:solidFill>
              </a:defRPr>
            </a:lvl2pPr>
            <a:lvl3pPr algn="l">
              <a:buNone/>
              <a:defRPr sz="1200" b="1">
                <a:solidFill>
                  <a:srgbClr val="2356A8"/>
                </a:solidFill>
              </a:defRPr>
            </a:lvl3pPr>
            <a:lvl4pPr algn="l">
              <a:buNone/>
              <a:defRPr sz="1200" b="1">
                <a:solidFill>
                  <a:srgbClr val="2356A8"/>
                </a:solidFill>
              </a:defRPr>
            </a:lvl4pPr>
            <a:lvl5pPr algn="l">
              <a:buNone/>
              <a:defRPr sz="1200" b="1">
                <a:solidFill>
                  <a:srgbClr val="2356A8"/>
                </a:solidFill>
              </a:defRPr>
            </a:lvl5pPr>
            <a:lvl6pPr algn="l">
              <a:buNone/>
              <a:defRPr sz="1200" b="1">
                <a:solidFill>
                  <a:srgbClr val="2356A8"/>
                </a:solidFill>
              </a:defRPr>
            </a:lvl6pPr>
            <a:lvl7pPr algn="l">
              <a:buNone/>
              <a:defRPr sz="1200" b="1">
                <a:solidFill>
                  <a:srgbClr val="2356A8"/>
                </a:solidFill>
              </a:defRPr>
            </a:lvl7pPr>
            <a:lvl8pPr algn="l">
              <a:buNone/>
              <a:defRPr sz="1200" b="1">
                <a:solidFill>
                  <a:srgbClr val="2356A8"/>
                </a:solidFill>
              </a:defRPr>
            </a:lvl8pPr>
            <a:lvl9pPr algn="l">
              <a:buNone/>
              <a:defRPr sz="1200" b="1">
                <a:solidFill>
                  <a:srgbClr val="2356A8"/>
                </a:solidFill>
              </a:defRPr>
            </a:lvl9pPr>
          </a:lstStyle>
          <a:p>
            <a:pPr algn="l">
              <a:buNone/>
              <a:defRPr sz="1200" b="1">
                <a:solidFill>
                  <a:srgbClr val="2356A8"/>
                </a:solidFill>
              </a:defRPr>
            </a:pPr>
            <a:r>
              <a:rPr sz="1200" b="1">
                <a:solidFill>
                  <a:srgbClr val="2356A8"/>
                </a:solidFill>
              </a:rPr>
              <a:t>Two knowledge sources are prepared before a question arrives</a:t>
            </a:r>
          </a:p>
        </p:txBody>
      </p:sp>
      <p:sp>
        <p:nvSpPr>
          <p:cNvPr id="32" name="Rectangle: Rounded Corners 31">
            <a:extLst>
              <a:ext uri="{FF2B5EF4-FFF2-40B4-BE49-F238E27FC236}">
                <a16:creationId xmlns:a16="http://schemas.microsoft.com/office/drawing/2014/main" id="{F5306EC9-44A7-44F6-B9B1-209AE43FB98C}"/>
              </a:ext>
            </a:extLst>
          </p:cNvPr>
          <p:cNvSpPr>
            <a:spLocks noGrp="1"/>
          </p:cNvSpPr>
          <p:nvPr/>
        </p:nvSpPr>
        <p:spPr>
          <a:xfrm>
            <a:off x="609600" y="3676650"/>
            <a:ext cx="4953000" cy="1466850"/>
          </a:xfrm>
          <a:prstGeom prst="roundRect">
            <a:avLst>
              <a:gd name="adj" fmla="val 5195"/>
            </a:avLst>
          </a:prstGeom>
          <a:solidFill>
            <a:srgbClr val="EAF1FA"/>
          </a:solidFill>
          <a:ln w="0">
            <a:noFill/>
            <a:prstDash val="solid"/>
          </a:ln>
        </p:spPr>
      </p:sp>
      <p:sp>
        <p:nvSpPr>
          <p:cNvPr id="33" name="Rectangle 32">
            <a:extLst>
              <a:ext uri="{FF2B5EF4-FFF2-40B4-BE49-F238E27FC236}">
                <a16:creationId xmlns:a16="http://schemas.microsoft.com/office/drawing/2014/main" id="{DDA6D628-7807-4879-910E-E14B9922F3ED}"/>
              </a:ext>
            </a:extLst>
          </p:cNvPr>
          <p:cNvSpPr>
            <a:spLocks noGrp="1"/>
          </p:cNvSpPr>
          <p:nvPr/>
        </p:nvSpPr>
        <p:spPr>
          <a:xfrm>
            <a:off x="800100" y="3819525"/>
            <a:ext cx="1905000" cy="238125"/>
          </a:xfrm>
          <a:prstGeom prst="rect">
            <a:avLst/>
          </a:prstGeom>
          <a:noFill/>
          <a:ln w="0">
            <a:noFill/>
            <a:prstDash val="solid"/>
          </a:ln>
        </p:spPr>
        <p:txBody>
          <a:bodyPr anchor="ctr"/>
          <a:lstStyle>
            <a:defPPr algn="l">
              <a:defRPr sz="1350" b="1">
                <a:solidFill>
                  <a:srgbClr val="14233F"/>
                </a:solidFill>
              </a:defRPr>
            </a:defPPr>
            <a:lvl1pPr algn="l">
              <a:buNone/>
              <a:defRPr sz="1350" b="1">
                <a:solidFill>
                  <a:srgbClr val="14233F"/>
                </a:solidFill>
              </a:defRPr>
            </a:lvl1pPr>
            <a:lvl2pPr algn="l">
              <a:buNone/>
              <a:defRPr sz="1350" b="1">
                <a:solidFill>
                  <a:srgbClr val="14233F"/>
                </a:solidFill>
              </a:defRPr>
            </a:lvl2pPr>
            <a:lvl3pPr algn="l">
              <a:buNone/>
              <a:defRPr sz="1350" b="1">
                <a:solidFill>
                  <a:srgbClr val="14233F"/>
                </a:solidFill>
              </a:defRPr>
            </a:lvl3pPr>
            <a:lvl4pPr algn="l">
              <a:buNone/>
              <a:defRPr sz="1350" b="1">
                <a:solidFill>
                  <a:srgbClr val="14233F"/>
                </a:solidFill>
              </a:defRPr>
            </a:lvl4pPr>
            <a:lvl5pPr algn="l">
              <a:buNone/>
              <a:defRPr sz="1350" b="1">
                <a:solidFill>
                  <a:srgbClr val="14233F"/>
                </a:solidFill>
              </a:defRPr>
            </a:lvl5pPr>
            <a:lvl6pPr algn="l">
              <a:buNone/>
              <a:defRPr sz="1350" b="1">
                <a:solidFill>
                  <a:srgbClr val="14233F"/>
                </a:solidFill>
              </a:defRPr>
            </a:lvl6pPr>
            <a:lvl7pPr algn="l">
              <a:buNone/>
              <a:defRPr sz="1350" b="1">
                <a:solidFill>
                  <a:srgbClr val="14233F"/>
                </a:solidFill>
              </a:defRPr>
            </a:lvl7pPr>
            <a:lvl8pPr algn="l">
              <a:buNone/>
              <a:defRPr sz="1350" b="1">
                <a:solidFill>
                  <a:srgbClr val="14233F"/>
                </a:solidFill>
              </a:defRPr>
            </a:lvl8pPr>
            <a:lvl9pPr algn="l">
              <a:buNone/>
              <a:defRPr sz="1350" b="1">
                <a:solidFill>
                  <a:srgbClr val="14233F"/>
                </a:solidFill>
              </a:defRPr>
            </a:lvl9pPr>
          </a:lstStyle>
          <a:p>
            <a:pPr algn="l">
              <a:buNone/>
              <a:defRPr sz="1350" b="1">
                <a:solidFill>
                  <a:srgbClr val="14233F"/>
                </a:solidFill>
              </a:defRPr>
            </a:pPr>
            <a:r>
              <a:rPr sz="1350" b="1">
                <a:solidFill>
                  <a:srgbClr val="14233F"/>
                </a:solidFill>
              </a:rPr>
              <a:t>Document path</a:t>
            </a:r>
          </a:p>
        </p:txBody>
      </p:sp>
      <p:sp>
        <p:nvSpPr>
          <p:cNvPr id="34" name="Rectangle 33">
            <a:extLst>
              <a:ext uri="{FF2B5EF4-FFF2-40B4-BE49-F238E27FC236}">
                <a16:creationId xmlns:a16="http://schemas.microsoft.com/office/drawing/2014/main" id="{307A830B-998C-4C70-8C65-DD672B49A884}"/>
              </a:ext>
            </a:extLst>
          </p:cNvPr>
          <p:cNvSpPr>
            <a:spLocks noGrp="1"/>
          </p:cNvSpPr>
          <p:nvPr/>
        </p:nvSpPr>
        <p:spPr>
          <a:xfrm>
            <a:off x="800100" y="4191000"/>
            <a:ext cx="4381500" cy="51435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Corpus → chunking / IDs → BGE embeddings → vector index</a:t>
            </a:r>
          </a:p>
        </p:txBody>
      </p:sp>
      <p:sp>
        <p:nvSpPr>
          <p:cNvPr id="35" name="Rectangle: Rounded Corners 34">
            <a:extLst>
              <a:ext uri="{FF2B5EF4-FFF2-40B4-BE49-F238E27FC236}">
                <a16:creationId xmlns:a16="http://schemas.microsoft.com/office/drawing/2014/main" id="{929ABDFF-6242-45FA-92EB-2DBC699E30A6}"/>
              </a:ext>
            </a:extLst>
          </p:cNvPr>
          <p:cNvSpPr>
            <a:spLocks noGrp="1"/>
          </p:cNvSpPr>
          <p:nvPr/>
        </p:nvSpPr>
        <p:spPr>
          <a:xfrm>
            <a:off x="5867400" y="3676650"/>
            <a:ext cx="5676900" cy="1466850"/>
          </a:xfrm>
          <a:prstGeom prst="roundRect">
            <a:avLst>
              <a:gd name="adj" fmla="val 5195"/>
            </a:avLst>
          </a:prstGeom>
          <a:solidFill>
            <a:srgbClr val="E7F4F3"/>
          </a:solidFill>
          <a:ln w="0">
            <a:noFill/>
            <a:prstDash val="solid"/>
          </a:ln>
        </p:spPr>
      </p:sp>
      <p:sp>
        <p:nvSpPr>
          <p:cNvPr id="36" name="Rectangle 35">
            <a:extLst>
              <a:ext uri="{FF2B5EF4-FFF2-40B4-BE49-F238E27FC236}">
                <a16:creationId xmlns:a16="http://schemas.microsoft.com/office/drawing/2014/main" id="{69AB47E7-AFBE-4051-A430-F63C21E925AF}"/>
              </a:ext>
            </a:extLst>
          </p:cNvPr>
          <p:cNvSpPr>
            <a:spLocks noGrp="1"/>
          </p:cNvSpPr>
          <p:nvPr/>
        </p:nvSpPr>
        <p:spPr>
          <a:xfrm>
            <a:off x="6057900" y="3819525"/>
            <a:ext cx="1905000" cy="238125"/>
          </a:xfrm>
          <a:prstGeom prst="rect">
            <a:avLst/>
          </a:prstGeom>
          <a:noFill/>
          <a:ln w="0">
            <a:noFill/>
            <a:prstDash val="solid"/>
          </a:ln>
        </p:spPr>
        <p:txBody>
          <a:bodyPr anchor="ctr"/>
          <a:lstStyle>
            <a:defPPr algn="l">
              <a:defRPr sz="1350" b="1">
                <a:solidFill>
                  <a:srgbClr val="14233F"/>
                </a:solidFill>
              </a:defRPr>
            </a:defPPr>
            <a:lvl1pPr algn="l">
              <a:buNone/>
              <a:defRPr sz="1350" b="1">
                <a:solidFill>
                  <a:srgbClr val="14233F"/>
                </a:solidFill>
              </a:defRPr>
            </a:lvl1pPr>
            <a:lvl2pPr algn="l">
              <a:buNone/>
              <a:defRPr sz="1350" b="1">
                <a:solidFill>
                  <a:srgbClr val="14233F"/>
                </a:solidFill>
              </a:defRPr>
            </a:lvl2pPr>
            <a:lvl3pPr algn="l">
              <a:buNone/>
              <a:defRPr sz="1350" b="1">
                <a:solidFill>
                  <a:srgbClr val="14233F"/>
                </a:solidFill>
              </a:defRPr>
            </a:lvl3pPr>
            <a:lvl4pPr algn="l">
              <a:buNone/>
              <a:defRPr sz="1350" b="1">
                <a:solidFill>
                  <a:srgbClr val="14233F"/>
                </a:solidFill>
              </a:defRPr>
            </a:lvl4pPr>
            <a:lvl5pPr algn="l">
              <a:buNone/>
              <a:defRPr sz="1350" b="1">
                <a:solidFill>
                  <a:srgbClr val="14233F"/>
                </a:solidFill>
              </a:defRPr>
            </a:lvl5pPr>
            <a:lvl6pPr algn="l">
              <a:buNone/>
              <a:defRPr sz="1350" b="1">
                <a:solidFill>
                  <a:srgbClr val="14233F"/>
                </a:solidFill>
              </a:defRPr>
            </a:lvl6pPr>
            <a:lvl7pPr algn="l">
              <a:buNone/>
              <a:defRPr sz="1350" b="1">
                <a:solidFill>
                  <a:srgbClr val="14233F"/>
                </a:solidFill>
              </a:defRPr>
            </a:lvl7pPr>
            <a:lvl8pPr algn="l">
              <a:buNone/>
              <a:defRPr sz="1350" b="1">
                <a:solidFill>
                  <a:srgbClr val="14233F"/>
                </a:solidFill>
              </a:defRPr>
            </a:lvl8pPr>
            <a:lvl9pPr algn="l">
              <a:buNone/>
              <a:defRPr sz="1350" b="1">
                <a:solidFill>
                  <a:srgbClr val="14233F"/>
                </a:solidFill>
              </a:defRPr>
            </a:lvl9pPr>
          </a:lstStyle>
          <a:p>
            <a:pPr algn="l">
              <a:buNone/>
              <a:defRPr sz="1350" b="1">
                <a:solidFill>
                  <a:srgbClr val="14233F"/>
                </a:solidFill>
              </a:defRPr>
            </a:pPr>
            <a:r>
              <a:rPr sz="1350" b="1">
                <a:solidFill>
                  <a:srgbClr val="14233F"/>
                </a:solidFill>
              </a:rPr>
              <a:t>Graph path</a:t>
            </a:r>
          </a:p>
        </p:txBody>
      </p:sp>
      <p:sp>
        <p:nvSpPr>
          <p:cNvPr id="37" name="Rectangle 36">
            <a:extLst>
              <a:ext uri="{FF2B5EF4-FFF2-40B4-BE49-F238E27FC236}">
                <a16:creationId xmlns:a16="http://schemas.microsoft.com/office/drawing/2014/main" id="{AE13823D-18A6-48D3-816C-81EBD95FAB11}"/>
              </a:ext>
            </a:extLst>
          </p:cNvPr>
          <p:cNvSpPr>
            <a:spLocks noGrp="1"/>
          </p:cNvSpPr>
          <p:nvPr/>
        </p:nvSpPr>
        <p:spPr>
          <a:xfrm>
            <a:off x="6057900" y="4191000"/>
            <a:ext cx="5143500" cy="51435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Source facts → extract → verify → merge entities → NetworkX graph</a:t>
            </a:r>
          </a:p>
        </p:txBody>
      </p:sp>
      <p:sp>
        <p:nvSpPr>
          <p:cNvPr id="38" name="Rectangle 37">
            <a:extLst>
              <a:ext uri="{FF2B5EF4-FFF2-40B4-BE49-F238E27FC236}">
                <a16:creationId xmlns:a16="http://schemas.microsoft.com/office/drawing/2014/main" id="{1BABA0AB-4C4D-4F30-9956-18B7AFF8177A}"/>
              </a:ext>
            </a:extLst>
          </p:cNvPr>
          <p:cNvSpPr>
            <a:spLocks noGrp="1"/>
          </p:cNvSpPr>
          <p:nvPr/>
        </p:nvSpPr>
        <p:spPr>
          <a:xfrm>
            <a:off x="609600" y="5438775"/>
            <a:ext cx="10972800" cy="9525"/>
          </a:xfrm>
          <a:prstGeom prst="rect">
            <a:avLst/>
          </a:prstGeom>
          <a:solidFill>
            <a:srgbClr val="D7E0EC"/>
          </a:solidFill>
          <a:ln w="0">
            <a:noFill/>
            <a:prstDash val="solid"/>
          </a:ln>
        </p:spPr>
      </p:sp>
      <p:sp>
        <p:nvSpPr>
          <p:cNvPr id="39" name="Rectangle 38">
            <a:extLst>
              <a:ext uri="{FF2B5EF4-FFF2-40B4-BE49-F238E27FC236}">
                <a16:creationId xmlns:a16="http://schemas.microsoft.com/office/drawing/2014/main" id="{86293E4A-8363-4A02-A2F0-D001CAFA5445}"/>
              </a:ext>
            </a:extLst>
          </p:cNvPr>
          <p:cNvSpPr>
            <a:spLocks noGrp="1"/>
          </p:cNvSpPr>
          <p:nvPr/>
        </p:nvSpPr>
        <p:spPr>
          <a:xfrm>
            <a:off x="609600" y="5657850"/>
            <a:ext cx="1809750" cy="228600"/>
          </a:xfrm>
          <a:prstGeom prst="rect">
            <a:avLst/>
          </a:prstGeom>
          <a:noFill/>
          <a:ln w="0">
            <a:noFill/>
            <a:prstDash val="solid"/>
          </a:ln>
        </p:spPr>
        <p:txBody>
          <a:bodyPr anchor="ctr"/>
          <a:lstStyle>
            <a:defPPr algn="l">
              <a:defRPr sz="1200" b="1">
                <a:solidFill>
                  <a:srgbClr val="168A70"/>
                </a:solidFill>
              </a:defRPr>
            </a:defPPr>
            <a:lvl1pPr algn="l">
              <a:buNone/>
              <a:defRPr sz="1200" b="1">
                <a:solidFill>
                  <a:srgbClr val="168A70"/>
                </a:solidFill>
              </a:defRPr>
            </a:lvl1pPr>
            <a:lvl2pPr algn="l">
              <a:buNone/>
              <a:defRPr sz="1200" b="1">
                <a:solidFill>
                  <a:srgbClr val="168A70"/>
                </a:solidFill>
              </a:defRPr>
            </a:lvl2pPr>
            <a:lvl3pPr algn="l">
              <a:buNone/>
              <a:defRPr sz="1200" b="1">
                <a:solidFill>
                  <a:srgbClr val="168A70"/>
                </a:solidFill>
              </a:defRPr>
            </a:lvl3pPr>
            <a:lvl4pPr algn="l">
              <a:buNone/>
              <a:defRPr sz="1200" b="1">
                <a:solidFill>
                  <a:srgbClr val="168A70"/>
                </a:solidFill>
              </a:defRPr>
            </a:lvl4pPr>
            <a:lvl5pPr algn="l">
              <a:buNone/>
              <a:defRPr sz="1200" b="1">
                <a:solidFill>
                  <a:srgbClr val="168A70"/>
                </a:solidFill>
              </a:defRPr>
            </a:lvl5pPr>
            <a:lvl6pPr algn="l">
              <a:buNone/>
              <a:defRPr sz="1200" b="1">
                <a:solidFill>
                  <a:srgbClr val="168A70"/>
                </a:solidFill>
              </a:defRPr>
            </a:lvl6pPr>
            <a:lvl7pPr algn="l">
              <a:buNone/>
              <a:defRPr sz="1200" b="1">
                <a:solidFill>
                  <a:srgbClr val="168A70"/>
                </a:solidFill>
              </a:defRPr>
            </a:lvl7pPr>
            <a:lvl8pPr algn="l">
              <a:buNone/>
              <a:defRPr sz="1200" b="1">
                <a:solidFill>
                  <a:srgbClr val="168A70"/>
                </a:solidFill>
              </a:defRPr>
            </a:lvl8pPr>
            <a:lvl9pPr algn="l">
              <a:buNone/>
              <a:defRPr sz="1200" b="1">
                <a:solidFill>
                  <a:srgbClr val="168A70"/>
                </a:solidFill>
              </a:defRPr>
            </a:lvl9pPr>
          </a:lstStyle>
          <a:p>
            <a:pPr algn="l">
              <a:buNone/>
              <a:defRPr sz="1200" b="1">
                <a:solidFill>
                  <a:srgbClr val="168A70"/>
                </a:solidFill>
              </a:defRPr>
            </a:pPr>
            <a:r>
              <a:rPr sz="1200" b="1">
                <a:solidFill>
                  <a:srgbClr val="168A70"/>
                </a:solidFill>
              </a:rPr>
              <a:t>Self-evolution loop</a:t>
            </a:r>
          </a:p>
        </p:txBody>
      </p:sp>
      <p:sp>
        <p:nvSpPr>
          <p:cNvPr id="40" name="Rectangle 39">
            <a:extLst>
              <a:ext uri="{FF2B5EF4-FFF2-40B4-BE49-F238E27FC236}">
                <a16:creationId xmlns:a16="http://schemas.microsoft.com/office/drawing/2014/main" id="{03D237F7-DFEF-4E68-AB14-ECF234960A4A}"/>
              </a:ext>
            </a:extLst>
          </p:cNvPr>
          <p:cNvSpPr>
            <a:spLocks noGrp="1"/>
          </p:cNvSpPr>
          <p:nvPr/>
        </p:nvSpPr>
        <p:spPr>
          <a:xfrm>
            <a:off x="2438400" y="5581650"/>
            <a:ext cx="8858250" cy="381000"/>
          </a:xfrm>
          <a:prstGeom prst="rect">
            <a:avLst/>
          </a:prstGeom>
          <a:noFill/>
          <a:ln w="0">
            <a:noFill/>
            <a:prstDash val="solid"/>
          </a:ln>
        </p:spPr>
        <p:txBody>
          <a:bodyPr anchor="ctr"/>
          <a:lstStyle>
            <a:defPPr algn="l">
              <a:defRPr sz="1350" b="0">
                <a:solidFill>
                  <a:srgbClr val="1D2A3B"/>
                </a:solidFill>
              </a:defRPr>
            </a:defPPr>
            <a:lvl1pPr algn="l">
              <a:buNone/>
              <a:defRPr sz="1350" b="0">
                <a:solidFill>
                  <a:srgbClr val="1D2A3B"/>
                </a:solidFill>
              </a:defRPr>
            </a:lvl1pPr>
            <a:lvl2pPr algn="l">
              <a:buNone/>
              <a:defRPr sz="1350" b="0">
                <a:solidFill>
                  <a:srgbClr val="1D2A3B"/>
                </a:solidFill>
              </a:defRPr>
            </a:lvl2pPr>
            <a:lvl3pPr algn="l">
              <a:buNone/>
              <a:defRPr sz="1350" b="0">
                <a:solidFill>
                  <a:srgbClr val="1D2A3B"/>
                </a:solidFill>
              </a:defRPr>
            </a:lvl3pPr>
            <a:lvl4pPr algn="l">
              <a:buNone/>
              <a:defRPr sz="1350" b="0">
                <a:solidFill>
                  <a:srgbClr val="1D2A3B"/>
                </a:solidFill>
              </a:defRPr>
            </a:lvl4pPr>
            <a:lvl5pPr algn="l">
              <a:buNone/>
              <a:defRPr sz="1350" b="0">
                <a:solidFill>
                  <a:srgbClr val="1D2A3B"/>
                </a:solidFill>
              </a:defRPr>
            </a:lvl5pPr>
            <a:lvl6pPr algn="l">
              <a:buNone/>
              <a:defRPr sz="1350" b="0">
                <a:solidFill>
                  <a:srgbClr val="1D2A3B"/>
                </a:solidFill>
              </a:defRPr>
            </a:lvl6pPr>
            <a:lvl7pPr algn="l">
              <a:buNone/>
              <a:defRPr sz="1350" b="0">
                <a:solidFill>
                  <a:srgbClr val="1D2A3B"/>
                </a:solidFill>
              </a:defRPr>
            </a:lvl7pPr>
            <a:lvl8pPr algn="l">
              <a:buNone/>
              <a:defRPr sz="1350" b="0">
                <a:solidFill>
                  <a:srgbClr val="1D2A3B"/>
                </a:solidFill>
              </a:defRPr>
            </a:lvl8pPr>
            <a:lvl9pPr algn="l">
              <a:buNone/>
              <a:defRPr sz="1350" b="0">
                <a:solidFill>
                  <a:srgbClr val="1D2A3B"/>
                </a:solidFill>
              </a:defRPr>
            </a:lvl9pPr>
          </a:lstStyle>
          <a:p>
            <a:pPr algn="l">
              <a:buNone/>
              <a:defRPr sz="1350" b="0">
                <a:solidFill>
                  <a:srgbClr val="1D2A3B"/>
                </a:solidFill>
              </a:defRPr>
            </a:pPr>
            <a:r>
              <a:rPr sz="1350" b="0">
                <a:solidFill>
                  <a:srgbClr val="1D2A3B"/>
                </a:solidFill>
              </a:rPr>
              <a:t>New candidate facts are confidence-checked and verified before merge; maintenance includes decay and pruning.</a:t>
            </a:r>
          </a:p>
        </p:txBody>
      </p:sp>
    </p:spTree>
    <p:extLst>
      <p:ext uri="{BB962C8B-B14F-4D97-AF65-F5344CB8AC3E}">
        <p14:creationId xmlns:p14="http://schemas.microsoft.com/office/powerpoint/2010/main" val="158130143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CFBBAEE4-30F3-4678-BB51-E47C068833E3}"/>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IMPLEMENTATION</a:t>
            </a:r>
          </a:p>
        </p:txBody>
      </p:sp>
      <p:sp>
        <p:nvSpPr>
          <p:cNvPr id="2" name="Rectangle 1">
            <a:extLst>
              <a:ext uri="{FF2B5EF4-FFF2-40B4-BE49-F238E27FC236}">
                <a16:creationId xmlns:a16="http://schemas.microsoft.com/office/drawing/2014/main" id="{D7E98619-E8DB-4DFD-95B5-76BF50D8AAED}"/>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Implementation: all nine batches are complete</a:t>
            </a:r>
          </a:p>
        </p:txBody>
      </p:sp>
      <p:sp>
        <p:nvSpPr>
          <p:cNvPr id="3" name="Rectangle 2">
            <a:extLst>
              <a:ext uri="{FF2B5EF4-FFF2-40B4-BE49-F238E27FC236}">
                <a16:creationId xmlns:a16="http://schemas.microsoft.com/office/drawing/2014/main" id="{427354BF-839F-4F59-993B-B997C817CF02}"/>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4340B660-9094-4F3B-9A0E-16C9137388DB}"/>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06</a:t>
            </a:r>
          </a:p>
        </p:txBody>
      </p:sp>
      <p:sp>
        <p:nvSpPr>
          <p:cNvPr id="7" name="Rectangle 6">
            <a:extLst>
              <a:ext uri="{FF2B5EF4-FFF2-40B4-BE49-F238E27FC236}">
                <a16:creationId xmlns:a16="http://schemas.microsoft.com/office/drawing/2014/main" id="{C1091AFA-3968-492E-8C5B-95A0AA5F59B7}"/>
              </a:ext>
            </a:extLst>
          </p:cNvPr>
          <p:cNvSpPr>
            <a:spLocks noGrp="1"/>
          </p:cNvSpPr>
          <p:nvPr/>
        </p:nvSpPr>
        <p:spPr>
          <a:xfrm>
            <a:off x="609600" y="1381125"/>
            <a:ext cx="7239000" cy="333375"/>
          </a:xfrm>
          <a:prstGeom prst="rect">
            <a:avLst/>
          </a:prstGeom>
          <a:noFill/>
          <a:ln w="0">
            <a:noFill/>
            <a:prstDash val="solid"/>
          </a:ln>
        </p:spPr>
        <p:txBody>
          <a:bodyPr anchor="ctr"/>
          <a:lstStyle>
            <a:defPPr algn="l">
              <a:defRPr sz="1800" b="1">
                <a:solidFill>
                  <a:srgbClr val="168A70"/>
                </a:solidFill>
              </a:defRPr>
            </a:defPPr>
            <a:lvl1pPr algn="l">
              <a:buNone/>
              <a:defRPr sz="1800" b="1">
                <a:solidFill>
                  <a:srgbClr val="168A70"/>
                </a:solidFill>
              </a:defRPr>
            </a:lvl1pPr>
            <a:lvl2pPr algn="l">
              <a:buNone/>
              <a:defRPr sz="1800" b="1">
                <a:solidFill>
                  <a:srgbClr val="168A70"/>
                </a:solidFill>
              </a:defRPr>
            </a:lvl2pPr>
            <a:lvl3pPr algn="l">
              <a:buNone/>
              <a:defRPr sz="1800" b="1">
                <a:solidFill>
                  <a:srgbClr val="168A70"/>
                </a:solidFill>
              </a:defRPr>
            </a:lvl3pPr>
            <a:lvl4pPr algn="l">
              <a:buNone/>
              <a:defRPr sz="1800" b="1">
                <a:solidFill>
                  <a:srgbClr val="168A70"/>
                </a:solidFill>
              </a:defRPr>
            </a:lvl4pPr>
            <a:lvl5pPr algn="l">
              <a:buNone/>
              <a:defRPr sz="1800" b="1">
                <a:solidFill>
                  <a:srgbClr val="168A70"/>
                </a:solidFill>
              </a:defRPr>
            </a:lvl5pPr>
            <a:lvl6pPr algn="l">
              <a:buNone/>
              <a:defRPr sz="1800" b="1">
                <a:solidFill>
                  <a:srgbClr val="168A70"/>
                </a:solidFill>
              </a:defRPr>
            </a:lvl6pPr>
            <a:lvl7pPr algn="l">
              <a:buNone/>
              <a:defRPr sz="1800" b="1">
                <a:solidFill>
                  <a:srgbClr val="168A70"/>
                </a:solidFill>
              </a:defRPr>
            </a:lvl7pPr>
            <a:lvl8pPr algn="l">
              <a:buNone/>
              <a:defRPr sz="1800" b="1">
                <a:solidFill>
                  <a:srgbClr val="168A70"/>
                </a:solidFill>
              </a:defRPr>
            </a:lvl8pPr>
            <a:lvl9pPr algn="l">
              <a:buNone/>
              <a:defRPr sz="1800" b="1">
                <a:solidFill>
                  <a:srgbClr val="168A70"/>
                </a:solidFill>
              </a:defRPr>
            </a:lvl9pPr>
          </a:lstStyle>
          <a:p>
            <a:pPr algn="l">
              <a:buNone/>
              <a:defRPr sz="1800" b="1">
                <a:solidFill>
                  <a:srgbClr val="168A70"/>
                </a:solidFill>
              </a:defRPr>
            </a:pPr>
            <a:r>
              <a:rPr sz="1800" b="1">
                <a:solidFill>
                  <a:srgbClr val="168A70"/>
                </a:solidFill>
              </a:rPr>
              <a:t>Project status: all nine batches completed</a:t>
            </a:r>
          </a:p>
        </p:txBody>
      </p:sp>
      <p:sp>
        <p:nvSpPr>
          <p:cNvPr id="8" name="Rectangle: Rounded Corners 7">
            <a:extLst>
              <a:ext uri="{FF2B5EF4-FFF2-40B4-BE49-F238E27FC236}">
                <a16:creationId xmlns:a16="http://schemas.microsoft.com/office/drawing/2014/main" id="{51A5C65A-A57E-452D-87A2-53EB4A9DE29C}"/>
              </a:ext>
            </a:extLst>
          </p:cNvPr>
          <p:cNvSpPr>
            <a:spLocks noGrp="1"/>
          </p:cNvSpPr>
          <p:nvPr/>
        </p:nvSpPr>
        <p:spPr>
          <a:xfrm>
            <a:off x="609600" y="2009775"/>
            <a:ext cx="2000250" cy="781050"/>
          </a:xfrm>
          <a:prstGeom prst="roundRect">
            <a:avLst>
              <a:gd name="adj" fmla="val 9756"/>
            </a:avLst>
          </a:prstGeom>
          <a:solidFill>
            <a:srgbClr val="FFFFFF"/>
          </a:solidFill>
          <a:ln w="9525">
            <a:solidFill>
              <a:srgbClr val="D7E0EC"/>
            </a:solidFill>
            <a:prstDash val="solid"/>
          </a:ln>
        </p:spPr>
      </p:sp>
      <p:sp>
        <p:nvSpPr>
          <p:cNvPr id="9" name="Oval 8">
            <a:extLst>
              <a:ext uri="{FF2B5EF4-FFF2-40B4-BE49-F238E27FC236}">
                <a16:creationId xmlns:a16="http://schemas.microsoft.com/office/drawing/2014/main" id="{FB1C710F-35B6-49E9-9BB3-4E525349EEEE}"/>
              </a:ext>
            </a:extLst>
          </p:cNvPr>
          <p:cNvSpPr>
            <a:spLocks noGrp="1"/>
          </p:cNvSpPr>
          <p:nvPr/>
        </p:nvSpPr>
        <p:spPr>
          <a:xfrm>
            <a:off x="733425" y="2190750"/>
            <a:ext cx="381000" cy="381000"/>
          </a:xfrm>
          <a:prstGeom prst="ellipse">
            <a:avLst/>
          </a:prstGeom>
          <a:solidFill>
            <a:srgbClr val="168A70"/>
          </a:solidFill>
          <a:ln w="0">
            <a:noFill/>
            <a:prstDash val="solid"/>
          </a:ln>
        </p:spPr>
      </p:sp>
      <p:sp>
        <p:nvSpPr>
          <p:cNvPr id="10" name="Rectangle 9">
            <a:extLst>
              <a:ext uri="{FF2B5EF4-FFF2-40B4-BE49-F238E27FC236}">
                <a16:creationId xmlns:a16="http://schemas.microsoft.com/office/drawing/2014/main" id="{6B7C4111-925E-41C6-8184-850CC6435760}"/>
              </a:ext>
            </a:extLst>
          </p:cNvPr>
          <p:cNvSpPr>
            <a:spLocks noGrp="1"/>
          </p:cNvSpPr>
          <p:nvPr/>
        </p:nvSpPr>
        <p:spPr>
          <a:xfrm>
            <a:off x="733425" y="2190750"/>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1</a:t>
            </a:r>
          </a:p>
        </p:txBody>
      </p:sp>
      <p:sp>
        <p:nvSpPr>
          <p:cNvPr id="11" name="Rectangle 10">
            <a:extLst>
              <a:ext uri="{FF2B5EF4-FFF2-40B4-BE49-F238E27FC236}">
                <a16:creationId xmlns:a16="http://schemas.microsoft.com/office/drawing/2014/main" id="{C24D2985-8B77-4CA6-A00A-CC9949A4AEF5}"/>
              </a:ext>
            </a:extLst>
          </p:cNvPr>
          <p:cNvSpPr>
            <a:spLocks noGrp="1"/>
          </p:cNvSpPr>
          <p:nvPr/>
        </p:nvSpPr>
        <p:spPr>
          <a:xfrm>
            <a:off x="1228725" y="2200275"/>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Foundation</a:t>
            </a:r>
          </a:p>
        </p:txBody>
      </p:sp>
      <p:sp>
        <p:nvSpPr>
          <p:cNvPr id="12" name="Rectangle 11">
            <a:extLst>
              <a:ext uri="{FF2B5EF4-FFF2-40B4-BE49-F238E27FC236}">
                <a16:creationId xmlns:a16="http://schemas.microsoft.com/office/drawing/2014/main" id="{558B4A49-432E-4DF3-88AF-8A50B72C8712}"/>
              </a:ext>
            </a:extLst>
          </p:cNvPr>
          <p:cNvSpPr>
            <a:spLocks noGrp="1"/>
          </p:cNvSpPr>
          <p:nvPr/>
        </p:nvSpPr>
        <p:spPr>
          <a:xfrm>
            <a:off x="1228725" y="2495550"/>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13" name="Rectangle: Rounded Corners 12">
            <a:extLst>
              <a:ext uri="{FF2B5EF4-FFF2-40B4-BE49-F238E27FC236}">
                <a16:creationId xmlns:a16="http://schemas.microsoft.com/office/drawing/2014/main" id="{5E3C67B5-DCC0-4CD3-92B5-DB045A5890DB}"/>
              </a:ext>
            </a:extLst>
          </p:cNvPr>
          <p:cNvSpPr>
            <a:spLocks noGrp="1"/>
          </p:cNvSpPr>
          <p:nvPr/>
        </p:nvSpPr>
        <p:spPr>
          <a:xfrm>
            <a:off x="2790825" y="2009775"/>
            <a:ext cx="2000250" cy="781050"/>
          </a:xfrm>
          <a:prstGeom prst="roundRect">
            <a:avLst>
              <a:gd name="adj" fmla="val 9756"/>
            </a:avLst>
          </a:prstGeom>
          <a:solidFill>
            <a:srgbClr val="FFFFFF"/>
          </a:solidFill>
          <a:ln w="9525">
            <a:solidFill>
              <a:srgbClr val="D7E0EC"/>
            </a:solidFill>
            <a:prstDash val="solid"/>
          </a:ln>
        </p:spPr>
      </p:sp>
      <p:sp>
        <p:nvSpPr>
          <p:cNvPr id="14" name="Oval 13">
            <a:extLst>
              <a:ext uri="{FF2B5EF4-FFF2-40B4-BE49-F238E27FC236}">
                <a16:creationId xmlns:a16="http://schemas.microsoft.com/office/drawing/2014/main" id="{27DFF545-B1EE-40EA-8593-A54665775BFA}"/>
              </a:ext>
            </a:extLst>
          </p:cNvPr>
          <p:cNvSpPr>
            <a:spLocks noGrp="1"/>
          </p:cNvSpPr>
          <p:nvPr/>
        </p:nvSpPr>
        <p:spPr>
          <a:xfrm>
            <a:off x="2914650" y="2190750"/>
            <a:ext cx="381000" cy="381000"/>
          </a:xfrm>
          <a:prstGeom prst="ellipse">
            <a:avLst/>
          </a:prstGeom>
          <a:solidFill>
            <a:srgbClr val="168A70"/>
          </a:solidFill>
          <a:ln w="0">
            <a:noFill/>
            <a:prstDash val="solid"/>
          </a:ln>
        </p:spPr>
      </p:sp>
      <p:sp>
        <p:nvSpPr>
          <p:cNvPr id="15" name="Rectangle 14">
            <a:extLst>
              <a:ext uri="{FF2B5EF4-FFF2-40B4-BE49-F238E27FC236}">
                <a16:creationId xmlns:a16="http://schemas.microsoft.com/office/drawing/2014/main" id="{D8040DDA-27F5-4FC9-BDF6-BF1C2F6F4375}"/>
              </a:ext>
            </a:extLst>
          </p:cNvPr>
          <p:cNvSpPr>
            <a:spLocks noGrp="1"/>
          </p:cNvSpPr>
          <p:nvPr/>
        </p:nvSpPr>
        <p:spPr>
          <a:xfrm>
            <a:off x="2914650" y="2190750"/>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2</a:t>
            </a:r>
          </a:p>
        </p:txBody>
      </p:sp>
      <p:sp>
        <p:nvSpPr>
          <p:cNvPr id="16" name="Rectangle 15">
            <a:extLst>
              <a:ext uri="{FF2B5EF4-FFF2-40B4-BE49-F238E27FC236}">
                <a16:creationId xmlns:a16="http://schemas.microsoft.com/office/drawing/2014/main" id="{2AA389CA-4F89-4E2D-A03E-365E1C1DB813}"/>
              </a:ext>
            </a:extLst>
          </p:cNvPr>
          <p:cNvSpPr>
            <a:spLocks noGrp="1"/>
          </p:cNvSpPr>
          <p:nvPr/>
        </p:nvSpPr>
        <p:spPr>
          <a:xfrm>
            <a:off x="3409950" y="2200275"/>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KG construction</a:t>
            </a:r>
          </a:p>
        </p:txBody>
      </p:sp>
      <p:sp>
        <p:nvSpPr>
          <p:cNvPr id="17" name="Rectangle 16">
            <a:extLst>
              <a:ext uri="{FF2B5EF4-FFF2-40B4-BE49-F238E27FC236}">
                <a16:creationId xmlns:a16="http://schemas.microsoft.com/office/drawing/2014/main" id="{B927B3C7-6C07-43C8-BF74-3C4749CCD430}"/>
              </a:ext>
            </a:extLst>
          </p:cNvPr>
          <p:cNvSpPr>
            <a:spLocks noGrp="1"/>
          </p:cNvSpPr>
          <p:nvPr/>
        </p:nvSpPr>
        <p:spPr>
          <a:xfrm>
            <a:off x="3409950" y="2495550"/>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18" name="Rectangle: Rounded Corners 17">
            <a:extLst>
              <a:ext uri="{FF2B5EF4-FFF2-40B4-BE49-F238E27FC236}">
                <a16:creationId xmlns:a16="http://schemas.microsoft.com/office/drawing/2014/main" id="{494FA3B8-6027-4872-9C5C-814FED76CF07}"/>
              </a:ext>
            </a:extLst>
          </p:cNvPr>
          <p:cNvSpPr>
            <a:spLocks noGrp="1"/>
          </p:cNvSpPr>
          <p:nvPr/>
        </p:nvSpPr>
        <p:spPr>
          <a:xfrm>
            <a:off x="4972050" y="2009775"/>
            <a:ext cx="2000250" cy="781050"/>
          </a:xfrm>
          <a:prstGeom prst="roundRect">
            <a:avLst>
              <a:gd name="adj" fmla="val 9756"/>
            </a:avLst>
          </a:prstGeom>
          <a:solidFill>
            <a:srgbClr val="FFFFFF"/>
          </a:solidFill>
          <a:ln w="9525">
            <a:solidFill>
              <a:srgbClr val="D7E0EC"/>
            </a:solidFill>
            <a:prstDash val="solid"/>
          </a:ln>
        </p:spPr>
      </p:sp>
      <p:sp>
        <p:nvSpPr>
          <p:cNvPr id="19" name="Oval 18">
            <a:extLst>
              <a:ext uri="{FF2B5EF4-FFF2-40B4-BE49-F238E27FC236}">
                <a16:creationId xmlns:a16="http://schemas.microsoft.com/office/drawing/2014/main" id="{5F1ED75D-6485-416A-A939-4577DC193604}"/>
              </a:ext>
            </a:extLst>
          </p:cNvPr>
          <p:cNvSpPr>
            <a:spLocks noGrp="1"/>
          </p:cNvSpPr>
          <p:nvPr/>
        </p:nvSpPr>
        <p:spPr>
          <a:xfrm>
            <a:off x="5095875" y="2190750"/>
            <a:ext cx="381000" cy="381000"/>
          </a:xfrm>
          <a:prstGeom prst="ellipse">
            <a:avLst/>
          </a:prstGeom>
          <a:solidFill>
            <a:srgbClr val="168A70"/>
          </a:solidFill>
          <a:ln w="0">
            <a:noFill/>
            <a:prstDash val="solid"/>
          </a:ln>
        </p:spPr>
      </p:sp>
      <p:sp>
        <p:nvSpPr>
          <p:cNvPr id="20" name="Rectangle 19">
            <a:extLst>
              <a:ext uri="{FF2B5EF4-FFF2-40B4-BE49-F238E27FC236}">
                <a16:creationId xmlns:a16="http://schemas.microsoft.com/office/drawing/2014/main" id="{FCC18E7A-27A0-4B61-B9F4-930D51EC13B8}"/>
              </a:ext>
            </a:extLst>
          </p:cNvPr>
          <p:cNvSpPr>
            <a:spLocks noGrp="1"/>
          </p:cNvSpPr>
          <p:nvPr/>
        </p:nvSpPr>
        <p:spPr>
          <a:xfrm>
            <a:off x="5095875" y="2190750"/>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3</a:t>
            </a:r>
          </a:p>
        </p:txBody>
      </p:sp>
      <p:sp>
        <p:nvSpPr>
          <p:cNvPr id="21" name="Rectangle 20">
            <a:extLst>
              <a:ext uri="{FF2B5EF4-FFF2-40B4-BE49-F238E27FC236}">
                <a16:creationId xmlns:a16="http://schemas.microsoft.com/office/drawing/2014/main" id="{F8D7583D-3358-4EB3-A843-1F5CCB3058F0}"/>
              </a:ext>
            </a:extLst>
          </p:cNvPr>
          <p:cNvSpPr>
            <a:spLocks noGrp="1"/>
          </p:cNvSpPr>
          <p:nvPr/>
        </p:nvSpPr>
        <p:spPr>
          <a:xfrm>
            <a:off x="5591175" y="2200275"/>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Retrieval</a:t>
            </a:r>
          </a:p>
        </p:txBody>
      </p:sp>
      <p:sp>
        <p:nvSpPr>
          <p:cNvPr id="22" name="Rectangle 21">
            <a:extLst>
              <a:ext uri="{FF2B5EF4-FFF2-40B4-BE49-F238E27FC236}">
                <a16:creationId xmlns:a16="http://schemas.microsoft.com/office/drawing/2014/main" id="{9016D009-25F3-4903-B42B-DA9CBD5CF7AB}"/>
              </a:ext>
            </a:extLst>
          </p:cNvPr>
          <p:cNvSpPr>
            <a:spLocks noGrp="1"/>
          </p:cNvSpPr>
          <p:nvPr/>
        </p:nvSpPr>
        <p:spPr>
          <a:xfrm>
            <a:off x="5591175" y="2495550"/>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23" name="Rectangle: Rounded Corners 22">
            <a:extLst>
              <a:ext uri="{FF2B5EF4-FFF2-40B4-BE49-F238E27FC236}">
                <a16:creationId xmlns:a16="http://schemas.microsoft.com/office/drawing/2014/main" id="{204DDC13-504A-47CE-B414-BA6A76F05858}"/>
              </a:ext>
            </a:extLst>
          </p:cNvPr>
          <p:cNvSpPr>
            <a:spLocks noGrp="1"/>
          </p:cNvSpPr>
          <p:nvPr/>
        </p:nvSpPr>
        <p:spPr>
          <a:xfrm>
            <a:off x="7153275" y="2009775"/>
            <a:ext cx="2000250" cy="781050"/>
          </a:xfrm>
          <a:prstGeom prst="roundRect">
            <a:avLst>
              <a:gd name="adj" fmla="val 9756"/>
            </a:avLst>
          </a:prstGeom>
          <a:solidFill>
            <a:srgbClr val="FFFFFF"/>
          </a:solidFill>
          <a:ln w="9525">
            <a:solidFill>
              <a:srgbClr val="D7E0EC"/>
            </a:solidFill>
            <a:prstDash val="solid"/>
          </a:ln>
        </p:spPr>
      </p:sp>
      <p:sp>
        <p:nvSpPr>
          <p:cNvPr id="24" name="Oval 23">
            <a:extLst>
              <a:ext uri="{FF2B5EF4-FFF2-40B4-BE49-F238E27FC236}">
                <a16:creationId xmlns:a16="http://schemas.microsoft.com/office/drawing/2014/main" id="{483522A2-BE76-48D4-A80A-EE37CE1961B2}"/>
              </a:ext>
            </a:extLst>
          </p:cNvPr>
          <p:cNvSpPr>
            <a:spLocks noGrp="1"/>
          </p:cNvSpPr>
          <p:nvPr/>
        </p:nvSpPr>
        <p:spPr>
          <a:xfrm>
            <a:off x="7277100" y="2190750"/>
            <a:ext cx="381000" cy="381000"/>
          </a:xfrm>
          <a:prstGeom prst="ellipse">
            <a:avLst/>
          </a:prstGeom>
          <a:solidFill>
            <a:srgbClr val="168A70"/>
          </a:solidFill>
          <a:ln w="0">
            <a:noFill/>
            <a:prstDash val="solid"/>
          </a:ln>
        </p:spPr>
      </p:sp>
      <p:sp>
        <p:nvSpPr>
          <p:cNvPr id="25" name="Rectangle 24">
            <a:extLst>
              <a:ext uri="{FF2B5EF4-FFF2-40B4-BE49-F238E27FC236}">
                <a16:creationId xmlns:a16="http://schemas.microsoft.com/office/drawing/2014/main" id="{CC654BBA-7AC0-45AF-A45C-168625EFD0BA}"/>
              </a:ext>
            </a:extLst>
          </p:cNvPr>
          <p:cNvSpPr>
            <a:spLocks noGrp="1"/>
          </p:cNvSpPr>
          <p:nvPr/>
        </p:nvSpPr>
        <p:spPr>
          <a:xfrm>
            <a:off x="7277100" y="2190750"/>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4</a:t>
            </a:r>
          </a:p>
        </p:txBody>
      </p:sp>
      <p:sp>
        <p:nvSpPr>
          <p:cNvPr id="26" name="Rectangle 25">
            <a:extLst>
              <a:ext uri="{FF2B5EF4-FFF2-40B4-BE49-F238E27FC236}">
                <a16:creationId xmlns:a16="http://schemas.microsoft.com/office/drawing/2014/main" id="{C49D788E-0477-4B9E-A179-30C19B9B3A52}"/>
              </a:ext>
            </a:extLst>
          </p:cNvPr>
          <p:cNvSpPr>
            <a:spLocks noGrp="1"/>
          </p:cNvSpPr>
          <p:nvPr/>
        </p:nvSpPr>
        <p:spPr>
          <a:xfrm>
            <a:off x="7772400" y="2200275"/>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QA + routing</a:t>
            </a:r>
          </a:p>
        </p:txBody>
      </p:sp>
      <p:sp>
        <p:nvSpPr>
          <p:cNvPr id="27" name="Rectangle 26">
            <a:extLst>
              <a:ext uri="{FF2B5EF4-FFF2-40B4-BE49-F238E27FC236}">
                <a16:creationId xmlns:a16="http://schemas.microsoft.com/office/drawing/2014/main" id="{A464DFD4-A11C-4E8E-85D2-CB217971B468}"/>
              </a:ext>
            </a:extLst>
          </p:cNvPr>
          <p:cNvSpPr>
            <a:spLocks noGrp="1"/>
          </p:cNvSpPr>
          <p:nvPr/>
        </p:nvSpPr>
        <p:spPr>
          <a:xfrm>
            <a:off x="7772400" y="2495550"/>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28" name="Rectangle: Rounded Corners 27">
            <a:extLst>
              <a:ext uri="{FF2B5EF4-FFF2-40B4-BE49-F238E27FC236}">
                <a16:creationId xmlns:a16="http://schemas.microsoft.com/office/drawing/2014/main" id="{F6705955-8312-47FB-9860-11E6211C36F2}"/>
              </a:ext>
            </a:extLst>
          </p:cNvPr>
          <p:cNvSpPr>
            <a:spLocks noGrp="1"/>
          </p:cNvSpPr>
          <p:nvPr/>
        </p:nvSpPr>
        <p:spPr>
          <a:xfrm>
            <a:off x="9334500" y="2009775"/>
            <a:ext cx="2000250" cy="781050"/>
          </a:xfrm>
          <a:prstGeom prst="roundRect">
            <a:avLst>
              <a:gd name="adj" fmla="val 9756"/>
            </a:avLst>
          </a:prstGeom>
          <a:solidFill>
            <a:srgbClr val="FFFFFF"/>
          </a:solidFill>
          <a:ln w="9525">
            <a:solidFill>
              <a:srgbClr val="D7E0EC"/>
            </a:solidFill>
            <a:prstDash val="solid"/>
          </a:ln>
        </p:spPr>
      </p:sp>
      <p:sp>
        <p:nvSpPr>
          <p:cNvPr id="29" name="Oval 28">
            <a:extLst>
              <a:ext uri="{FF2B5EF4-FFF2-40B4-BE49-F238E27FC236}">
                <a16:creationId xmlns:a16="http://schemas.microsoft.com/office/drawing/2014/main" id="{E6E47629-B170-47E0-9F69-8E716A033535}"/>
              </a:ext>
            </a:extLst>
          </p:cNvPr>
          <p:cNvSpPr>
            <a:spLocks noGrp="1"/>
          </p:cNvSpPr>
          <p:nvPr/>
        </p:nvSpPr>
        <p:spPr>
          <a:xfrm>
            <a:off x="9458325" y="2190750"/>
            <a:ext cx="381000" cy="381000"/>
          </a:xfrm>
          <a:prstGeom prst="ellipse">
            <a:avLst/>
          </a:prstGeom>
          <a:solidFill>
            <a:srgbClr val="168A70"/>
          </a:solidFill>
          <a:ln w="0">
            <a:noFill/>
            <a:prstDash val="solid"/>
          </a:ln>
        </p:spPr>
      </p:sp>
      <p:sp>
        <p:nvSpPr>
          <p:cNvPr id="30" name="Rectangle 29">
            <a:extLst>
              <a:ext uri="{FF2B5EF4-FFF2-40B4-BE49-F238E27FC236}">
                <a16:creationId xmlns:a16="http://schemas.microsoft.com/office/drawing/2014/main" id="{571659E3-0066-45B2-BC70-5F8C9B4F945A}"/>
              </a:ext>
            </a:extLst>
          </p:cNvPr>
          <p:cNvSpPr>
            <a:spLocks noGrp="1"/>
          </p:cNvSpPr>
          <p:nvPr/>
        </p:nvSpPr>
        <p:spPr>
          <a:xfrm>
            <a:off x="9458325" y="2190750"/>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5</a:t>
            </a:r>
          </a:p>
        </p:txBody>
      </p:sp>
      <p:sp>
        <p:nvSpPr>
          <p:cNvPr id="31" name="Rectangle 30">
            <a:extLst>
              <a:ext uri="{FF2B5EF4-FFF2-40B4-BE49-F238E27FC236}">
                <a16:creationId xmlns:a16="http://schemas.microsoft.com/office/drawing/2014/main" id="{2DFA600B-00DA-42BE-8990-9DFAE855412F}"/>
              </a:ext>
            </a:extLst>
          </p:cNvPr>
          <p:cNvSpPr>
            <a:spLocks noGrp="1"/>
          </p:cNvSpPr>
          <p:nvPr/>
        </p:nvSpPr>
        <p:spPr>
          <a:xfrm>
            <a:off x="9953625" y="2200275"/>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Self-evolution</a:t>
            </a:r>
          </a:p>
        </p:txBody>
      </p:sp>
      <p:sp>
        <p:nvSpPr>
          <p:cNvPr id="32" name="Rectangle 31">
            <a:extLst>
              <a:ext uri="{FF2B5EF4-FFF2-40B4-BE49-F238E27FC236}">
                <a16:creationId xmlns:a16="http://schemas.microsoft.com/office/drawing/2014/main" id="{C2536797-7B89-4EA0-9C2B-312A89F0E059}"/>
              </a:ext>
            </a:extLst>
          </p:cNvPr>
          <p:cNvSpPr>
            <a:spLocks noGrp="1"/>
          </p:cNvSpPr>
          <p:nvPr/>
        </p:nvSpPr>
        <p:spPr>
          <a:xfrm>
            <a:off x="9953625" y="2495550"/>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33" name="Rectangle: Rounded Corners 32">
            <a:extLst>
              <a:ext uri="{FF2B5EF4-FFF2-40B4-BE49-F238E27FC236}">
                <a16:creationId xmlns:a16="http://schemas.microsoft.com/office/drawing/2014/main" id="{C005A005-64E7-4420-BB6D-5A386853D592}"/>
              </a:ext>
            </a:extLst>
          </p:cNvPr>
          <p:cNvSpPr>
            <a:spLocks noGrp="1"/>
          </p:cNvSpPr>
          <p:nvPr/>
        </p:nvSpPr>
        <p:spPr>
          <a:xfrm>
            <a:off x="609600" y="3067050"/>
            <a:ext cx="2000250" cy="781050"/>
          </a:xfrm>
          <a:prstGeom prst="roundRect">
            <a:avLst>
              <a:gd name="adj" fmla="val 9756"/>
            </a:avLst>
          </a:prstGeom>
          <a:solidFill>
            <a:srgbClr val="FFFFFF"/>
          </a:solidFill>
          <a:ln w="9525">
            <a:solidFill>
              <a:srgbClr val="D7E0EC"/>
            </a:solidFill>
            <a:prstDash val="solid"/>
          </a:ln>
        </p:spPr>
      </p:sp>
      <p:sp>
        <p:nvSpPr>
          <p:cNvPr id="34" name="Oval 33">
            <a:extLst>
              <a:ext uri="{FF2B5EF4-FFF2-40B4-BE49-F238E27FC236}">
                <a16:creationId xmlns:a16="http://schemas.microsoft.com/office/drawing/2014/main" id="{CF6613C2-2131-482D-B4B6-7DB753FBAD3D}"/>
              </a:ext>
            </a:extLst>
          </p:cNvPr>
          <p:cNvSpPr>
            <a:spLocks noGrp="1"/>
          </p:cNvSpPr>
          <p:nvPr/>
        </p:nvSpPr>
        <p:spPr>
          <a:xfrm>
            <a:off x="733425" y="3248025"/>
            <a:ext cx="381000" cy="381000"/>
          </a:xfrm>
          <a:prstGeom prst="ellipse">
            <a:avLst/>
          </a:prstGeom>
          <a:solidFill>
            <a:srgbClr val="168A70"/>
          </a:solidFill>
          <a:ln w="0">
            <a:noFill/>
            <a:prstDash val="solid"/>
          </a:ln>
        </p:spPr>
      </p:sp>
      <p:sp>
        <p:nvSpPr>
          <p:cNvPr id="35" name="Rectangle 34">
            <a:extLst>
              <a:ext uri="{FF2B5EF4-FFF2-40B4-BE49-F238E27FC236}">
                <a16:creationId xmlns:a16="http://schemas.microsoft.com/office/drawing/2014/main" id="{7F09B2E0-8E95-4CBC-8D54-27AEC645BFA9}"/>
              </a:ext>
            </a:extLst>
          </p:cNvPr>
          <p:cNvSpPr>
            <a:spLocks noGrp="1"/>
          </p:cNvSpPr>
          <p:nvPr/>
        </p:nvSpPr>
        <p:spPr>
          <a:xfrm>
            <a:off x="733425" y="3248025"/>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6</a:t>
            </a:r>
          </a:p>
        </p:txBody>
      </p:sp>
      <p:sp>
        <p:nvSpPr>
          <p:cNvPr id="36" name="Rectangle 35">
            <a:extLst>
              <a:ext uri="{FF2B5EF4-FFF2-40B4-BE49-F238E27FC236}">
                <a16:creationId xmlns:a16="http://schemas.microsoft.com/office/drawing/2014/main" id="{647044A4-8F73-4779-931D-4436590E3E69}"/>
              </a:ext>
            </a:extLst>
          </p:cNvPr>
          <p:cNvSpPr>
            <a:spLocks noGrp="1"/>
          </p:cNvSpPr>
          <p:nvPr/>
        </p:nvSpPr>
        <p:spPr>
          <a:xfrm>
            <a:off x="1228725" y="3257550"/>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Dataset integration</a:t>
            </a:r>
          </a:p>
        </p:txBody>
      </p:sp>
      <p:sp>
        <p:nvSpPr>
          <p:cNvPr id="37" name="Rectangle 36">
            <a:extLst>
              <a:ext uri="{FF2B5EF4-FFF2-40B4-BE49-F238E27FC236}">
                <a16:creationId xmlns:a16="http://schemas.microsoft.com/office/drawing/2014/main" id="{D3C574CA-A772-42CD-9819-5E06FA917947}"/>
              </a:ext>
            </a:extLst>
          </p:cNvPr>
          <p:cNvSpPr>
            <a:spLocks noGrp="1"/>
          </p:cNvSpPr>
          <p:nvPr/>
        </p:nvSpPr>
        <p:spPr>
          <a:xfrm>
            <a:off x="1228725" y="3552825"/>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38" name="Rectangle: Rounded Corners 37">
            <a:extLst>
              <a:ext uri="{FF2B5EF4-FFF2-40B4-BE49-F238E27FC236}">
                <a16:creationId xmlns:a16="http://schemas.microsoft.com/office/drawing/2014/main" id="{34BA1336-75D1-41EE-AAE9-61C2A1DD6235}"/>
              </a:ext>
            </a:extLst>
          </p:cNvPr>
          <p:cNvSpPr>
            <a:spLocks noGrp="1"/>
          </p:cNvSpPr>
          <p:nvPr/>
        </p:nvSpPr>
        <p:spPr>
          <a:xfrm>
            <a:off x="2790825" y="3067050"/>
            <a:ext cx="2000250" cy="781050"/>
          </a:xfrm>
          <a:prstGeom prst="roundRect">
            <a:avLst>
              <a:gd name="adj" fmla="val 9756"/>
            </a:avLst>
          </a:prstGeom>
          <a:solidFill>
            <a:srgbClr val="FFFFFF"/>
          </a:solidFill>
          <a:ln w="9525">
            <a:solidFill>
              <a:srgbClr val="D7E0EC"/>
            </a:solidFill>
            <a:prstDash val="solid"/>
          </a:ln>
        </p:spPr>
      </p:sp>
      <p:sp>
        <p:nvSpPr>
          <p:cNvPr id="39" name="Oval 38">
            <a:extLst>
              <a:ext uri="{FF2B5EF4-FFF2-40B4-BE49-F238E27FC236}">
                <a16:creationId xmlns:a16="http://schemas.microsoft.com/office/drawing/2014/main" id="{8FB50EB2-6FDD-4ADB-87AD-27EFCF228AEF}"/>
              </a:ext>
            </a:extLst>
          </p:cNvPr>
          <p:cNvSpPr>
            <a:spLocks noGrp="1"/>
          </p:cNvSpPr>
          <p:nvPr/>
        </p:nvSpPr>
        <p:spPr>
          <a:xfrm>
            <a:off x="2914650" y="3248025"/>
            <a:ext cx="381000" cy="381000"/>
          </a:xfrm>
          <a:prstGeom prst="ellipse">
            <a:avLst/>
          </a:prstGeom>
          <a:solidFill>
            <a:srgbClr val="168A70"/>
          </a:solidFill>
          <a:ln w="0">
            <a:noFill/>
            <a:prstDash val="solid"/>
          </a:ln>
        </p:spPr>
      </p:sp>
      <p:sp>
        <p:nvSpPr>
          <p:cNvPr id="40" name="Rectangle 39">
            <a:extLst>
              <a:ext uri="{FF2B5EF4-FFF2-40B4-BE49-F238E27FC236}">
                <a16:creationId xmlns:a16="http://schemas.microsoft.com/office/drawing/2014/main" id="{DC780EC0-D9C7-443D-BC97-91235DDBBED8}"/>
              </a:ext>
            </a:extLst>
          </p:cNvPr>
          <p:cNvSpPr>
            <a:spLocks noGrp="1"/>
          </p:cNvSpPr>
          <p:nvPr/>
        </p:nvSpPr>
        <p:spPr>
          <a:xfrm>
            <a:off x="2914650" y="3248025"/>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7</a:t>
            </a:r>
          </a:p>
        </p:txBody>
      </p:sp>
      <p:sp>
        <p:nvSpPr>
          <p:cNvPr id="41" name="Rectangle 40">
            <a:extLst>
              <a:ext uri="{FF2B5EF4-FFF2-40B4-BE49-F238E27FC236}">
                <a16:creationId xmlns:a16="http://schemas.microsoft.com/office/drawing/2014/main" id="{D99F5EEA-D1FA-48E7-B9FB-BB3DFAFE9526}"/>
              </a:ext>
            </a:extLst>
          </p:cNvPr>
          <p:cNvSpPr>
            <a:spLocks noGrp="1"/>
          </p:cNvSpPr>
          <p:nvPr/>
        </p:nvSpPr>
        <p:spPr>
          <a:xfrm>
            <a:off x="3409950" y="3257550"/>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Evaluation</a:t>
            </a:r>
          </a:p>
        </p:txBody>
      </p:sp>
      <p:sp>
        <p:nvSpPr>
          <p:cNvPr id="42" name="Rectangle 41">
            <a:extLst>
              <a:ext uri="{FF2B5EF4-FFF2-40B4-BE49-F238E27FC236}">
                <a16:creationId xmlns:a16="http://schemas.microsoft.com/office/drawing/2014/main" id="{3DDF56A1-E29A-41B7-B4D1-5D38C3F177B5}"/>
              </a:ext>
            </a:extLst>
          </p:cNvPr>
          <p:cNvSpPr>
            <a:spLocks noGrp="1"/>
          </p:cNvSpPr>
          <p:nvPr/>
        </p:nvSpPr>
        <p:spPr>
          <a:xfrm>
            <a:off x="3409950" y="3552825"/>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43" name="Rectangle: Rounded Corners 42">
            <a:extLst>
              <a:ext uri="{FF2B5EF4-FFF2-40B4-BE49-F238E27FC236}">
                <a16:creationId xmlns:a16="http://schemas.microsoft.com/office/drawing/2014/main" id="{0FBEBB05-A2A8-4156-B27E-E551E45ECE92}"/>
              </a:ext>
            </a:extLst>
          </p:cNvPr>
          <p:cNvSpPr>
            <a:spLocks noGrp="1"/>
          </p:cNvSpPr>
          <p:nvPr/>
        </p:nvSpPr>
        <p:spPr>
          <a:xfrm>
            <a:off x="4972050" y="3067050"/>
            <a:ext cx="2000250" cy="781050"/>
          </a:xfrm>
          <a:prstGeom prst="roundRect">
            <a:avLst>
              <a:gd name="adj" fmla="val 9756"/>
            </a:avLst>
          </a:prstGeom>
          <a:solidFill>
            <a:srgbClr val="FFFFFF"/>
          </a:solidFill>
          <a:ln w="9525">
            <a:solidFill>
              <a:srgbClr val="D7E0EC"/>
            </a:solidFill>
            <a:prstDash val="solid"/>
          </a:ln>
        </p:spPr>
      </p:sp>
      <p:sp>
        <p:nvSpPr>
          <p:cNvPr id="44" name="Oval 43">
            <a:extLst>
              <a:ext uri="{FF2B5EF4-FFF2-40B4-BE49-F238E27FC236}">
                <a16:creationId xmlns:a16="http://schemas.microsoft.com/office/drawing/2014/main" id="{28491DF7-0163-47E2-92A5-D517E6CF8462}"/>
              </a:ext>
            </a:extLst>
          </p:cNvPr>
          <p:cNvSpPr>
            <a:spLocks noGrp="1"/>
          </p:cNvSpPr>
          <p:nvPr/>
        </p:nvSpPr>
        <p:spPr>
          <a:xfrm>
            <a:off x="5095875" y="3248025"/>
            <a:ext cx="381000" cy="381000"/>
          </a:xfrm>
          <a:prstGeom prst="ellipse">
            <a:avLst/>
          </a:prstGeom>
          <a:solidFill>
            <a:srgbClr val="168A70"/>
          </a:solidFill>
          <a:ln w="0">
            <a:noFill/>
            <a:prstDash val="solid"/>
          </a:ln>
        </p:spPr>
      </p:sp>
      <p:sp>
        <p:nvSpPr>
          <p:cNvPr id="45" name="Rectangle 44">
            <a:extLst>
              <a:ext uri="{FF2B5EF4-FFF2-40B4-BE49-F238E27FC236}">
                <a16:creationId xmlns:a16="http://schemas.microsoft.com/office/drawing/2014/main" id="{96C2D797-CD98-43D5-8B6A-FA7FF5CA8C55}"/>
              </a:ext>
            </a:extLst>
          </p:cNvPr>
          <p:cNvSpPr>
            <a:spLocks noGrp="1"/>
          </p:cNvSpPr>
          <p:nvPr/>
        </p:nvSpPr>
        <p:spPr>
          <a:xfrm>
            <a:off x="5095875" y="3248025"/>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8</a:t>
            </a:r>
          </a:p>
        </p:txBody>
      </p:sp>
      <p:sp>
        <p:nvSpPr>
          <p:cNvPr id="46" name="Rectangle 45">
            <a:extLst>
              <a:ext uri="{FF2B5EF4-FFF2-40B4-BE49-F238E27FC236}">
                <a16:creationId xmlns:a16="http://schemas.microsoft.com/office/drawing/2014/main" id="{805B727B-B9BA-41C2-9D13-1F478830B8F0}"/>
              </a:ext>
            </a:extLst>
          </p:cNvPr>
          <p:cNvSpPr>
            <a:spLocks noGrp="1"/>
          </p:cNvSpPr>
          <p:nvPr/>
        </p:nvSpPr>
        <p:spPr>
          <a:xfrm>
            <a:off x="5591175" y="3257550"/>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Real models</a:t>
            </a:r>
          </a:p>
        </p:txBody>
      </p:sp>
      <p:sp>
        <p:nvSpPr>
          <p:cNvPr id="47" name="Rectangle 46">
            <a:extLst>
              <a:ext uri="{FF2B5EF4-FFF2-40B4-BE49-F238E27FC236}">
                <a16:creationId xmlns:a16="http://schemas.microsoft.com/office/drawing/2014/main" id="{F18A033C-D312-421F-B0B0-8E5B557E9CA1}"/>
              </a:ext>
            </a:extLst>
          </p:cNvPr>
          <p:cNvSpPr>
            <a:spLocks noGrp="1"/>
          </p:cNvSpPr>
          <p:nvPr/>
        </p:nvSpPr>
        <p:spPr>
          <a:xfrm>
            <a:off x="5591175" y="3552825"/>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48" name="Rectangle: Rounded Corners 47">
            <a:extLst>
              <a:ext uri="{FF2B5EF4-FFF2-40B4-BE49-F238E27FC236}">
                <a16:creationId xmlns:a16="http://schemas.microsoft.com/office/drawing/2014/main" id="{C8EC2343-5866-4099-8139-8669D21F41FE}"/>
              </a:ext>
            </a:extLst>
          </p:cNvPr>
          <p:cNvSpPr>
            <a:spLocks noGrp="1"/>
          </p:cNvSpPr>
          <p:nvPr/>
        </p:nvSpPr>
        <p:spPr>
          <a:xfrm>
            <a:off x="7153275" y="3067050"/>
            <a:ext cx="2000250" cy="781050"/>
          </a:xfrm>
          <a:prstGeom prst="roundRect">
            <a:avLst>
              <a:gd name="adj" fmla="val 9756"/>
            </a:avLst>
          </a:prstGeom>
          <a:solidFill>
            <a:srgbClr val="FFFFFF"/>
          </a:solidFill>
          <a:ln w="9525">
            <a:solidFill>
              <a:srgbClr val="D7E0EC"/>
            </a:solidFill>
            <a:prstDash val="solid"/>
          </a:ln>
        </p:spPr>
      </p:sp>
      <p:sp>
        <p:nvSpPr>
          <p:cNvPr id="49" name="Oval 48">
            <a:extLst>
              <a:ext uri="{FF2B5EF4-FFF2-40B4-BE49-F238E27FC236}">
                <a16:creationId xmlns:a16="http://schemas.microsoft.com/office/drawing/2014/main" id="{825D9090-9E51-418C-BDAE-ECF6B209FA21}"/>
              </a:ext>
            </a:extLst>
          </p:cNvPr>
          <p:cNvSpPr>
            <a:spLocks noGrp="1"/>
          </p:cNvSpPr>
          <p:nvPr/>
        </p:nvSpPr>
        <p:spPr>
          <a:xfrm>
            <a:off x="7277100" y="3248025"/>
            <a:ext cx="381000" cy="381000"/>
          </a:xfrm>
          <a:prstGeom prst="ellipse">
            <a:avLst/>
          </a:prstGeom>
          <a:solidFill>
            <a:srgbClr val="168A70"/>
          </a:solidFill>
          <a:ln w="0">
            <a:noFill/>
            <a:prstDash val="solid"/>
          </a:ln>
        </p:spPr>
      </p:sp>
      <p:sp>
        <p:nvSpPr>
          <p:cNvPr id="50" name="Rectangle 49">
            <a:extLst>
              <a:ext uri="{FF2B5EF4-FFF2-40B4-BE49-F238E27FC236}">
                <a16:creationId xmlns:a16="http://schemas.microsoft.com/office/drawing/2014/main" id="{3B3F5D04-1CF4-454B-ACDF-7E3FFD2EEE93}"/>
              </a:ext>
            </a:extLst>
          </p:cNvPr>
          <p:cNvSpPr>
            <a:spLocks noGrp="1"/>
          </p:cNvSpPr>
          <p:nvPr/>
        </p:nvSpPr>
        <p:spPr>
          <a:xfrm>
            <a:off x="7277100" y="3248025"/>
            <a:ext cx="381000" cy="381000"/>
          </a:xfrm>
          <a:prstGeom prst="rect">
            <a:avLst/>
          </a:prstGeom>
          <a:noFill/>
          <a:ln w="0">
            <a:noFill/>
            <a:prstDash val="solid"/>
          </a:ln>
        </p:spPr>
        <p:txBody>
          <a:bodyPr anchor="ctr"/>
          <a:lstStyle>
            <a:defPPr algn="ctr">
              <a:defRPr sz="1425" b="1">
                <a:solidFill>
                  <a:srgbClr val="FFFFFF"/>
                </a:solidFill>
              </a:defRPr>
            </a:defPPr>
            <a:lvl1pPr algn="ctr">
              <a:buNone/>
              <a:defRPr sz="1425" b="1">
                <a:solidFill>
                  <a:srgbClr val="FFFFFF"/>
                </a:solidFill>
              </a:defRPr>
            </a:lvl1pPr>
            <a:lvl2pPr algn="ctr">
              <a:buNone/>
              <a:defRPr sz="1425" b="1">
                <a:solidFill>
                  <a:srgbClr val="FFFFFF"/>
                </a:solidFill>
              </a:defRPr>
            </a:lvl2pPr>
            <a:lvl3pPr algn="ctr">
              <a:buNone/>
              <a:defRPr sz="1425" b="1">
                <a:solidFill>
                  <a:srgbClr val="FFFFFF"/>
                </a:solidFill>
              </a:defRPr>
            </a:lvl3pPr>
            <a:lvl4pPr algn="ctr">
              <a:buNone/>
              <a:defRPr sz="1425" b="1">
                <a:solidFill>
                  <a:srgbClr val="FFFFFF"/>
                </a:solidFill>
              </a:defRPr>
            </a:lvl4pPr>
            <a:lvl5pPr algn="ctr">
              <a:buNone/>
              <a:defRPr sz="1425" b="1">
                <a:solidFill>
                  <a:srgbClr val="FFFFFF"/>
                </a:solidFill>
              </a:defRPr>
            </a:lvl5pPr>
            <a:lvl6pPr algn="ctr">
              <a:buNone/>
              <a:defRPr sz="1425" b="1">
                <a:solidFill>
                  <a:srgbClr val="FFFFFF"/>
                </a:solidFill>
              </a:defRPr>
            </a:lvl6pPr>
            <a:lvl7pPr algn="ctr">
              <a:buNone/>
              <a:defRPr sz="1425" b="1">
                <a:solidFill>
                  <a:srgbClr val="FFFFFF"/>
                </a:solidFill>
              </a:defRPr>
            </a:lvl7pPr>
            <a:lvl8pPr algn="ctr">
              <a:buNone/>
              <a:defRPr sz="1425" b="1">
                <a:solidFill>
                  <a:srgbClr val="FFFFFF"/>
                </a:solidFill>
              </a:defRPr>
            </a:lvl8pPr>
            <a:lvl9pPr algn="ctr">
              <a:buNone/>
              <a:defRPr sz="1425" b="1">
                <a:solidFill>
                  <a:srgbClr val="FFFFFF"/>
                </a:solidFill>
              </a:defRPr>
            </a:lvl9pPr>
          </a:lstStyle>
          <a:p>
            <a:pPr algn="ctr">
              <a:buNone/>
              <a:defRPr sz="1425" b="1">
                <a:solidFill>
                  <a:srgbClr val="FFFFFF"/>
                </a:solidFill>
              </a:defRPr>
            </a:pPr>
            <a:r>
              <a:rPr sz="1425" b="1">
                <a:solidFill>
                  <a:srgbClr val="FFFFFF"/>
                </a:solidFill>
              </a:rPr>
              <a:t>9</a:t>
            </a:r>
          </a:p>
        </p:txBody>
      </p:sp>
      <p:sp>
        <p:nvSpPr>
          <p:cNvPr id="51" name="Rectangle 50">
            <a:extLst>
              <a:ext uri="{FF2B5EF4-FFF2-40B4-BE49-F238E27FC236}">
                <a16:creationId xmlns:a16="http://schemas.microsoft.com/office/drawing/2014/main" id="{99E8C4D7-3C39-4868-947C-3AF23606B57E}"/>
              </a:ext>
            </a:extLst>
          </p:cNvPr>
          <p:cNvSpPr>
            <a:spLocks noGrp="1"/>
          </p:cNvSpPr>
          <p:nvPr/>
        </p:nvSpPr>
        <p:spPr>
          <a:xfrm>
            <a:off x="7772400" y="3257550"/>
            <a:ext cx="1285875" cy="3619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Final review</a:t>
            </a:r>
          </a:p>
        </p:txBody>
      </p:sp>
      <p:sp>
        <p:nvSpPr>
          <p:cNvPr id="52" name="Rectangle 51">
            <a:extLst>
              <a:ext uri="{FF2B5EF4-FFF2-40B4-BE49-F238E27FC236}">
                <a16:creationId xmlns:a16="http://schemas.microsoft.com/office/drawing/2014/main" id="{5B0FBDB0-171D-49C4-BF02-97B1CDF82E5D}"/>
              </a:ext>
            </a:extLst>
          </p:cNvPr>
          <p:cNvSpPr>
            <a:spLocks noGrp="1"/>
          </p:cNvSpPr>
          <p:nvPr/>
        </p:nvSpPr>
        <p:spPr>
          <a:xfrm>
            <a:off x="7772400" y="3552825"/>
            <a:ext cx="1238250" cy="171450"/>
          </a:xfrm>
          <a:prstGeom prst="rect">
            <a:avLst/>
          </a:prstGeom>
          <a:noFill/>
          <a:ln w="0">
            <a:noFill/>
            <a:prstDash val="solid"/>
          </a:ln>
        </p:spPr>
        <p:txBody>
          <a:bodyPr anchor="ctr"/>
          <a:lstStyle>
            <a:defPPr algn="l">
              <a:defRPr sz="825" b="1">
                <a:solidFill>
                  <a:srgbClr val="168A70"/>
                </a:solidFill>
              </a:defRPr>
            </a:defPPr>
            <a:lvl1pPr algn="l">
              <a:buNone/>
              <a:defRPr sz="825" b="1">
                <a:solidFill>
                  <a:srgbClr val="168A70"/>
                </a:solidFill>
              </a:defRPr>
            </a:lvl1pPr>
            <a:lvl2pPr algn="l">
              <a:buNone/>
              <a:defRPr sz="825" b="1">
                <a:solidFill>
                  <a:srgbClr val="168A70"/>
                </a:solidFill>
              </a:defRPr>
            </a:lvl2pPr>
            <a:lvl3pPr algn="l">
              <a:buNone/>
              <a:defRPr sz="825" b="1">
                <a:solidFill>
                  <a:srgbClr val="168A70"/>
                </a:solidFill>
              </a:defRPr>
            </a:lvl3pPr>
            <a:lvl4pPr algn="l">
              <a:buNone/>
              <a:defRPr sz="825" b="1">
                <a:solidFill>
                  <a:srgbClr val="168A70"/>
                </a:solidFill>
              </a:defRPr>
            </a:lvl4pPr>
            <a:lvl5pPr algn="l">
              <a:buNone/>
              <a:defRPr sz="825" b="1">
                <a:solidFill>
                  <a:srgbClr val="168A70"/>
                </a:solidFill>
              </a:defRPr>
            </a:lvl5pPr>
            <a:lvl6pPr algn="l">
              <a:buNone/>
              <a:defRPr sz="825" b="1">
                <a:solidFill>
                  <a:srgbClr val="168A70"/>
                </a:solidFill>
              </a:defRPr>
            </a:lvl6pPr>
            <a:lvl7pPr algn="l">
              <a:buNone/>
              <a:defRPr sz="825" b="1">
                <a:solidFill>
                  <a:srgbClr val="168A70"/>
                </a:solidFill>
              </a:defRPr>
            </a:lvl7pPr>
            <a:lvl8pPr algn="l">
              <a:buNone/>
              <a:defRPr sz="825" b="1">
                <a:solidFill>
                  <a:srgbClr val="168A70"/>
                </a:solidFill>
              </a:defRPr>
            </a:lvl8pPr>
            <a:lvl9pPr algn="l">
              <a:buNone/>
              <a:defRPr sz="825" b="1">
                <a:solidFill>
                  <a:srgbClr val="168A70"/>
                </a:solidFill>
              </a:defRPr>
            </a:lvl9pPr>
          </a:lstStyle>
          <a:p>
            <a:pPr algn="l">
              <a:buNone/>
              <a:defRPr sz="825" b="1">
                <a:solidFill>
                  <a:srgbClr val="168A70"/>
                </a:solidFill>
              </a:defRPr>
            </a:pPr>
            <a:r>
              <a:rPr sz="825" b="1">
                <a:solidFill>
                  <a:srgbClr val="168A70"/>
                </a:solidFill>
              </a:rPr>
              <a:t>COMPLETED</a:t>
            </a:r>
          </a:p>
        </p:txBody>
      </p:sp>
      <p:sp>
        <p:nvSpPr>
          <p:cNvPr id="53" name="Rectangle: Rounded Corners 52">
            <a:extLst>
              <a:ext uri="{FF2B5EF4-FFF2-40B4-BE49-F238E27FC236}">
                <a16:creationId xmlns:a16="http://schemas.microsoft.com/office/drawing/2014/main" id="{699628F0-E62D-47DD-846F-FA4AE24E5AEC}"/>
              </a:ext>
            </a:extLst>
          </p:cNvPr>
          <p:cNvSpPr>
            <a:spLocks noGrp="1"/>
          </p:cNvSpPr>
          <p:nvPr/>
        </p:nvSpPr>
        <p:spPr>
          <a:xfrm>
            <a:off x="609600" y="4362450"/>
            <a:ext cx="10972800" cy="876300"/>
          </a:xfrm>
          <a:prstGeom prst="roundRect">
            <a:avLst>
              <a:gd name="adj" fmla="val 8696"/>
            </a:avLst>
          </a:prstGeom>
          <a:solidFill>
            <a:srgbClr val="EAF1FA"/>
          </a:solidFill>
          <a:ln w="0">
            <a:noFill/>
            <a:prstDash val="solid"/>
          </a:ln>
        </p:spPr>
      </p:sp>
      <p:sp>
        <p:nvSpPr>
          <p:cNvPr id="54" name="Rectangle 53">
            <a:extLst>
              <a:ext uri="{FF2B5EF4-FFF2-40B4-BE49-F238E27FC236}">
                <a16:creationId xmlns:a16="http://schemas.microsoft.com/office/drawing/2014/main" id="{9B847EE1-ADF0-4563-BFC8-717A765D95F2}"/>
              </a:ext>
            </a:extLst>
          </p:cNvPr>
          <p:cNvSpPr>
            <a:spLocks noGrp="1"/>
          </p:cNvSpPr>
          <p:nvPr/>
        </p:nvSpPr>
        <p:spPr>
          <a:xfrm>
            <a:off x="781050" y="4495800"/>
            <a:ext cx="1619250" cy="228600"/>
          </a:xfrm>
          <a:prstGeom prst="rect">
            <a:avLst/>
          </a:prstGeom>
          <a:noFill/>
          <a:ln w="0">
            <a:noFill/>
            <a:prstDash val="solid"/>
          </a:ln>
        </p:spPr>
        <p:txBody>
          <a:bodyPr anchor="ctr"/>
          <a:lstStyle>
            <a:defPPr algn="l">
              <a:defRPr sz="1275" b="1">
                <a:solidFill>
                  <a:srgbClr val="2356A8"/>
                </a:solidFill>
              </a:defRPr>
            </a:defPPr>
            <a:lvl1pPr algn="l">
              <a:buNone/>
              <a:defRPr sz="1275" b="1">
                <a:solidFill>
                  <a:srgbClr val="2356A8"/>
                </a:solidFill>
              </a:defRPr>
            </a:lvl1pPr>
            <a:lvl2pPr algn="l">
              <a:buNone/>
              <a:defRPr sz="1275" b="1">
                <a:solidFill>
                  <a:srgbClr val="2356A8"/>
                </a:solidFill>
              </a:defRPr>
            </a:lvl2pPr>
            <a:lvl3pPr algn="l">
              <a:buNone/>
              <a:defRPr sz="1275" b="1">
                <a:solidFill>
                  <a:srgbClr val="2356A8"/>
                </a:solidFill>
              </a:defRPr>
            </a:lvl3pPr>
            <a:lvl4pPr algn="l">
              <a:buNone/>
              <a:defRPr sz="1275" b="1">
                <a:solidFill>
                  <a:srgbClr val="2356A8"/>
                </a:solidFill>
              </a:defRPr>
            </a:lvl4pPr>
            <a:lvl5pPr algn="l">
              <a:buNone/>
              <a:defRPr sz="1275" b="1">
                <a:solidFill>
                  <a:srgbClr val="2356A8"/>
                </a:solidFill>
              </a:defRPr>
            </a:lvl5pPr>
            <a:lvl6pPr algn="l">
              <a:buNone/>
              <a:defRPr sz="1275" b="1">
                <a:solidFill>
                  <a:srgbClr val="2356A8"/>
                </a:solidFill>
              </a:defRPr>
            </a:lvl6pPr>
            <a:lvl7pPr algn="l">
              <a:buNone/>
              <a:defRPr sz="1275" b="1">
                <a:solidFill>
                  <a:srgbClr val="2356A8"/>
                </a:solidFill>
              </a:defRPr>
            </a:lvl7pPr>
            <a:lvl8pPr algn="l">
              <a:buNone/>
              <a:defRPr sz="1275" b="1">
                <a:solidFill>
                  <a:srgbClr val="2356A8"/>
                </a:solidFill>
              </a:defRPr>
            </a:lvl8pPr>
            <a:lvl9pPr algn="l">
              <a:buNone/>
              <a:defRPr sz="1275" b="1">
                <a:solidFill>
                  <a:srgbClr val="2356A8"/>
                </a:solidFill>
              </a:defRPr>
            </a:lvl9pPr>
          </a:lstStyle>
          <a:p>
            <a:pPr algn="l">
              <a:buNone/>
              <a:defRPr sz="1275" b="1">
                <a:solidFill>
                  <a:srgbClr val="2356A8"/>
                </a:solidFill>
              </a:defRPr>
            </a:pPr>
            <a:r>
              <a:rPr sz="1275" b="1">
                <a:solidFill>
                  <a:srgbClr val="2356A8"/>
                </a:solidFill>
              </a:rPr>
              <a:t>Reported stack</a:t>
            </a:r>
          </a:p>
        </p:txBody>
      </p:sp>
      <p:sp>
        <p:nvSpPr>
          <p:cNvPr id="55" name="Rectangle 54">
            <a:extLst>
              <a:ext uri="{FF2B5EF4-FFF2-40B4-BE49-F238E27FC236}">
                <a16:creationId xmlns:a16="http://schemas.microsoft.com/office/drawing/2014/main" id="{E964FC6E-64F8-4235-8A69-7174608FB601}"/>
              </a:ext>
            </a:extLst>
          </p:cNvPr>
          <p:cNvSpPr>
            <a:spLocks noGrp="1"/>
          </p:cNvSpPr>
          <p:nvPr/>
        </p:nvSpPr>
        <p:spPr>
          <a:xfrm>
            <a:off x="2419350" y="4438650"/>
            <a:ext cx="8858250" cy="47625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Python modules · NetworkX graph · BAAI/bge-small-en-v1.5 embeddings · cross-encoder/nli-deberta-v3-base verifier · Qwen2.5 models</a:t>
            </a:r>
          </a:p>
        </p:txBody>
      </p:sp>
      <p:sp>
        <p:nvSpPr>
          <p:cNvPr id="56" name="Rectangle 55">
            <a:extLst>
              <a:ext uri="{FF2B5EF4-FFF2-40B4-BE49-F238E27FC236}">
                <a16:creationId xmlns:a16="http://schemas.microsoft.com/office/drawing/2014/main" id="{7A43A29D-58EF-4685-AC6D-8E9787BFB6F6}"/>
              </a:ext>
            </a:extLst>
          </p:cNvPr>
          <p:cNvSpPr>
            <a:spLocks noGrp="1"/>
          </p:cNvSpPr>
          <p:nvPr/>
        </p:nvSpPr>
        <p:spPr>
          <a:xfrm>
            <a:off x="781050" y="4981575"/>
            <a:ext cx="10382250" cy="228600"/>
          </a:xfrm>
          <a:prstGeom prst="rect">
            <a:avLst/>
          </a:prstGeom>
          <a:noFill/>
          <a:ln w="0">
            <a:noFill/>
            <a:prstDash val="solid"/>
          </a:ln>
        </p:spPr>
        <p:txBody>
          <a:bodyPr anchor="ctr"/>
          <a:lstStyle>
            <a:defPPr algn="l">
              <a:defRPr sz="1125" b="0">
                <a:solidFill>
                  <a:srgbClr val="5D6B7C"/>
                </a:solidFill>
              </a:defRPr>
            </a:defPPr>
            <a:lvl1pPr algn="l">
              <a:buNone/>
              <a:defRPr sz="1125" b="0">
                <a:solidFill>
                  <a:srgbClr val="5D6B7C"/>
                </a:solidFill>
              </a:defRPr>
            </a:lvl1pPr>
            <a:lvl2pPr algn="l">
              <a:buNone/>
              <a:defRPr sz="1125" b="0">
                <a:solidFill>
                  <a:srgbClr val="5D6B7C"/>
                </a:solidFill>
              </a:defRPr>
            </a:lvl2pPr>
            <a:lvl3pPr algn="l">
              <a:buNone/>
              <a:defRPr sz="1125" b="0">
                <a:solidFill>
                  <a:srgbClr val="5D6B7C"/>
                </a:solidFill>
              </a:defRPr>
            </a:lvl3pPr>
            <a:lvl4pPr algn="l">
              <a:buNone/>
              <a:defRPr sz="1125" b="0">
                <a:solidFill>
                  <a:srgbClr val="5D6B7C"/>
                </a:solidFill>
              </a:defRPr>
            </a:lvl4pPr>
            <a:lvl5pPr algn="l">
              <a:buNone/>
              <a:defRPr sz="1125" b="0">
                <a:solidFill>
                  <a:srgbClr val="5D6B7C"/>
                </a:solidFill>
              </a:defRPr>
            </a:lvl5pPr>
            <a:lvl6pPr algn="l">
              <a:buNone/>
              <a:defRPr sz="1125" b="0">
                <a:solidFill>
                  <a:srgbClr val="5D6B7C"/>
                </a:solidFill>
              </a:defRPr>
            </a:lvl6pPr>
            <a:lvl7pPr algn="l">
              <a:buNone/>
              <a:defRPr sz="1125" b="0">
                <a:solidFill>
                  <a:srgbClr val="5D6B7C"/>
                </a:solidFill>
              </a:defRPr>
            </a:lvl7pPr>
            <a:lvl8pPr algn="l">
              <a:buNone/>
              <a:defRPr sz="1125" b="0">
                <a:solidFill>
                  <a:srgbClr val="5D6B7C"/>
                </a:solidFill>
              </a:defRPr>
            </a:lvl8pPr>
            <a:lvl9pPr algn="l">
              <a:buNone/>
              <a:defRPr sz="1125" b="0">
                <a:solidFill>
                  <a:srgbClr val="5D6B7C"/>
                </a:solidFill>
              </a:defRPr>
            </a:lvl9pPr>
          </a:lstStyle>
          <a:p>
            <a:pPr algn="l">
              <a:buNone/>
              <a:defRPr sz="1125" b="0">
                <a:solidFill>
                  <a:srgbClr val="5D6B7C"/>
                </a:solidFill>
              </a:defRPr>
            </a:pPr>
            <a:r>
              <a:rPr sz="1125" b="0">
                <a:solidFill>
                  <a:srgbClr val="5D6B7C"/>
                </a:solidFill>
              </a:rPr>
              <a:t>Recorded end-to-end benchmark used Qwen/Qwen2.5-0.5B-Instruct; 4-bit quantization disabled.</a:t>
            </a:r>
          </a:p>
        </p:txBody>
      </p:sp>
      <p:sp>
        <p:nvSpPr>
          <p:cNvPr id="57" name="Rectangle: Rounded Corners 56">
            <a:extLst>
              <a:ext uri="{FF2B5EF4-FFF2-40B4-BE49-F238E27FC236}">
                <a16:creationId xmlns:a16="http://schemas.microsoft.com/office/drawing/2014/main" id="{F5DB3737-1CED-4223-A99C-04ACC5270ED7}"/>
              </a:ext>
            </a:extLst>
          </p:cNvPr>
          <p:cNvSpPr>
            <a:spLocks noGrp="1"/>
          </p:cNvSpPr>
          <p:nvPr/>
        </p:nvSpPr>
        <p:spPr>
          <a:xfrm>
            <a:off x="609600" y="5524500"/>
            <a:ext cx="10972800" cy="523875"/>
          </a:xfrm>
          <a:prstGeom prst="roundRect">
            <a:avLst>
              <a:gd name="adj" fmla="val 14545"/>
            </a:avLst>
          </a:prstGeom>
          <a:solidFill>
            <a:srgbClr val="FFF3E2"/>
          </a:solidFill>
          <a:ln w="0">
            <a:noFill/>
            <a:prstDash val="solid"/>
          </a:ln>
        </p:spPr>
      </p:sp>
      <p:sp>
        <p:nvSpPr>
          <p:cNvPr id="58" name="Rectangle 57">
            <a:extLst>
              <a:ext uri="{FF2B5EF4-FFF2-40B4-BE49-F238E27FC236}">
                <a16:creationId xmlns:a16="http://schemas.microsoft.com/office/drawing/2014/main" id="{17CD743C-1CDE-4DC7-B517-59EE17BC5E76}"/>
              </a:ext>
            </a:extLst>
          </p:cNvPr>
          <p:cNvSpPr>
            <a:spLocks noGrp="1"/>
          </p:cNvSpPr>
          <p:nvPr/>
        </p:nvSpPr>
        <p:spPr>
          <a:xfrm>
            <a:off x="781050" y="5619750"/>
            <a:ext cx="2095500" cy="266700"/>
          </a:xfrm>
          <a:prstGeom prst="rect">
            <a:avLst/>
          </a:prstGeom>
          <a:noFill/>
          <a:ln w="0">
            <a:noFill/>
            <a:prstDash val="solid"/>
          </a:ln>
        </p:spPr>
        <p:txBody>
          <a:bodyPr anchor="ctr"/>
          <a:lstStyle>
            <a:defPPr algn="l">
              <a:defRPr sz="1125" b="1">
                <a:solidFill>
                  <a:srgbClr val="B16B16"/>
                </a:solidFill>
              </a:defRPr>
            </a:defPPr>
            <a:lvl1pPr algn="l">
              <a:buNone/>
              <a:defRPr sz="1125" b="1">
                <a:solidFill>
                  <a:srgbClr val="B16B16"/>
                </a:solidFill>
              </a:defRPr>
            </a:lvl1pPr>
            <a:lvl2pPr algn="l">
              <a:buNone/>
              <a:defRPr sz="1125" b="1">
                <a:solidFill>
                  <a:srgbClr val="B16B16"/>
                </a:solidFill>
              </a:defRPr>
            </a:lvl2pPr>
            <a:lvl3pPr algn="l">
              <a:buNone/>
              <a:defRPr sz="1125" b="1">
                <a:solidFill>
                  <a:srgbClr val="B16B16"/>
                </a:solidFill>
              </a:defRPr>
            </a:lvl3pPr>
            <a:lvl4pPr algn="l">
              <a:buNone/>
              <a:defRPr sz="1125" b="1">
                <a:solidFill>
                  <a:srgbClr val="B16B16"/>
                </a:solidFill>
              </a:defRPr>
            </a:lvl4pPr>
            <a:lvl5pPr algn="l">
              <a:buNone/>
              <a:defRPr sz="1125" b="1">
                <a:solidFill>
                  <a:srgbClr val="B16B16"/>
                </a:solidFill>
              </a:defRPr>
            </a:lvl5pPr>
            <a:lvl6pPr algn="l">
              <a:buNone/>
              <a:defRPr sz="1125" b="1">
                <a:solidFill>
                  <a:srgbClr val="B16B16"/>
                </a:solidFill>
              </a:defRPr>
            </a:lvl6pPr>
            <a:lvl7pPr algn="l">
              <a:buNone/>
              <a:defRPr sz="1125" b="1">
                <a:solidFill>
                  <a:srgbClr val="B16B16"/>
                </a:solidFill>
              </a:defRPr>
            </a:lvl7pPr>
            <a:lvl8pPr algn="l">
              <a:buNone/>
              <a:defRPr sz="1125" b="1">
                <a:solidFill>
                  <a:srgbClr val="B16B16"/>
                </a:solidFill>
              </a:defRPr>
            </a:lvl8pPr>
            <a:lvl9pPr algn="l">
              <a:buNone/>
              <a:defRPr sz="1125" b="1">
                <a:solidFill>
                  <a:srgbClr val="B16B16"/>
                </a:solidFill>
              </a:defRPr>
            </a:lvl9pPr>
          </a:lstStyle>
          <a:p>
            <a:pPr algn="l">
              <a:buNone/>
              <a:defRPr sz="1125" b="1">
                <a:solidFill>
                  <a:srgbClr val="B16B16"/>
                </a:solidFill>
              </a:defRPr>
            </a:pPr>
            <a:r>
              <a:rPr sz="1125" b="1">
                <a:solidFill>
                  <a:srgbClr val="B16B16"/>
                </a:solidFill>
              </a:rPr>
              <a:t>Source-report mismatch</a:t>
            </a:r>
          </a:p>
        </p:txBody>
      </p:sp>
      <p:sp>
        <p:nvSpPr>
          <p:cNvPr id="59" name="Rectangle 58">
            <a:extLst>
              <a:ext uri="{FF2B5EF4-FFF2-40B4-BE49-F238E27FC236}">
                <a16:creationId xmlns:a16="http://schemas.microsoft.com/office/drawing/2014/main" id="{0B9921C2-6F19-41FC-A8CB-29BEC8911F50}"/>
              </a:ext>
            </a:extLst>
          </p:cNvPr>
          <p:cNvSpPr>
            <a:spLocks noGrp="1"/>
          </p:cNvSpPr>
          <p:nvPr/>
        </p:nvSpPr>
        <p:spPr>
          <a:xfrm>
            <a:off x="2781300" y="5591175"/>
            <a:ext cx="8477250" cy="371475"/>
          </a:xfrm>
          <a:prstGeom prst="rect">
            <a:avLst/>
          </a:prstGeom>
          <a:noFill/>
          <a:ln w="0">
            <a:noFill/>
            <a:prstDash val="solid"/>
          </a:ln>
        </p:spPr>
        <p:txBody>
          <a:bodyPr anchor="ctr"/>
          <a:lstStyle>
            <a:defPPr algn="l">
              <a:defRPr sz="1050" b="0">
                <a:solidFill>
                  <a:srgbClr val="1D2A3B"/>
                </a:solidFill>
              </a:defRPr>
            </a:defPPr>
            <a:lvl1pPr algn="l">
              <a:buNone/>
              <a:defRPr sz="1050" b="0">
                <a:solidFill>
                  <a:srgbClr val="1D2A3B"/>
                </a:solidFill>
              </a:defRPr>
            </a:lvl1pPr>
            <a:lvl2pPr algn="l">
              <a:buNone/>
              <a:defRPr sz="1050" b="0">
                <a:solidFill>
                  <a:srgbClr val="1D2A3B"/>
                </a:solidFill>
              </a:defRPr>
            </a:lvl2pPr>
            <a:lvl3pPr algn="l">
              <a:buNone/>
              <a:defRPr sz="1050" b="0">
                <a:solidFill>
                  <a:srgbClr val="1D2A3B"/>
                </a:solidFill>
              </a:defRPr>
            </a:lvl3pPr>
            <a:lvl4pPr algn="l">
              <a:buNone/>
              <a:defRPr sz="1050" b="0">
                <a:solidFill>
                  <a:srgbClr val="1D2A3B"/>
                </a:solidFill>
              </a:defRPr>
            </a:lvl4pPr>
            <a:lvl5pPr algn="l">
              <a:buNone/>
              <a:defRPr sz="1050" b="0">
                <a:solidFill>
                  <a:srgbClr val="1D2A3B"/>
                </a:solidFill>
              </a:defRPr>
            </a:lvl5pPr>
            <a:lvl6pPr algn="l">
              <a:buNone/>
              <a:defRPr sz="1050" b="0">
                <a:solidFill>
                  <a:srgbClr val="1D2A3B"/>
                </a:solidFill>
              </a:defRPr>
            </a:lvl6pPr>
            <a:lvl7pPr algn="l">
              <a:buNone/>
              <a:defRPr sz="1050" b="0">
                <a:solidFill>
                  <a:srgbClr val="1D2A3B"/>
                </a:solidFill>
              </a:defRPr>
            </a:lvl7pPr>
            <a:lvl8pPr algn="l">
              <a:buNone/>
              <a:defRPr sz="1050" b="0">
                <a:solidFill>
                  <a:srgbClr val="1D2A3B"/>
                </a:solidFill>
              </a:defRPr>
            </a:lvl8pPr>
            <a:lvl9pPr algn="l">
              <a:buNone/>
              <a:defRPr sz="1050" b="0">
                <a:solidFill>
                  <a:srgbClr val="1D2A3B"/>
                </a:solidFill>
              </a:defRPr>
            </a:lvl9pPr>
          </a:lstStyle>
          <a:p>
            <a:pPr algn="l">
              <a:buNone/>
              <a:defRPr sz="1050" b="0">
                <a:solidFill>
                  <a:srgbClr val="1D2A3B"/>
                </a:solidFill>
              </a:defRPr>
            </a:pPr>
            <a:r>
              <a:rPr sz="1050" b="0">
                <a:solidFill>
                  <a:srgbClr val="1D2A3B"/>
                </a:solidFill>
              </a:rPr>
              <a:t>The report still labels Batches 6–9 as planned. Completion status here follows your current project update; dataset claims remain limited to what the report measures.</a:t>
            </a:r>
          </a:p>
        </p:txBody>
      </p:sp>
    </p:spTree>
    <p:extLst>
      <p:ext uri="{BB962C8B-B14F-4D97-AF65-F5344CB8AC3E}">
        <p14:creationId xmlns:p14="http://schemas.microsoft.com/office/powerpoint/2010/main" val="165471628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A6C4C50-F15D-4B3B-9235-75A8031DF228}"/>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RESULTS, COMPARISON, AND ANALYSIS</a:t>
            </a:r>
          </a:p>
        </p:txBody>
      </p:sp>
      <p:sp>
        <p:nvSpPr>
          <p:cNvPr id="2" name="Rectangle 1">
            <a:extLst>
              <a:ext uri="{FF2B5EF4-FFF2-40B4-BE49-F238E27FC236}">
                <a16:creationId xmlns:a16="http://schemas.microsoft.com/office/drawing/2014/main" id="{546E9A6C-068F-4A70-ABEB-D0A36263A18D}"/>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Results: multi-step questions were harder</a:t>
            </a:r>
          </a:p>
        </p:txBody>
      </p:sp>
      <p:sp>
        <p:nvSpPr>
          <p:cNvPr id="3" name="Rectangle 2">
            <a:extLst>
              <a:ext uri="{FF2B5EF4-FFF2-40B4-BE49-F238E27FC236}">
                <a16:creationId xmlns:a16="http://schemas.microsoft.com/office/drawing/2014/main" id="{208AA775-5B6C-43B9-8DD3-ED52212F236F}"/>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58B0EEBB-9942-41B5-A589-C8389514D97C}"/>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07</a:t>
            </a:r>
          </a:p>
        </p:txBody>
      </p:sp>
      <p:sp>
        <p:nvSpPr>
          <p:cNvPr id="7" name="Rectangle 6">
            <a:extLst>
              <a:ext uri="{FF2B5EF4-FFF2-40B4-BE49-F238E27FC236}">
                <a16:creationId xmlns:a16="http://schemas.microsoft.com/office/drawing/2014/main" id="{9D939184-E4F0-4875-A1EE-FA2043F561F5}"/>
              </a:ext>
            </a:extLst>
          </p:cNvPr>
          <p:cNvSpPr>
            <a:spLocks noGrp="1"/>
          </p:cNvSpPr>
          <p:nvPr/>
        </p:nvSpPr>
        <p:spPr>
          <a:xfrm>
            <a:off x="609600" y="1352550"/>
            <a:ext cx="10972800" cy="323850"/>
          </a:xfrm>
          <a:prstGeom prst="rect">
            <a:avLst/>
          </a:prstGeom>
          <a:noFill/>
          <a:ln w="0">
            <a:noFill/>
            <a:prstDash val="solid"/>
          </a:ln>
        </p:spPr>
        <p:txBody>
          <a:bodyPr anchor="ctr"/>
          <a:lstStyle>
            <a:defPPr algn="l">
              <a:defRPr sz="1275" b="0">
                <a:solidFill>
                  <a:srgbClr val="5D6B7C"/>
                </a:solidFill>
              </a:defRPr>
            </a:defPPr>
            <a:lvl1pPr algn="l">
              <a:buNone/>
              <a:defRPr sz="1275" b="0">
                <a:solidFill>
                  <a:srgbClr val="5D6B7C"/>
                </a:solidFill>
              </a:defRPr>
            </a:lvl1pPr>
            <a:lvl2pPr algn="l">
              <a:buNone/>
              <a:defRPr sz="1275" b="0">
                <a:solidFill>
                  <a:srgbClr val="5D6B7C"/>
                </a:solidFill>
              </a:defRPr>
            </a:lvl2pPr>
            <a:lvl3pPr algn="l">
              <a:buNone/>
              <a:defRPr sz="1275" b="0">
                <a:solidFill>
                  <a:srgbClr val="5D6B7C"/>
                </a:solidFill>
              </a:defRPr>
            </a:lvl3pPr>
            <a:lvl4pPr algn="l">
              <a:buNone/>
              <a:defRPr sz="1275" b="0">
                <a:solidFill>
                  <a:srgbClr val="5D6B7C"/>
                </a:solidFill>
              </a:defRPr>
            </a:lvl4pPr>
            <a:lvl5pPr algn="l">
              <a:buNone/>
              <a:defRPr sz="1275" b="0">
                <a:solidFill>
                  <a:srgbClr val="5D6B7C"/>
                </a:solidFill>
              </a:defRPr>
            </a:lvl5pPr>
            <a:lvl6pPr algn="l">
              <a:buNone/>
              <a:defRPr sz="1275" b="0">
                <a:solidFill>
                  <a:srgbClr val="5D6B7C"/>
                </a:solidFill>
              </a:defRPr>
            </a:lvl6pPr>
            <a:lvl7pPr algn="l">
              <a:buNone/>
              <a:defRPr sz="1275" b="0">
                <a:solidFill>
                  <a:srgbClr val="5D6B7C"/>
                </a:solidFill>
              </a:defRPr>
            </a:lvl7pPr>
            <a:lvl8pPr algn="l">
              <a:buNone/>
              <a:defRPr sz="1275" b="0">
                <a:solidFill>
                  <a:srgbClr val="5D6B7C"/>
                </a:solidFill>
              </a:defRPr>
            </a:lvl8pPr>
            <a:lvl9pPr algn="l">
              <a:buNone/>
              <a:defRPr sz="1275" b="0">
                <a:solidFill>
                  <a:srgbClr val="5D6B7C"/>
                </a:solidFill>
              </a:defRPr>
            </a:lvl9pPr>
          </a:lstStyle>
          <a:p>
            <a:pPr algn="l">
              <a:buNone/>
              <a:defRPr sz="1275" b="0">
                <a:solidFill>
                  <a:srgbClr val="5D6B7C"/>
                </a:solidFill>
              </a:defRPr>
            </a:pPr>
            <a:r>
              <a:rPr sz="1275" b="0">
                <a:solidFill>
                  <a:srgbClr val="5D6B7C"/>
                </a:solidFill>
              </a:rPr>
              <a:t>MetaQA test sample · 102 questions · 34 per hop · Qwen2.5-0.5B-Instruct · KG retrieval for all 102</a:t>
            </a:r>
          </a:p>
        </p:txBody>
      </p:sp>
      <p:graphicFrame>
        <p:nvGraphicFramePr>
          <p:cNvPr id="8" name="Chart">
            <a:extLst>
              <a:ext uri="{FF2B5EF4-FFF2-40B4-BE49-F238E27FC236}">
                <a16:creationId xmlns:a16="http://schemas.microsoft.com/office/drawing/2014/main" id="{148446B2-BF2C-486B-8FF9-B38A401A5072}"/>
              </a:ext>
            </a:extLst>
          </p:cNvPr>
          <p:cNvGraphicFramePr/>
          <p:nvPr/>
        </p:nvGraphicFramePr>
        <p:xfrm>
          <a:off x="590550" y="1876425"/>
          <a:ext cx="6334125" cy="321945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DF45EBBC-9D0F-4DD2-BADE-E60BD6A5F7F6}"/>
              </a:ext>
            </a:extLst>
          </p:cNvPr>
          <p:cNvSpPr>
            <a:spLocks noGrp="1"/>
          </p:cNvSpPr>
          <p:nvPr/>
        </p:nvSpPr>
        <p:spPr>
          <a:xfrm>
            <a:off x="7334250" y="1895475"/>
            <a:ext cx="3905250" cy="266700"/>
          </a:xfrm>
          <a:prstGeom prst="rect">
            <a:avLst/>
          </a:prstGeom>
          <a:noFill/>
          <a:ln w="0">
            <a:noFill/>
            <a:prstDash val="solid"/>
          </a:ln>
        </p:spPr>
        <p:txBody>
          <a:bodyPr anchor="ctr"/>
          <a:lstStyle>
            <a:defPPr algn="l">
              <a:defRPr sz="1425" b="1">
                <a:solidFill>
                  <a:srgbClr val="14233F"/>
                </a:solidFill>
              </a:defRPr>
            </a:defPPr>
            <a:lvl1pPr algn="l">
              <a:buNone/>
              <a:defRPr sz="1425" b="1">
                <a:solidFill>
                  <a:srgbClr val="14233F"/>
                </a:solidFill>
              </a:defRPr>
            </a:lvl1pPr>
            <a:lvl2pPr algn="l">
              <a:buNone/>
              <a:defRPr sz="1425" b="1">
                <a:solidFill>
                  <a:srgbClr val="14233F"/>
                </a:solidFill>
              </a:defRPr>
            </a:lvl2pPr>
            <a:lvl3pPr algn="l">
              <a:buNone/>
              <a:defRPr sz="1425" b="1">
                <a:solidFill>
                  <a:srgbClr val="14233F"/>
                </a:solidFill>
              </a:defRPr>
            </a:lvl3pPr>
            <a:lvl4pPr algn="l">
              <a:buNone/>
              <a:defRPr sz="1425" b="1">
                <a:solidFill>
                  <a:srgbClr val="14233F"/>
                </a:solidFill>
              </a:defRPr>
            </a:lvl4pPr>
            <a:lvl5pPr algn="l">
              <a:buNone/>
              <a:defRPr sz="1425" b="1">
                <a:solidFill>
                  <a:srgbClr val="14233F"/>
                </a:solidFill>
              </a:defRPr>
            </a:lvl5pPr>
            <a:lvl6pPr algn="l">
              <a:buNone/>
              <a:defRPr sz="1425" b="1">
                <a:solidFill>
                  <a:srgbClr val="14233F"/>
                </a:solidFill>
              </a:defRPr>
            </a:lvl6pPr>
            <a:lvl7pPr algn="l">
              <a:buNone/>
              <a:defRPr sz="1425" b="1">
                <a:solidFill>
                  <a:srgbClr val="14233F"/>
                </a:solidFill>
              </a:defRPr>
            </a:lvl7pPr>
            <a:lvl8pPr algn="l">
              <a:buNone/>
              <a:defRPr sz="1425" b="1">
                <a:solidFill>
                  <a:srgbClr val="14233F"/>
                </a:solidFill>
              </a:defRPr>
            </a:lvl8pPr>
            <a:lvl9pPr algn="l">
              <a:buNone/>
              <a:defRPr sz="1425" b="1">
                <a:solidFill>
                  <a:srgbClr val="14233F"/>
                </a:solidFill>
              </a:defRPr>
            </a:lvl9pPr>
          </a:lstStyle>
          <a:p>
            <a:pPr algn="l">
              <a:buNone/>
              <a:defRPr sz="1425" b="1">
                <a:solidFill>
                  <a:srgbClr val="14233F"/>
                </a:solidFill>
              </a:defRPr>
            </a:pPr>
            <a:r>
              <a:rPr sz="1425" b="1">
                <a:solidFill>
                  <a:srgbClr val="14233F"/>
                </a:solidFill>
              </a:rPr>
              <a:t>Mean query latency</a:t>
            </a:r>
          </a:p>
        </p:txBody>
      </p:sp>
      <p:sp>
        <p:nvSpPr>
          <p:cNvPr id="10" name="Rectangle 9">
            <a:extLst>
              <a:ext uri="{FF2B5EF4-FFF2-40B4-BE49-F238E27FC236}">
                <a16:creationId xmlns:a16="http://schemas.microsoft.com/office/drawing/2014/main" id="{9CDBA159-D151-4E85-B2F9-E15C07CAA11D}"/>
              </a:ext>
            </a:extLst>
          </p:cNvPr>
          <p:cNvSpPr>
            <a:spLocks noGrp="1"/>
          </p:cNvSpPr>
          <p:nvPr/>
        </p:nvSpPr>
        <p:spPr>
          <a:xfrm>
            <a:off x="7334250" y="2381250"/>
            <a:ext cx="742950" cy="209550"/>
          </a:xfrm>
          <a:prstGeom prst="rect">
            <a:avLst/>
          </a:prstGeom>
          <a:noFill/>
          <a:ln w="0">
            <a:noFill/>
            <a:prstDash val="solid"/>
          </a:ln>
        </p:spPr>
        <p:txBody>
          <a:bodyPr anchor="ctr"/>
          <a:lstStyle>
            <a:defPPr algn="l">
              <a:defRPr sz="1125" b="1">
                <a:solidFill>
                  <a:srgbClr val="1D2A3B"/>
                </a:solidFill>
              </a:defRPr>
            </a:defPPr>
            <a:lvl1pPr algn="l">
              <a:buNone/>
              <a:defRPr sz="1125" b="1">
                <a:solidFill>
                  <a:srgbClr val="1D2A3B"/>
                </a:solidFill>
              </a:defRPr>
            </a:lvl1pPr>
            <a:lvl2pPr algn="l">
              <a:buNone/>
              <a:defRPr sz="1125" b="1">
                <a:solidFill>
                  <a:srgbClr val="1D2A3B"/>
                </a:solidFill>
              </a:defRPr>
            </a:lvl2pPr>
            <a:lvl3pPr algn="l">
              <a:buNone/>
              <a:defRPr sz="1125" b="1">
                <a:solidFill>
                  <a:srgbClr val="1D2A3B"/>
                </a:solidFill>
              </a:defRPr>
            </a:lvl3pPr>
            <a:lvl4pPr algn="l">
              <a:buNone/>
              <a:defRPr sz="1125" b="1">
                <a:solidFill>
                  <a:srgbClr val="1D2A3B"/>
                </a:solidFill>
              </a:defRPr>
            </a:lvl4pPr>
            <a:lvl5pPr algn="l">
              <a:buNone/>
              <a:defRPr sz="1125" b="1">
                <a:solidFill>
                  <a:srgbClr val="1D2A3B"/>
                </a:solidFill>
              </a:defRPr>
            </a:lvl5pPr>
            <a:lvl6pPr algn="l">
              <a:buNone/>
              <a:defRPr sz="1125" b="1">
                <a:solidFill>
                  <a:srgbClr val="1D2A3B"/>
                </a:solidFill>
              </a:defRPr>
            </a:lvl6pPr>
            <a:lvl7pPr algn="l">
              <a:buNone/>
              <a:defRPr sz="1125" b="1">
                <a:solidFill>
                  <a:srgbClr val="1D2A3B"/>
                </a:solidFill>
              </a:defRPr>
            </a:lvl7pPr>
            <a:lvl8pPr algn="l">
              <a:buNone/>
              <a:defRPr sz="1125" b="1">
                <a:solidFill>
                  <a:srgbClr val="1D2A3B"/>
                </a:solidFill>
              </a:defRPr>
            </a:lvl8pPr>
            <a:lvl9pPr algn="l">
              <a:buNone/>
              <a:defRPr sz="1125" b="1">
                <a:solidFill>
                  <a:srgbClr val="1D2A3B"/>
                </a:solidFill>
              </a:defRPr>
            </a:lvl9pPr>
          </a:lstStyle>
          <a:p>
            <a:pPr algn="l">
              <a:buNone/>
              <a:defRPr sz="1125" b="1">
                <a:solidFill>
                  <a:srgbClr val="1D2A3B"/>
                </a:solidFill>
              </a:defRPr>
            </a:pPr>
            <a:r>
              <a:rPr sz="1125" b="1">
                <a:solidFill>
                  <a:srgbClr val="1D2A3B"/>
                </a:solidFill>
              </a:rPr>
              <a:t>1-hop</a:t>
            </a:r>
          </a:p>
        </p:txBody>
      </p:sp>
      <p:sp>
        <p:nvSpPr>
          <p:cNvPr id="11" name="Rectangle: Rounded Corners 10">
            <a:extLst>
              <a:ext uri="{FF2B5EF4-FFF2-40B4-BE49-F238E27FC236}">
                <a16:creationId xmlns:a16="http://schemas.microsoft.com/office/drawing/2014/main" id="{E75D93F3-637D-4C5C-B7E4-1B38E4BABA8E}"/>
              </a:ext>
            </a:extLst>
          </p:cNvPr>
          <p:cNvSpPr>
            <a:spLocks noGrp="1"/>
          </p:cNvSpPr>
          <p:nvPr/>
        </p:nvSpPr>
        <p:spPr>
          <a:xfrm>
            <a:off x="8115300" y="2400300"/>
            <a:ext cx="2476500" cy="152400"/>
          </a:xfrm>
          <a:prstGeom prst="roundRect">
            <a:avLst>
              <a:gd name="adj" fmla="val 50000"/>
            </a:avLst>
          </a:prstGeom>
          <a:solidFill>
            <a:srgbClr val="E3EAF2"/>
          </a:solidFill>
          <a:ln w="0">
            <a:noFill/>
            <a:prstDash val="solid"/>
          </a:ln>
        </p:spPr>
      </p:sp>
      <p:sp>
        <p:nvSpPr>
          <p:cNvPr id="12" name="Rectangle: Rounded Corners 11">
            <a:extLst>
              <a:ext uri="{FF2B5EF4-FFF2-40B4-BE49-F238E27FC236}">
                <a16:creationId xmlns:a16="http://schemas.microsoft.com/office/drawing/2014/main" id="{EC165076-91EB-4CCA-B137-DD78D46F340D}"/>
              </a:ext>
            </a:extLst>
          </p:cNvPr>
          <p:cNvSpPr>
            <a:spLocks noGrp="1"/>
          </p:cNvSpPr>
          <p:nvPr/>
        </p:nvSpPr>
        <p:spPr>
          <a:xfrm>
            <a:off x="8115300" y="2400300"/>
            <a:ext cx="28575" cy="152400"/>
          </a:xfrm>
          <a:prstGeom prst="roundRect">
            <a:avLst>
              <a:gd name="adj" fmla="val 50000"/>
            </a:avLst>
          </a:prstGeom>
          <a:solidFill>
            <a:srgbClr val="2356A8"/>
          </a:solidFill>
          <a:ln w="0">
            <a:noFill/>
            <a:prstDash val="solid"/>
          </a:ln>
        </p:spPr>
      </p:sp>
      <p:sp>
        <p:nvSpPr>
          <p:cNvPr id="13" name="Rectangle 12">
            <a:extLst>
              <a:ext uri="{FF2B5EF4-FFF2-40B4-BE49-F238E27FC236}">
                <a16:creationId xmlns:a16="http://schemas.microsoft.com/office/drawing/2014/main" id="{0395EDE9-46AC-495B-A99E-28339A2DCA17}"/>
              </a:ext>
            </a:extLst>
          </p:cNvPr>
          <p:cNvSpPr>
            <a:spLocks noGrp="1"/>
          </p:cNvSpPr>
          <p:nvPr/>
        </p:nvSpPr>
        <p:spPr>
          <a:xfrm>
            <a:off x="10668000" y="2362200"/>
            <a:ext cx="800100" cy="228600"/>
          </a:xfrm>
          <a:prstGeom prst="rect">
            <a:avLst/>
          </a:prstGeom>
          <a:noFill/>
          <a:ln w="0">
            <a:noFill/>
            <a:prstDash val="solid"/>
          </a:ln>
        </p:spPr>
        <p:txBody>
          <a:bodyPr anchor="ctr"/>
          <a:lstStyle>
            <a:defPPr algn="r">
              <a:defRPr sz="1125" b="1">
                <a:solidFill>
                  <a:srgbClr val="14233F"/>
                </a:solidFill>
              </a:defRPr>
            </a:defPPr>
            <a:lvl1pPr algn="r">
              <a:buNone/>
              <a:defRPr sz="1125" b="1">
                <a:solidFill>
                  <a:srgbClr val="14233F"/>
                </a:solidFill>
              </a:defRPr>
            </a:lvl1pPr>
            <a:lvl2pPr algn="r">
              <a:buNone/>
              <a:defRPr sz="1125" b="1">
                <a:solidFill>
                  <a:srgbClr val="14233F"/>
                </a:solidFill>
              </a:defRPr>
            </a:lvl2pPr>
            <a:lvl3pPr algn="r">
              <a:buNone/>
              <a:defRPr sz="1125" b="1">
                <a:solidFill>
                  <a:srgbClr val="14233F"/>
                </a:solidFill>
              </a:defRPr>
            </a:lvl3pPr>
            <a:lvl4pPr algn="r">
              <a:buNone/>
              <a:defRPr sz="1125" b="1">
                <a:solidFill>
                  <a:srgbClr val="14233F"/>
                </a:solidFill>
              </a:defRPr>
            </a:lvl4pPr>
            <a:lvl5pPr algn="r">
              <a:buNone/>
              <a:defRPr sz="1125" b="1">
                <a:solidFill>
                  <a:srgbClr val="14233F"/>
                </a:solidFill>
              </a:defRPr>
            </a:lvl5pPr>
            <a:lvl6pPr algn="r">
              <a:buNone/>
              <a:defRPr sz="1125" b="1">
                <a:solidFill>
                  <a:srgbClr val="14233F"/>
                </a:solidFill>
              </a:defRPr>
            </a:lvl6pPr>
            <a:lvl7pPr algn="r">
              <a:buNone/>
              <a:defRPr sz="1125" b="1">
                <a:solidFill>
                  <a:srgbClr val="14233F"/>
                </a:solidFill>
              </a:defRPr>
            </a:lvl7pPr>
            <a:lvl8pPr algn="r">
              <a:buNone/>
              <a:defRPr sz="1125" b="1">
                <a:solidFill>
                  <a:srgbClr val="14233F"/>
                </a:solidFill>
              </a:defRPr>
            </a:lvl8pPr>
            <a:lvl9pPr algn="r">
              <a:buNone/>
              <a:defRPr sz="1125" b="1">
                <a:solidFill>
                  <a:srgbClr val="14233F"/>
                </a:solidFill>
              </a:defRPr>
            </a:lvl9pPr>
          </a:lstStyle>
          <a:p>
            <a:pPr algn="r">
              <a:buNone/>
              <a:defRPr sz="1125" b="1">
                <a:solidFill>
                  <a:srgbClr val="14233F"/>
                </a:solidFill>
              </a:defRPr>
            </a:pPr>
            <a:r>
              <a:rPr sz="1125" b="1">
                <a:solidFill>
                  <a:srgbClr val="14233F"/>
                </a:solidFill>
              </a:rPr>
              <a:t>166 ms</a:t>
            </a:r>
          </a:p>
        </p:txBody>
      </p:sp>
      <p:sp>
        <p:nvSpPr>
          <p:cNvPr id="14" name="Rectangle 13">
            <a:extLst>
              <a:ext uri="{FF2B5EF4-FFF2-40B4-BE49-F238E27FC236}">
                <a16:creationId xmlns:a16="http://schemas.microsoft.com/office/drawing/2014/main" id="{1364BEE5-0FDA-4E08-84D1-2CDE28DD72B2}"/>
              </a:ext>
            </a:extLst>
          </p:cNvPr>
          <p:cNvSpPr>
            <a:spLocks noGrp="1"/>
          </p:cNvSpPr>
          <p:nvPr/>
        </p:nvSpPr>
        <p:spPr>
          <a:xfrm>
            <a:off x="7334250" y="3105150"/>
            <a:ext cx="742950" cy="209550"/>
          </a:xfrm>
          <a:prstGeom prst="rect">
            <a:avLst/>
          </a:prstGeom>
          <a:noFill/>
          <a:ln w="0">
            <a:noFill/>
            <a:prstDash val="solid"/>
          </a:ln>
        </p:spPr>
        <p:txBody>
          <a:bodyPr anchor="ctr"/>
          <a:lstStyle>
            <a:defPPr algn="l">
              <a:defRPr sz="1125" b="1">
                <a:solidFill>
                  <a:srgbClr val="1D2A3B"/>
                </a:solidFill>
              </a:defRPr>
            </a:defPPr>
            <a:lvl1pPr algn="l">
              <a:buNone/>
              <a:defRPr sz="1125" b="1">
                <a:solidFill>
                  <a:srgbClr val="1D2A3B"/>
                </a:solidFill>
              </a:defRPr>
            </a:lvl1pPr>
            <a:lvl2pPr algn="l">
              <a:buNone/>
              <a:defRPr sz="1125" b="1">
                <a:solidFill>
                  <a:srgbClr val="1D2A3B"/>
                </a:solidFill>
              </a:defRPr>
            </a:lvl2pPr>
            <a:lvl3pPr algn="l">
              <a:buNone/>
              <a:defRPr sz="1125" b="1">
                <a:solidFill>
                  <a:srgbClr val="1D2A3B"/>
                </a:solidFill>
              </a:defRPr>
            </a:lvl3pPr>
            <a:lvl4pPr algn="l">
              <a:buNone/>
              <a:defRPr sz="1125" b="1">
                <a:solidFill>
                  <a:srgbClr val="1D2A3B"/>
                </a:solidFill>
              </a:defRPr>
            </a:lvl4pPr>
            <a:lvl5pPr algn="l">
              <a:buNone/>
              <a:defRPr sz="1125" b="1">
                <a:solidFill>
                  <a:srgbClr val="1D2A3B"/>
                </a:solidFill>
              </a:defRPr>
            </a:lvl5pPr>
            <a:lvl6pPr algn="l">
              <a:buNone/>
              <a:defRPr sz="1125" b="1">
                <a:solidFill>
                  <a:srgbClr val="1D2A3B"/>
                </a:solidFill>
              </a:defRPr>
            </a:lvl6pPr>
            <a:lvl7pPr algn="l">
              <a:buNone/>
              <a:defRPr sz="1125" b="1">
                <a:solidFill>
                  <a:srgbClr val="1D2A3B"/>
                </a:solidFill>
              </a:defRPr>
            </a:lvl7pPr>
            <a:lvl8pPr algn="l">
              <a:buNone/>
              <a:defRPr sz="1125" b="1">
                <a:solidFill>
                  <a:srgbClr val="1D2A3B"/>
                </a:solidFill>
              </a:defRPr>
            </a:lvl8pPr>
            <a:lvl9pPr algn="l">
              <a:buNone/>
              <a:defRPr sz="1125" b="1">
                <a:solidFill>
                  <a:srgbClr val="1D2A3B"/>
                </a:solidFill>
              </a:defRPr>
            </a:lvl9pPr>
          </a:lstStyle>
          <a:p>
            <a:pPr algn="l">
              <a:buNone/>
              <a:defRPr sz="1125" b="1">
                <a:solidFill>
                  <a:srgbClr val="1D2A3B"/>
                </a:solidFill>
              </a:defRPr>
            </a:pPr>
            <a:r>
              <a:rPr sz="1125" b="1">
                <a:solidFill>
                  <a:srgbClr val="1D2A3B"/>
                </a:solidFill>
              </a:rPr>
              <a:t>2-hop</a:t>
            </a:r>
          </a:p>
        </p:txBody>
      </p:sp>
      <p:sp>
        <p:nvSpPr>
          <p:cNvPr id="15" name="Rectangle: Rounded Corners 14">
            <a:extLst>
              <a:ext uri="{FF2B5EF4-FFF2-40B4-BE49-F238E27FC236}">
                <a16:creationId xmlns:a16="http://schemas.microsoft.com/office/drawing/2014/main" id="{3C99949A-0E62-4CAA-91E4-72EBC15123CC}"/>
              </a:ext>
            </a:extLst>
          </p:cNvPr>
          <p:cNvSpPr>
            <a:spLocks noGrp="1"/>
          </p:cNvSpPr>
          <p:nvPr/>
        </p:nvSpPr>
        <p:spPr>
          <a:xfrm>
            <a:off x="8115300" y="3124200"/>
            <a:ext cx="2476500" cy="152400"/>
          </a:xfrm>
          <a:prstGeom prst="roundRect">
            <a:avLst>
              <a:gd name="adj" fmla="val 50000"/>
            </a:avLst>
          </a:prstGeom>
          <a:solidFill>
            <a:srgbClr val="E3EAF2"/>
          </a:solidFill>
          <a:ln w="0">
            <a:noFill/>
            <a:prstDash val="solid"/>
          </a:ln>
        </p:spPr>
      </p:sp>
      <p:sp>
        <p:nvSpPr>
          <p:cNvPr id="16" name="Rectangle: Rounded Corners 15">
            <a:extLst>
              <a:ext uri="{FF2B5EF4-FFF2-40B4-BE49-F238E27FC236}">
                <a16:creationId xmlns:a16="http://schemas.microsoft.com/office/drawing/2014/main" id="{BA90829B-3FD3-4EFB-AE4D-66B2E1F85067}"/>
              </a:ext>
            </a:extLst>
          </p:cNvPr>
          <p:cNvSpPr>
            <a:spLocks noGrp="1"/>
          </p:cNvSpPr>
          <p:nvPr/>
        </p:nvSpPr>
        <p:spPr>
          <a:xfrm>
            <a:off x="8115300" y="3124200"/>
            <a:ext cx="485902" cy="152400"/>
          </a:xfrm>
          <a:prstGeom prst="roundRect">
            <a:avLst>
              <a:gd name="adj" fmla="val 50000"/>
            </a:avLst>
          </a:prstGeom>
          <a:solidFill>
            <a:srgbClr val="20A4B7"/>
          </a:solidFill>
          <a:ln w="0">
            <a:noFill/>
            <a:prstDash val="solid"/>
          </a:ln>
        </p:spPr>
      </p:sp>
      <p:sp>
        <p:nvSpPr>
          <p:cNvPr id="17" name="Rectangle 16">
            <a:extLst>
              <a:ext uri="{FF2B5EF4-FFF2-40B4-BE49-F238E27FC236}">
                <a16:creationId xmlns:a16="http://schemas.microsoft.com/office/drawing/2014/main" id="{C3112F87-DA24-4CD7-A691-4DEF96793AE0}"/>
              </a:ext>
            </a:extLst>
          </p:cNvPr>
          <p:cNvSpPr>
            <a:spLocks noGrp="1"/>
          </p:cNvSpPr>
          <p:nvPr/>
        </p:nvSpPr>
        <p:spPr>
          <a:xfrm>
            <a:off x="10668000" y="3086100"/>
            <a:ext cx="800100" cy="228600"/>
          </a:xfrm>
          <a:prstGeom prst="rect">
            <a:avLst/>
          </a:prstGeom>
          <a:noFill/>
          <a:ln w="0">
            <a:noFill/>
            <a:prstDash val="solid"/>
          </a:ln>
        </p:spPr>
        <p:txBody>
          <a:bodyPr anchor="ctr"/>
          <a:lstStyle>
            <a:defPPr algn="r">
              <a:defRPr sz="1125" b="1">
                <a:solidFill>
                  <a:srgbClr val="14233F"/>
                </a:solidFill>
              </a:defRPr>
            </a:defPPr>
            <a:lvl1pPr algn="r">
              <a:buNone/>
              <a:defRPr sz="1125" b="1">
                <a:solidFill>
                  <a:srgbClr val="14233F"/>
                </a:solidFill>
              </a:defRPr>
            </a:lvl1pPr>
            <a:lvl2pPr algn="r">
              <a:buNone/>
              <a:defRPr sz="1125" b="1">
                <a:solidFill>
                  <a:srgbClr val="14233F"/>
                </a:solidFill>
              </a:defRPr>
            </a:lvl2pPr>
            <a:lvl3pPr algn="r">
              <a:buNone/>
              <a:defRPr sz="1125" b="1">
                <a:solidFill>
                  <a:srgbClr val="14233F"/>
                </a:solidFill>
              </a:defRPr>
            </a:lvl3pPr>
            <a:lvl4pPr algn="r">
              <a:buNone/>
              <a:defRPr sz="1125" b="1">
                <a:solidFill>
                  <a:srgbClr val="14233F"/>
                </a:solidFill>
              </a:defRPr>
            </a:lvl4pPr>
            <a:lvl5pPr algn="r">
              <a:buNone/>
              <a:defRPr sz="1125" b="1">
                <a:solidFill>
                  <a:srgbClr val="14233F"/>
                </a:solidFill>
              </a:defRPr>
            </a:lvl5pPr>
            <a:lvl6pPr algn="r">
              <a:buNone/>
              <a:defRPr sz="1125" b="1">
                <a:solidFill>
                  <a:srgbClr val="14233F"/>
                </a:solidFill>
              </a:defRPr>
            </a:lvl6pPr>
            <a:lvl7pPr algn="r">
              <a:buNone/>
              <a:defRPr sz="1125" b="1">
                <a:solidFill>
                  <a:srgbClr val="14233F"/>
                </a:solidFill>
              </a:defRPr>
            </a:lvl7pPr>
            <a:lvl8pPr algn="r">
              <a:buNone/>
              <a:defRPr sz="1125" b="1">
                <a:solidFill>
                  <a:srgbClr val="14233F"/>
                </a:solidFill>
              </a:defRPr>
            </a:lvl8pPr>
            <a:lvl9pPr algn="r">
              <a:buNone/>
              <a:defRPr sz="1125" b="1">
                <a:solidFill>
                  <a:srgbClr val="14233F"/>
                </a:solidFill>
              </a:defRPr>
            </a:lvl9pPr>
          </a:lstStyle>
          <a:p>
            <a:pPr algn="r">
              <a:buNone/>
              <a:defRPr sz="1125" b="1">
                <a:solidFill>
                  <a:srgbClr val="14233F"/>
                </a:solidFill>
              </a:defRPr>
            </a:pPr>
            <a:r>
              <a:rPr sz="1125" b="1">
                <a:solidFill>
                  <a:srgbClr val="14233F"/>
                </a:solidFill>
              </a:rPr>
              <a:t>3.75 s</a:t>
            </a:r>
          </a:p>
        </p:txBody>
      </p:sp>
      <p:sp>
        <p:nvSpPr>
          <p:cNvPr id="18" name="Rectangle 17">
            <a:extLst>
              <a:ext uri="{FF2B5EF4-FFF2-40B4-BE49-F238E27FC236}">
                <a16:creationId xmlns:a16="http://schemas.microsoft.com/office/drawing/2014/main" id="{69ECB5BE-F047-4747-A2B7-5DDFFAADB0E9}"/>
              </a:ext>
            </a:extLst>
          </p:cNvPr>
          <p:cNvSpPr>
            <a:spLocks noGrp="1"/>
          </p:cNvSpPr>
          <p:nvPr/>
        </p:nvSpPr>
        <p:spPr>
          <a:xfrm>
            <a:off x="7334250" y="3829050"/>
            <a:ext cx="742950" cy="209550"/>
          </a:xfrm>
          <a:prstGeom prst="rect">
            <a:avLst/>
          </a:prstGeom>
          <a:noFill/>
          <a:ln w="0">
            <a:noFill/>
            <a:prstDash val="solid"/>
          </a:ln>
        </p:spPr>
        <p:txBody>
          <a:bodyPr anchor="ctr"/>
          <a:lstStyle>
            <a:defPPr algn="l">
              <a:defRPr sz="1125" b="1">
                <a:solidFill>
                  <a:srgbClr val="1D2A3B"/>
                </a:solidFill>
              </a:defRPr>
            </a:defPPr>
            <a:lvl1pPr algn="l">
              <a:buNone/>
              <a:defRPr sz="1125" b="1">
                <a:solidFill>
                  <a:srgbClr val="1D2A3B"/>
                </a:solidFill>
              </a:defRPr>
            </a:lvl1pPr>
            <a:lvl2pPr algn="l">
              <a:buNone/>
              <a:defRPr sz="1125" b="1">
                <a:solidFill>
                  <a:srgbClr val="1D2A3B"/>
                </a:solidFill>
              </a:defRPr>
            </a:lvl2pPr>
            <a:lvl3pPr algn="l">
              <a:buNone/>
              <a:defRPr sz="1125" b="1">
                <a:solidFill>
                  <a:srgbClr val="1D2A3B"/>
                </a:solidFill>
              </a:defRPr>
            </a:lvl3pPr>
            <a:lvl4pPr algn="l">
              <a:buNone/>
              <a:defRPr sz="1125" b="1">
                <a:solidFill>
                  <a:srgbClr val="1D2A3B"/>
                </a:solidFill>
              </a:defRPr>
            </a:lvl4pPr>
            <a:lvl5pPr algn="l">
              <a:buNone/>
              <a:defRPr sz="1125" b="1">
                <a:solidFill>
                  <a:srgbClr val="1D2A3B"/>
                </a:solidFill>
              </a:defRPr>
            </a:lvl5pPr>
            <a:lvl6pPr algn="l">
              <a:buNone/>
              <a:defRPr sz="1125" b="1">
                <a:solidFill>
                  <a:srgbClr val="1D2A3B"/>
                </a:solidFill>
              </a:defRPr>
            </a:lvl6pPr>
            <a:lvl7pPr algn="l">
              <a:buNone/>
              <a:defRPr sz="1125" b="1">
                <a:solidFill>
                  <a:srgbClr val="1D2A3B"/>
                </a:solidFill>
              </a:defRPr>
            </a:lvl7pPr>
            <a:lvl8pPr algn="l">
              <a:buNone/>
              <a:defRPr sz="1125" b="1">
                <a:solidFill>
                  <a:srgbClr val="1D2A3B"/>
                </a:solidFill>
              </a:defRPr>
            </a:lvl8pPr>
            <a:lvl9pPr algn="l">
              <a:buNone/>
              <a:defRPr sz="1125" b="1">
                <a:solidFill>
                  <a:srgbClr val="1D2A3B"/>
                </a:solidFill>
              </a:defRPr>
            </a:lvl9pPr>
          </a:lstStyle>
          <a:p>
            <a:pPr algn="l">
              <a:buNone/>
              <a:defRPr sz="1125" b="1">
                <a:solidFill>
                  <a:srgbClr val="1D2A3B"/>
                </a:solidFill>
              </a:defRPr>
            </a:pPr>
            <a:r>
              <a:rPr sz="1125" b="1">
                <a:solidFill>
                  <a:srgbClr val="1D2A3B"/>
                </a:solidFill>
              </a:rPr>
              <a:t>3-hop</a:t>
            </a:r>
          </a:p>
        </p:txBody>
      </p:sp>
      <p:sp>
        <p:nvSpPr>
          <p:cNvPr id="19" name="Rectangle: Rounded Corners 18">
            <a:extLst>
              <a:ext uri="{FF2B5EF4-FFF2-40B4-BE49-F238E27FC236}">
                <a16:creationId xmlns:a16="http://schemas.microsoft.com/office/drawing/2014/main" id="{A8F3A70F-BA78-41A6-A613-BB6A91CBA044}"/>
              </a:ext>
            </a:extLst>
          </p:cNvPr>
          <p:cNvSpPr>
            <a:spLocks noGrp="1"/>
          </p:cNvSpPr>
          <p:nvPr/>
        </p:nvSpPr>
        <p:spPr>
          <a:xfrm>
            <a:off x="8115300" y="3848100"/>
            <a:ext cx="2476500" cy="152400"/>
          </a:xfrm>
          <a:prstGeom prst="roundRect">
            <a:avLst>
              <a:gd name="adj" fmla="val 50000"/>
            </a:avLst>
          </a:prstGeom>
          <a:solidFill>
            <a:srgbClr val="E3EAF2"/>
          </a:solidFill>
          <a:ln w="0">
            <a:noFill/>
            <a:prstDash val="solid"/>
          </a:ln>
        </p:spPr>
      </p:sp>
      <p:sp>
        <p:nvSpPr>
          <p:cNvPr id="20" name="Rectangle: Rounded Corners 19">
            <a:extLst>
              <a:ext uri="{FF2B5EF4-FFF2-40B4-BE49-F238E27FC236}">
                <a16:creationId xmlns:a16="http://schemas.microsoft.com/office/drawing/2014/main" id="{E4E43B3E-3E32-4372-BFF4-DBDF64F16731}"/>
              </a:ext>
            </a:extLst>
          </p:cNvPr>
          <p:cNvSpPr>
            <a:spLocks noGrp="1"/>
          </p:cNvSpPr>
          <p:nvPr/>
        </p:nvSpPr>
        <p:spPr>
          <a:xfrm>
            <a:off x="8115300" y="3848100"/>
            <a:ext cx="2476500" cy="152400"/>
          </a:xfrm>
          <a:prstGeom prst="roundRect">
            <a:avLst>
              <a:gd name="adj" fmla="val 50000"/>
            </a:avLst>
          </a:prstGeom>
          <a:solidFill>
            <a:srgbClr val="D35D72"/>
          </a:solidFill>
          <a:ln w="0">
            <a:noFill/>
            <a:prstDash val="solid"/>
          </a:ln>
        </p:spPr>
      </p:sp>
      <p:sp>
        <p:nvSpPr>
          <p:cNvPr id="21" name="Rectangle 20">
            <a:extLst>
              <a:ext uri="{FF2B5EF4-FFF2-40B4-BE49-F238E27FC236}">
                <a16:creationId xmlns:a16="http://schemas.microsoft.com/office/drawing/2014/main" id="{38E305B1-A0D2-4370-A780-B1D561F3493A}"/>
              </a:ext>
            </a:extLst>
          </p:cNvPr>
          <p:cNvSpPr>
            <a:spLocks noGrp="1"/>
          </p:cNvSpPr>
          <p:nvPr/>
        </p:nvSpPr>
        <p:spPr>
          <a:xfrm>
            <a:off x="10668000" y="3810000"/>
            <a:ext cx="800100" cy="228600"/>
          </a:xfrm>
          <a:prstGeom prst="rect">
            <a:avLst/>
          </a:prstGeom>
          <a:noFill/>
          <a:ln w="0">
            <a:noFill/>
            <a:prstDash val="solid"/>
          </a:ln>
        </p:spPr>
        <p:txBody>
          <a:bodyPr anchor="ctr"/>
          <a:lstStyle>
            <a:defPPr algn="r">
              <a:defRPr sz="1125" b="1">
                <a:solidFill>
                  <a:srgbClr val="14233F"/>
                </a:solidFill>
              </a:defRPr>
            </a:defPPr>
            <a:lvl1pPr algn="r">
              <a:buNone/>
              <a:defRPr sz="1125" b="1">
                <a:solidFill>
                  <a:srgbClr val="14233F"/>
                </a:solidFill>
              </a:defRPr>
            </a:lvl1pPr>
            <a:lvl2pPr algn="r">
              <a:buNone/>
              <a:defRPr sz="1125" b="1">
                <a:solidFill>
                  <a:srgbClr val="14233F"/>
                </a:solidFill>
              </a:defRPr>
            </a:lvl2pPr>
            <a:lvl3pPr algn="r">
              <a:buNone/>
              <a:defRPr sz="1125" b="1">
                <a:solidFill>
                  <a:srgbClr val="14233F"/>
                </a:solidFill>
              </a:defRPr>
            </a:lvl3pPr>
            <a:lvl4pPr algn="r">
              <a:buNone/>
              <a:defRPr sz="1125" b="1">
                <a:solidFill>
                  <a:srgbClr val="14233F"/>
                </a:solidFill>
              </a:defRPr>
            </a:lvl4pPr>
            <a:lvl5pPr algn="r">
              <a:buNone/>
              <a:defRPr sz="1125" b="1">
                <a:solidFill>
                  <a:srgbClr val="14233F"/>
                </a:solidFill>
              </a:defRPr>
            </a:lvl5pPr>
            <a:lvl6pPr algn="r">
              <a:buNone/>
              <a:defRPr sz="1125" b="1">
                <a:solidFill>
                  <a:srgbClr val="14233F"/>
                </a:solidFill>
              </a:defRPr>
            </a:lvl6pPr>
            <a:lvl7pPr algn="r">
              <a:buNone/>
              <a:defRPr sz="1125" b="1">
                <a:solidFill>
                  <a:srgbClr val="14233F"/>
                </a:solidFill>
              </a:defRPr>
            </a:lvl7pPr>
            <a:lvl8pPr algn="r">
              <a:buNone/>
              <a:defRPr sz="1125" b="1">
                <a:solidFill>
                  <a:srgbClr val="14233F"/>
                </a:solidFill>
              </a:defRPr>
            </a:lvl8pPr>
            <a:lvl9pPr algn="r">
              <a:buNone/>
              <a:defRPr sz="1125" b="1">
                <a:solidFill>
                  <a:srgbClr val="14233F"/>
                </a:solidFill>
              </a:defRPr>
            </a:lvl9pPr>
          </a:lstStyle>
          <a:p>
            <a:pPr algn="r">
              <a:buNone/>
              <a:defRPr sz="1125" b="1">
                <a:solidFill>
                  <a:srgbClr val="14233F"/>
                </a:solidFill>
              </a:defRPr>
            </a:pPr>
            <a:r>
              <a:rPr sz="1125" b="1">
                <a:solidFill>
                  <a:srgbClr val="14233F"/>
                </a:solidFill>
              </a:rPr>
              <a:t>19.13 s</a:t>
            </a:r>
          </a:p>
        </p:txBody>
      </p:sp>
      <p:sp>
        <p:nvSpPr>
          <p:cNvPr id="22" name="Rectangle 21">
            <a:extLst>
              <a:ext uri="{FF2B5EF4-FFF2-40B4-BE49-F238E27FC236}">
                <a16:creationId xmlns:a16="http://schemas.microsoft.com/office/drawing/2014/main" id="{BC27C3CB-11BD-4793-862D-EB4A3C9C2936}"/>
              </a:ext>
            </a:extLst>
          </p:cNvPr>
          <p:cNvSpPr>
            <a:spLocks noGrp="1"/>
          </p:cNvSpPr>
          <p:nvPr/>
        </p:nvSpPr>
        <p:spPr>
          <a:xfrm>
            <a:off x="7334250" y="4657725"/>
            <a:ext cx="4095750" cy="400050"/>
          </a:xfrm>
          <a:prstGeom prst="rect">
            <a:avLst/>
          </a:prstGeom>
          <a:noFill/>
          <a:ln w="0">
            <a:noFill/>
            <a:prstDash val="solid"/>
          </a:ln>
        </p:spPr>
        <p:txBody>
          <a:bodyPr anchor="ctr"/>
          <a:lstStyle>
            <a:defPPr algn="l">
              <a:defRPr sz="1200" b="1">
                <a:solidFill>
                  <a:srgbClr val="14233F"/>
                </a:solidFill>
              </a:defRPr>
            </a:defPPr>
            <a:lvl1pPr algn="l">
              <a:buNone/>
              <a:defRPr sz="1200" b="1">
                <a:solidFill>
                  <a:srgbClr val="14233F"/>
                </a:solidFill>
              </a:defRPr>
            </a:lvl1pPr>
            <a:lvl2pPr algn="l">
              <a:buNone/>
              <a:defRPr sz="1200" b="1">
                <a:solidFill>
                  <a:srgbClr val="14233F"/>
                </a:solidFill>
              </a:defRPr>
            </a:lvl2pPr>
            <a:lvl3pPr algn="l">
              <a:buNone/>
              <a:defRPr sz="1200" b="1">
                <a:solidFill>
                  <a:srgbClr val="14233F"/>
                </a:solidFill>
              </a:defRPr>
            </a:lvl3pPr>
            <a:lvl4pPr algn="l">
              <a:buNone/>
              <a:defRPr sz="1200" b="1">
                <a:solidFill>
                  <a:srgbClr val="14233F"/>
                </a:solidFill>
              </a:defRPr>
            </a:lvl4pPr>
            <a:lvl5pPr algn="l">
              <a:buNone/>
              <a:defRPr sz="1200" b="1">
                <a:solidFill>
                  <a:srgbClr val="14233F"/>
                </a:solidFill>
              </a:defRPr>
            </a:lvl5pPr>
            <a:lvl6pPr algn="l">
              <a:buNone/>
              <a:defRPr sz="1200" b="1">
                <a:solidFill>
                  <a:srgbClr val="14233F"/>
                </a:solidFill>
              </a:defRPr>
            </a:lvl6pPr>
            <a:lvl7pPr algn="l">
              <a:buNone/>
              <a:defRPr sz="1200" b="1">
                <a:solidFill>
                  <a:srgbClr val="14233F"/>
                </a:solidFill>
              </a:defRPr>
            </a:lvl7pPr>
            <a:lvl8pPr algn="l">
              <a:buNone/>
              <a:defRPr sz="1200" b="1">
                <a:solidFill>
                  <a:srgbClr val="14233F"/>
                </a:solidFill>
              </a:defRPr>
            </a:lvl8pPr>
            <a:lvl9pPr algn="l">
              <a:buNone/>
              <a:defRPr sz="1200" b="1">
                <a:solidFill>
                  <a:srgbClr val="14233F"/>
                </a:solidFill>
              </a:defRPr>
            </a:lvl9pPr>
          </a:lstStyle>
          <a:p>
            <a:pPr algn="l">
              <a:buNone/>
              <a:defRPr sz="1200" b="1">
                <a:solidFill>
                  <a:srgbClr val="14233F"/>
                </a:solidFill>
              </a:defRPr>
            </a:pPr>
            <a:r>
              <a:rPr sz="1200" b="1">
                <a:solidFill>
                  <a:srgbClr val="14233F"/>
                </a:solidFill>
              </a:rPr>
              <a:t>Overall: EM 74.51% (76/102)  ·  Token F1 83.54%  ·  mean 7.68 s/query</a:t>
            </a:r>
          </a:p>
        </p:txBody>
      </p:sp>
      <p:sp>
        <p:nvSpPr>
          <p:cNvPr id="23" name="Rectangle: Rounded Corners 22">
            <a:extLst>
              <a:ext uri="{FF2B5EF4-FFF2-40B4-BE49-F238E27FC236}">
                <a16:creationId xmlns:a16="http://schemas.microsoft.com/office/drawing/2014/main" id="{74B8D35A-BFEC-4AD3-A8A1-305464347C51}"/>
              </a:ext>
            </a:extLst>
          </p:cNvPr>
          <p:cNvSpPr>
            <a:spLocks noGrp="1"/>
          </p:cNvSpPr>
          <p:nvPr/>
        </p:nvSpPr>
        <p:spPr>
          <a:xfrm>
            <a:off x="7334250" y="5219700"/>
            <a:ext cx="4095750" cy="657225"/>
          </a:xfrm>
          <a:prstGeom prst="roundRect">
            <a:avLst>
              <a:gd name="adj" fmla="val 11594"/>
            </a:avLst>
          </a:prstGeom>
          <a:solidFill>
            <a:srgbClr val="FFF3E2"/>
          </a:solidFill>
          <a:ln w="0">
            <a:noFill/>
            <a:prstDash val="solid"/>
          </a:ln>
        </p:spPr>
      </p:sp>
      <p:sp>
        <p:nvSpPr>
          <p:cNvPr id="24" name="Rectangle 23">
            <a:extLst>
              <a:ext uri="{FF2B5EF4-FFF2-40B4-BE49-F238E27FC236}">
                <a16:creationId xmlns:a16="http://schemas.microsoft.com/office/drawing/2014/main" id="{6F7CA98F-4ADD-4F07-A5D8-253DEA21067F}"/>
              </a:ext>
            </a:extLst>
          </p:cNvPr>
          <p:cNvSpPr>
            <a:spLocks noGrp="1"/>
          </p:cNvSpPr>
          <p:nvPr/>
        </p:nvSpPr>
        <p:spPr>
          <a:xfrm>
            <a:off x="7486650" y="5314950"/>
            <a:ext cx="1314450" cy="209550"/>
          </a:xfrm>
          <a:prstGeom prst="rect">
            <a:avLst/>
          </a:prstGeom>
          <a:noFill/>
          <a:ln w="0">
            <a:noFill/>
            <a:prstDash val="solid"/>
          </a:ln>
        </p:spPr>
        <p:txBody>
          <a:bodyPr anchor="ctr"/>
          <a:lstStyle>
            <a:defPPr algn="l">
              <a:defRPr sz="1050" b="1">
                <a:solidFill>
                  <a:srgbClr val="B16B16"/>
                </a:solidFill>
              </a:defRPr>
            </a:defPPr>
            <a:lvl1pPr algn="l">
              <a:buNone/>
              <a:defRPr sz="1050" b="1">
                <a:solidFill>
                  <a:srgbClr val="B16B16"/>
                </a:solidFill>
              </a:defRPr>
            </a:lvl1pPr>
            <a:lvl2pPr algn="l">
              <a:buNone/>
              <a:defRPr sz="1050" b="1">
                <a:solidFill>
                  <a:srgbClr val="B16B16"/>
                </a:solidFill>
              </a:defRPr>
            </a:lvl2pPr>
            <a:lvl3pPr algn="l">
              <a:buNone/>
              <a:defRPr sz="1050" b="1">
                <a:solidFill>
                  <a:srgbClr val="B16B16"/>
                </a:solidFill>
              </a:defRPr>
            </a:lvl3pPr>
            <a:lvl4pPr algn="l">
              <a:buNone/>
              <a:defRPr sz="1050" b="1">
                <a:solidFill>
                  <a:srgbClr val="B16B16"/>
                </a:solidFill>
              </a:defRPr>
            </a:lvl4pPr>
            <a:lvl5pPr algn="l">
              <a:buNone/>
              <a:defRPr sz="1050" b="1">
                <a:solidFill>
                  <a:srgbClr val="B16B16"/>
                </a:solidFill>
              </a:defRPr>
            </a:lvl5pPr>
            <a:lvl6pPr algn="l">
              <a:buNone/>
              <a:defRPr sz="1050" b="1">
                <a:solidFill>
                  <a:srgbClr val="B16B16"/>
                </a:solidFill>
              </a:defRPr>
            </a:lvl6pPr>
            <a:lvl7pPr algn="l">
              <a:buNone/>
              <a:defRPr sz="1050" b="1">
                <a:solidFill>
                  <a:srgbClr val="B16B16"/>
                </a:solidFill>
              </a:defRPr>
            </a:lvl7pPr>
            <a:lvl8pPr algn="l">
              <a:buNone/>
              <a:defRPr sz="1050" b="1">
                <a:solidFill>
                  <a:srgbClr val="B16B16"/>
                </a:solidFill>
              </a:defRPr>
            </a:lvl8pPr>
            <a:lvl9pPr algn="l">
              <a:buNone/>
              <a:defRPr sz="1050" b="1">
                <a:solidFill>
                  <a:srgbClr val="B16B16"/>
                </a:solidFill>
              </a:defRPr>
            </a:lvl9pPr>
          </a:lstStyle>
          <a:p>
            <a:pPr algn="l">
              <a:buNone/>
              <a:defRPr sz="1050" b="1">
                <a:solidFill>
                  <a:srgbClr val="B16B16"/>
                </a:solidFill>
              </a:defRPr>
            </a:pPr>
            <a:r>
              <a:rPr sz="1050" b="1">
                <a:solidFill>
                  <a:srgbClr val="B16B16"/>
                </a:solidFill>
              </a:rPr>
              <a:t>Comparison limit</a:t>
            </a:r>
          </a:p>
        </p:txBody>
      </p:sp>
      <p:sp>
        <p:nvSpPr>
          <p:cNvPr id="25" name="Rectangle 24">
            <a:extLst>
              <a:ext uri="{FF2B5EF4-FFF2-40B4-BE49-F238E27FC236}">
                <a16:creationId xmlns:a16="http://schemas.microsoft.com/office/drawing/2014/main" id="{EB9955C1-0222-4FF6-8DD7-B69EEA9B3185}"/>
              </a:ext>
            </a:extLst>
          </p:cNvPr>
          <p:cNvSpPr>
            <a:spLocks noGrp="1"/>
          </p:cNvSpPr>
          <p:nvPr/>
        </p:nvSpPr>
        <p:spPr>
          <a:xfrm>
            <a:off x="7486650" y="5524500"/>
            <a:ext cx="3762375" cy="304800"/>
          </a:xfrm>
          <a:prstGeom prst="rect">
            <a:avLst/>
          </a:prstGeom>
          <a:noFill/>
          <a:ln w="0">
            <a:noFill/>
            <a:prstDash val="solid"/>
          </a:ln>
        </p:spPr>
        <p:txBody>
          <a:bodyPr anchor="t"/>
          <a:lstStyle>
            <a:defPPr algn="l">
              <a:defRPr sz="975" b="0">
                <a:solidFill>
                  <a:srgbClr val="1D2A3B"/>
                </a:solidFill>
              </a:defRPr>
            </a:defPPr>
            <a:lvl1pPr algn="l">
              <a:buNone/>
              <a:defRPr sz="975" b="0">
                <a:solidFill>
                  <a:srgbClr val="1D2A3B"/>
                </a:solidFill>
              </a:defRPr>
            </a:lvl1pPr>
            <a:lvl2pPr algn="l">
              <a:buNone/>
              <a:defRPr sz="975" b="0">
                <a:solidFill>
                  <a:srgbClr val="1D2A3B"/>
                </a:solidFill>
              </a:defRPr>
            </a:lvl2pPr>
            <a:lvl3pPr algn="l">
              <a:buNone/>
              <a:defRPr sz="975" b="0">
                <a:solidFill>
                  <a:srgbClr val="1D2A3B"/>
                </a:solidFill>
              </a:defRPr>
            </a:lvl3pPr>
            <a:lvl4pPr algn="l">
              <a:buNone/>
              <a:defRPr sz="975" b="0">
                <a:solidFill>
                  <a:srgbClr val="1D2A3B"/>
                </a:solidFill>
              </a:defRPr>
            </a:lvl4pPr>
            <a:lvl5pPr algn="l">
              <a:buNone/>
              <a:defRPr sz="975" b="0">
                <a:solidFill>
                  <a:srgbClr val="1D2A3B"/>
                </a:solidFill>
              </a:defRPr>
            </a:lvl5pPr>
            <a:lvl6pPr algn="l">
              <a:buNone/>
              <a:defRPr sz="975" b="0">
                <a:solidFill>
                  <a:srgbClr val="1D2A3B"/>
                </a:solidFill>
              </a:defRPr>
            </a:lvl6pPr>
            <a:lvl7pPr algn="l">
              <a:buNone/>
              <a:defRPr sz="975" b="0">
                <a:solidFill>
                  <a:srgbClr val="1D2A3B"/>
                </a:solidFill>
              </a:defRPr>
            </a:lvl7pPr>
            <a:lvl8pPr algn="l">
              <a:buNone/>
              <a:defRPr sz="975" b="0">
                <a:solidFill>
                  <a:srgbClr val="1D2A3B"/>
                </a:solidFill>
              </a:defRPr>
            </a:lvl8pPr>
            <a:lvl9pPr algn="l">
              <a:buNone/>
              <a:defRPr sz="975" b="0">
                <a:solidFill>
                  <a:srgbClr val="1D2A3B"/>
                </a:solidFill>
              </a:defRPr>
            </a:lvl9pPr>
          </a:lstStyle>
          <a:p>
            <a:pPr algn="l">
              <a:buNone/>
              <a:defRPr sz="975" b="0">
                <a:solidFill>
                  <a:srgbClr val="1D2A3B"/>
                </a:solidFill>
              </a:defRPr>
            </a:pPr>
            <a:r>
              <a:rPr sz="975" b="0">
                <a:solidFill>
                  <a:srgbClr val="1D2A3B"/>
                </a:solidFill>
              </a:rPr>
              <a:t>All queries used KG retrieval; the run cannot rank vector, KG, and hybrid methods or establish routing benefit.</a:t>
            </a:r>
          </a:p>
        </p:txBody>
      </p:sp>
      <p:sp>
        <p:nvSpPr>
          <p:cNvPr id="26" name="Rectangle 25">
            <a:extLst>
              <a:ext uri="{FF2B5EF4-FFF2-40B4-BE49-F238E27FC236}">
                <a16:creationId xmlns:a16="http://schemas.microsoft.com/office/drawing/2014/main" id="{ADA463FF-338C-4AE5-82AC-1F4A795AB568}"/>
              </a:ext>
            </a:extLst>
          </p:cNvPr>
          <p:cNvSpPr>
            <a:spLocks noGrp="1"/>
          </p:cNvSpPr>
          <p:nvPr/>
        </p:nvSpPr>
        <p:spPr>
          <a:xfrm>
            <a:off x="609600" y="5553075"/>
            <a:ext cx="6343650" cy="285750"/>
          </a:xfrm>
          <a:prstGeom prst="rect">
            <a:avLst/>
          </a:prstGeom>
          <a:noFill/>
          <a:ln w="0">
            <a:noFill/>
            <a:prstDash val="solid"/>
          </a:ln>
        </p:spPr>
        <p:txBody>
          <a:bodyPr anchor="ctr"/>
          <a:lstStyle>
            <a:defPPr algn="l">
              <a:defRPr sz="1050" b="0">
                <a:solidFill>
                  <a:srgbClr val="5D6B7C"/>
                </a:solidFill>
              </a:defRPr>
            </a:defPPr>
            <a:lvl1pPr algn="l">
              <a:buNone/>
              <a:defRPr sz="1050" b="0">
                <a:solidFill>
                  <a:srgbClr val="5D6B7C"/>
                </a:solidFill>
              </a:defRPr>
            </a:lvl1pPr>
            <a:lvl2pPr algn="l">
              <a:buNone/>
              <a:defRPr sz="1050" b="0">
                <a:solidFill>
                  <a:srgbClr val="5D6B7C"/>
                </a:solidFill>
              </a:defRPr>
            </a:lvl2pPr>
            <a:lvl3pPr algn="l">
              <a:buNone/>
              <a:defRPr sz="1050" b="0">
                <a:solidFill>
                  <a:srgbClr val="5D6B7C"/>
                </a:solidFill>
              </a:defRPr>
            </a:lvl3pPr>
            <a:lvl4pPr algn="l">
              <a:buNone/>
              <a:defRPr sz="1050" b="0">
                <a:solidFill>
                  <a:srgbClr val="5D6B7C"/>
                </a:solidFill>
              </a:defRPr>
            </a:lvl4pPr>
            <a:lvl5pPr algn="l">
              <a:buNone/>
              <a:defRPr sz="1050" b="0">
                <a:solidFill>
                  <a:srgbClr val="5D6B7C"/>
                </a:solidFill>
              </a:defRPr>
            </a:lvl5pPr>
            <a:lvl6pPr algn="l">
              <a:buNone/>
              <a:defRPr sz="1050" b="0">
                <a:solidFill>
                  <a:srgbClr val="5D6B7C"/>
                </a:solidFill>
              </a:defRPr>
            </a:lvl6pPr>
            <a:lvl7pPr algn="l">
              <a:buNone/>
              <a:defRPr sz="1050" b="0">
                <a:solidFill>
                  <a:srgbClr val="5D6B7C"/>
                </a:solidFill>
              </a:defRPr>
            </a:lvl7pPr>
            <a:lvl8pPr algn="l">
              <a:buNone/>
              <a:defRPr sz="1050" b="0">
                <a:solidFill>
                  <a:srgbClr val="5D6B7C"/>
                </a:solidFill>
              </a:defRPr>
            </a:lvl8pPr>
            <a:lvl9pPr algn="l">
              <a:buNone/>
              <a:defRPr sz="1050" b="0">
                <a:solidFill>
                  <a:srgbClr val="5D6B7C"/>
                </a:solidFill>
              </a:defRPr>
            </a:lvl9pPr>
          </a:lstStyle>
          <a:p>
            <a:pPr algn="l">
              <a:buNone/>
              <a:defRPr sz="1050" b="0">
                <a:solidFill>
                  <a:srgbClr val="5D6B7C"/>
                </a:solidFill>
              </a:defRPr>
            </a:pPr>
            <a:r>
              <a:rPr sz="1050" b="0">
                <a:solidFill>
                  <a:srgbClr val="5D6B7C"/>
                </a:solidFill>
              </a:rPr>
              <a:t>Five calls exceeded 100 s; latency includes the full engine.answer call.</a:t>
            </a:r>
          </a:p>
        </p:txBody>
      </p:sp>
    </p:spTree>
    <p:extLst>
      <p:ext uri="{BB962C8B-B14F-4D97-AF65-F5344CB8AC3E}">
        <p14:creationId xmlns:p14="http://schemas.microsoft.com/office/powerpoint/2010/main" val="133998000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89EF593-287B-4C48-9F48-997A7C90A5D8}"/>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CONCLUSION AND FUTURE WORK</a:t>
            </a:r>
          </a:p>
        </p:txBody>
      </p:sp>
      <p:sp>
        <p:nvSpPr>
          <p:cNvPr id="2" name="Rectangle 1">
            <a:extLst>
              <a:ext uri="{FF2B5EF4-FFF2-40B4-BE49-F238E27FC236}">
                <a16:creationId xmlns:a16="http://schemas.microsoft.com/office/drawing/2014/main" id="{32B66605-A2AF-4F3A-9293-2D47C9E5CE8C}"/>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Conclusion and next research steps</a:t>
            </a:r>
          </a:p>
        </p:txBody>
      </p:sp>
      <p:sp>
        <p:nvSpPr>
          <p:cNvPr id="3" name="Rectangle 2">
            <a:extLst>
              <a:ext uri="{FF2B5EF4-FFF2-40B4-BE49-F238E27FC236}">
                <a16:creationId xmlns:a16="http://schemas.microsoft.com/office/drawing/2014/main" id="{C1460650-F3F7-4250-9D4F-ECF559E59404}"/>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2AFA973F-0055-4E3D-8BED-D0E13CCDD6C4}"/>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08</a:t>
            </a:r>
          </a:p>
        </p:txBody>
      </p:sp>
      <p:sp>
        <p:nvSpPr>
          <p:cNvPr id="7" name="Rectangle 6">
            <a:extLst>
              <a:ext uri="{FF2B5EF4-FFF2-40B4-BE49-F238E27FC236}">
                <a16:creationId xmlns:a16="http://schemas.microsoft.com/office/drawing/2014/main" id="{F56D5214-6AEA-45FF-BD0D-C073A761CE12}"/>
              </a:ext>
            </a:extLst>
          </p:cNvPr>
          <p:cNvSpPr>
            <a:spLocks noGrp="1"/>
          </p:cNvSpPr>
          <p:nvPr/>
        </p:nvSpPr>
        <p:spPr>
          <a:xfrm>
            <a:off x="609600" y="1457325"/>
            <a:ext cx="4762500" cy="285750"/>
          </a:xfrm>
          <a:prstGeom prst="rect">
            <a:avLst/>
          </a:prstGeom>
          <a:noFill/>
          <a:ln w="0">
            <a:noFill/>
            <a:prstDash val="solid"/>
          </a:ln>
        </p:spPr>
        <p:txBody>
          <a:bodyPr anchor="ctr"/>
          <a:lstStyle>
            <a:defPPr algn="l">
              <a:defRPr sz="1650" b="1">
                <a:solidFill>
                  <a:srgbClr val="14233F"/>
                </a:solidFill>
              </a:defRPr>
            </a:defPPr>
            <a:lvl1pPr algn="l">
              <a:buNone/>
              <a:defRPr sz="1650" b="1">
                <a:solidFill>
                  <a:srgbClr val="14233F"/>
                </a:solidFill>
              </a:defRPr>
            </a:lvl1pPr>
            <a:lvl2pPr algn="l">
              <a:buNone/>
              <a:defRPr sz="1650" b="1">
                <a:solidFill>
                  <a:srgbClr val="14233F"/>
                </a:solidFill>
              </a:defRPr>
            </a:lvl2pPr>
            <a:lvl3pPr algn="l">
              <a:buNone/>
              <a:defRPr sz="1650" b="1">
                <a:solidFill>
                  <a:srgbClr val="14233F"/>
                </a:solidFill>
              </a:defRPr>
            </a:lvl3pPr>
            <a:lvl4pPr algn="l">
              <a:buNone/>
              <a:defRPr sz="1650" b="1">
                <a:solidFill>
                  <a:srgbClr val="14233F"/>
                </a:solidFill>
              </a:defRPr>
            </a:lvl4pPr>
            <a:lvl5pPr algn="l">
              <a:buNone/>
              <a:defRPr sz="1650" b="1">
                <a:solidFill>
                  <a:srgbClr val="14233F"/>
                </a:solidFill>
              </a:defRPr>
            </a:lvl5pPr>
            <a:lvl6pPr algn="l">
              <a:buNone/>
              <a:defRPr sz="1650" b="1">
                <a:solidFill>
                  <a:srgbClr val="14233F"/>
                </a:solidFill>
              </a:defRPr>
            </a:lvl6pPr>
            <a:lvl7pPr algn="l">
              <a:buNone/>
              <a:defRPr sz="1650" b="1">
                <a:solidFill>
                  <a:srgbClr val="14233F"/>
                </a:solidFill>
              </a:defRPr>
            </a:lvl7pPr>
            <a:lvl8pPr algn="l">
              <a:buNone/>
              <a:defRPr sz="1650" b="1">
                <a:solidFill>
                  <a:srgbClr val="14233F"/>
                </a:solidFill>
              </a:defRPr>
            </a:lvl8pPr>
            <a:lvl9pPr algn="l">
              <a:buNone/>
              <a:defRPr sz="1650" b="1">
                <a:solidFill>
                  <a:srgbClr val="14233F"/>
                </a:solidFill>
              </a:defRPr>
            </a:lvl9pPr>
          </a:lstStyle>
          <a:p>
            <a:pPr algn="l">
              <a:buNone/>
              <a:defRPr sz="1650" b="1">
                <a:solidFill>
                  <a:srgbClr val="14233F"/>
                </a:solidFill>
              </a:defRPr>
            </a:pPr>
            <a:r>
              <a:rPr sz="1650" b="1">
                <a:solidFill>
                  <a:srgbClr val="14233F"/>
                </a:solidFill>
              </a:rPr>
              <a:t>What the evaluation supports</a:t>
            </a:r>
          </a:p>
        </p:txBody>
      </p:sp>
      <p:sp>
        <p:nvSpPr>
          <p:cNvPr id="8" name="Rectangle 7">
            <a:extLst>
              <a:ext uri="{FF2B5EF4-FFF2-40B4-BE49-F238E27FC236}">
                <a16:creationId xmlns:a16="http://schemas.microsoft.com/office/drawing/2014/main" id="{4C51C307-8170-4EE7-8480-08A7B69B3CB5}"/>
              </a:ext>
            </a:extLst>
          </p:cNvPr>
          <p:cNvSpPr>
            <a:spLocks noGrp="1"/>
          </p:cNvSpPr>
          <p:nvPr/>
        </p:nvSpPr>
        <p:spPr>
          <a:xfrm>
            <a:off x="609600" y="1924050"/>
            <a:ext cx="38100" cy="1238250"/>
          </a:xfrm>
          <a:prstGeom prst="rect">
            <a:avLst/>
          </a:prstGeom>
          <a:solidFill>
            <a:srgbClr val="2356A8"/>
          </a:solidFill>
          <a:ln w="0">
            <a:noFill/>
            <a:prstDash val="solid"/>
          </a:ln>
        </p:spPr>
      </p:sp>
      <p:sp>
        <p:nvSpPr>
          <p:cNvPr id="9" name="Rectangle 8">
            <a:extLst>
              <a:ext uri="{FF2B5EF4-FFF2-40B4-BE49-F238E27FC236}">
                <a16:creationId xmlns:a16="http://schemas.microsoft.com/office/drawing/2014/main" id="{43D0DC97-F546-4DBF-B760-57A6268AEE1B}"/>
              </a:ext>
            </a:extLst>
          </p:cNvPr>
          <p:cNvSpPr>
            <a:spLocks noGrp="1"/>
          </p:cNvSpPr>
          <p:nvPr/>
        </p:nvSpPr>
        <p:spPr>
          <a:xfrm>
            <a:off x="781050" y="1990725"/>
            <a:ext cx="4667250" cy="257175"/>
          </a:xfrm>
          <a:prstGeom prst="rect">
            <a:avLst/>
          </a:prstGeom>
          <a:noFill/>
          <a:ln w="0">
            <a:noFill/>
            <a:prstDash val="solid"/>
          </a:ln>
        </p:spPr>
        <p:txBody>
          <a:bodyPr anchor="ctr"/>
          <a:lstStyle>
            <a:defPPr algn="l">
              <a:defRPr sz="1500" b="1">
                <a:solidFill>
                  <a:srgbClr val="14233F"/>
                </a:solidFill>
              </a:defRPr>
            </a:defPPr>
            <a:lvl1pPr algn="l">
              <a:buNone/>
              <a:defRPr sz="1500" b="1">
                <a:solidFill>
                  <a:srgbClr val="14233F"/>
                </a:solidFill>
              </a:defRPr>
            </a:lvl1pPr>
            <a:lvl2pPr algn="l">
              <a:buNone/>
              <a:defRPr sz="1500" b="1">
                <a:solidFill>
                  <a:srgbClr val="14233F"/>
                </a:solidFill>
              </a:defRPr>
            </a:lvl2pPr>
            <a:lvl3pPr algn="l">
              <a:buNone/>
              <a:defRPr sz="1500" b="1">
                <a:solidFill>
                  <a:srgbClr val="14233F"/>
                </a:solidFill>
              </a:defRPr>
            </a:lvl3pPr>
            <a:lvl4pPr algn="l">
              <a:buNone/>
              <a:defRPr sz="1500" b="1">
                <a:solidFill>
                  <a:srgbClr val="14233F"/>
                </a:solidFill>
              </a:defRPr>
            </a:lvl4pPr>
            <a:lvl5pPr algn="l">
              <a:buNone/>
              <a:defRPr sz="1500" b="1">
                <a:solidFill>
                  <a:srgbClr val="14233F"/>
                </a:solidFill>
              </a:defRPr>
            </a:lvl5pPr>
            <a:lvl6pPr algn="l">
              <a:buNone/>
              <a:defRPr sz="1500" b="1">
                <a:solidFill>
                  <a:srgbClr val="14233F"/>
                </a:solidFill>
              </a:defRPr>
            </a:lvl6pPr>
            <a:lvl7pPr algn="l">
              <a:buNone/>
              <a:defRPr sz="1500" b="1">
                <a:solidFill>
                  <a:srgbClr val="14233F"/>
                </a:solidFill>
              </a:defRPr>
            </a:lvl7pPr>
            <a:lvl8pPr algn="l">
              <a:buNone/>
              <a:defRPr sz="1500" b="1">
                <a:solidFill>
                  <a:srgbClr val="14233F"/>
                </a:solidFill>
              </a:defRPr>
            </a:lvl8pPr>
            <a:lvl9pPr algn="l">
              <a:buNone/>
              <a:defRPr sz="1500" b="1">
                <a:solidFill>
                  <a:srgbClr val="14233F"/>
                </a:solidFill>
              </a:defRPr>
            </a:lvl9pPr>
          </a:lstStyle>
          <a:p>
            <a:pPr algn="l">
              <a:buNone/>
              <a:defRPr sz="1500" b="1">
                <a:solidFill>
                  <a:srgbClr val="14233F"/>
                </a:solidFill>
              </a:defRPr>
            </a:pPr>
            <a:r>
              <a:rPr sz="1500" b="1">
                <a:solidFill>
                  <a:srgbClr val="14233F"/>
                </a:solidFill>
              </a:rPr>
              <a:t>Integrated pipeline</a:t>
            </a:r>
          </a:p>
        </p:txBody>
      </p:sp>
      <p:sp>
        <p:nvSpPr>
          <p:cNvPr id="10" name="Rectangle 9">
            <a:extLst>
              <a:ext uri="{FF2B5EF4-FFF2-40B4-BE49-F238E27FC236}">
                <a16:creationId xmlns:a16="http://schemas.microsoft.com/office/drawing/2014/main" id="{97E3548F-37B4-422F-91A8-65BAEAC860B3}"/>
              </a:ext>
            </a:extLst>
          </p:cNvPr>
          <p:cNvSpPr>
            <a:spLocks noGrp="1"/>
          </p:cNvSpPr>
          <p:nvPr/>
        </p:nvSpPr>
        <p:spPr>
          <a:xfrm>
            <a:off x="781050" y="2286000"/>
            <a:ext cx="4667250" cy="819150"/>
          </a:xfrm>
          <a:prstGeom prst="rect">
            <a:avLst/>
          </a:prstGeom>
          <a:noFill/>
          <a:ln w="0">
            <a:noFill/>
            <a:prstDash val="solid"/>
          </a:ln>
        </p:spPr>
        <p:txBody>
          <a:bodyPr anchor="t"/>
          <a:lstStyle>
            <a:defPPr algn="l">
              <a:defRPr sz="1350" b="0">
                <a:solidFill>
                  <a:srgbClr val="5D6B7C"/>
                </a:solidFill>
              </a:defRPr>
            </a:defPPr>
            <a:lvl1pPr algn="l">
              <a:buNone/>
              <a:defRPr sz="1350" b="0">
                <a:solidFill>
                  <a:srgbClr val="5D6B7C"/>
                </a:solidFill>
              </a:defRPr>
            </a:lvl1pPr>
            <a:lvl2pPr algn="l">
              <a:buNone/>
              <a:defRPr sz="1350" b="0">
                <a:solidFill>
                  <a:srgbClr val="5D6B7C"/>
                </a:solidFill>
              </a:defRPr>
            </a:lvl2pPr>
            <a:lvl3pPr algn="l">
              <a:buNone/>
              <a:defRPr sz="1350" b="0">
                <a:solidFill>
                  <a:srgbClr val="5D6B7C"/>
                </a:solidFill>
              </a:defRPr>
            </a:lvl3pPr>
            <a:lvl4pPr algn="l">
              <a:buNone/>
              <a:defRPr sz="1350" b="0">
                <a:solidFill>
                  <a:srgbClr val="5D6B7C"/>
                </a:solidFill>
              </a:defRPr>
            </a:lvl4pPr>
            <a:lvl5pPr algn="l">
              <a:buNone/>
              <a:defRPr sz="1350" b="0">
                <a:solidFill>
                  <a:srgbClr val="5D6B7C"/>
                </a:solidFill>
              </a:defRPr>
            </a:lvl5pPr>
            <a:lvl6pPr algn="l">
              <a:buNone/>
              <a:defRPr sz="1350" b="0">
                <a:solidFill>
                  <a:srgbClr val="5D6B7C"/>
                </a:solidFill>
              </a:defRPr>
            </a:lvl6pPr>
            <a:lvl7pPr algn="l">
              <a:buNone/>
              <a:defRPr sz="1350" b="0">
                <a:solidFill>
                  <a:srgbClr val="5D6B7C"/>
                </a:solidFill>
              </a:defRPr>
            </a:lvl7pPr>
            <a:lvl8pPr algn="l">
              <a:buNone/>
              <a:defRPr sz="1350" b="0">
                <a:solidFill>
                  <a:srgbClr val="5D6B7C"/>
                </a:solidFill>
              </a:defRPr>
            </a:lvl8pPr>
            <a:lvl9pPr algn="l">
              <a:buNone/>
              <a:defRPr sz="1350" b="0">
                <a:solidFill>
                  <a:srgbClr val="5D6B7C"/>
                </a:solidFill>
              </a:defRPr>
            </a:lvl9pPr>
          </a:lstStyle>
          <a:p>
            <a:pPr algn="l">
              <a:buNone/>
              <a:defRPr sz="1350" b="0">
                <a:solidFill>
                  <a:srgbClr val="5D6B7C"/>
                </a:solidFill>
              </a:defRPr>
            </a:pPr>
            <a:r>
              <a:rPr sz="1350" b="0">
                <a:solidFill>
                  <a:srgbClr val="5D6B7C"/>
                </a:solidFill>
              </a:rPr>
              <a:t>The project combines graph curation, vector/KG/hybrid retrieval, routing, answer synthesis, provenance, and controlled graph updates.</a:t>
            </a:r>
          </a:p>
        </p:txBody>
      </p:sp>
      <p:sp>
        <p:nvSpPr>
          <p:cNvPr id="11" name="Rectangle 10">
            <a:extLst>
              <a:ext uri="{FF2B5EF4-FFF2-40B4-BE49-F238E27FC236}">
                <a16:creationId xmlns:a16="http://schemas.microsoft.com/office/drawing/2014/main" id="{EBBDC0DD-196B-42C2-9A15-FFB796D95ABC}"/>
              </a:ext>
            </a:extLst>
          </p:cNvPr>
          <p:cNvSpPr>
            <a:spLocks noGrp="1"/>
          </p:cNvSpPr>
          <p:nvPr/>
        </p:nvSpPr>
        <p:spPr>
          <a:xfrm>
            <a:off x="609600" y="3448050"/>
            <a:ext cx="38100" cy="1238250"/>
          </a:xfrm>
          <a:prstGeom prst="rect">
            <a:avLst/>
          </a:prstGeom>
          <a:solidFill>
            <a:srgbClr val="20A4B7"/>
          </a:solidFill>
          <a:ln w="0">
            <a:noFill/>
            <a:prstDash val="solid"/>
          </a:ln>
        </p:spPr>
      </p:sp>
      <p:sp>
        <p:nvSpPr>
          <p:cNvPr id="12" name="Rectangle 11">
            <a:extLst>
              <a:ext uri="{FF2B5EF4-FFF2-40B4-BE49-F238E27FC236}">
                <a16:creationId xmlns:a16="http://schemas.microsoft.com/office/drawing/2014/main" id="{DA680F1C-7C5D-4774-BEAC-0A25BC6D0F2F}"/>
              </a:ext>
            </a:extLst>
          </p:cNvPr>
          <p:cNvSpPr>
            <a:spLocks noGrp="1"/>
          </p:cNvSpPr>
          <p:nvPr/>
        </p:nvSpPr>
        <p:spPr>
          <a:xfrm>
            <a:off x="781050" y="3514725"/>
            <a:ext cx="4667250" cy="257175"/>
          </a:xfrm>
          <a:prstGeom prst="rect">
            <a:avLst/>
          </a:prstGeom>
          <a:noFill/>
          <a:ln w="0">
            <a:noFill/>
            <a:prstDash val="solid"/>
          </a:ln>
        </p:spPr>
        <p:txBody>
          <a:bodyPr anchor="ctr"/>
          <a:lstStyle>
            <a:defPPr algn="l">
              <a:defRPr sz="1500" b="1">
                <a:solidFill>
                  <a:srgbClr val="14233F"/>
                </a:solidFill>
              </a:defRPr>
            </a:defPPr>
            <a:lvl1pPr algn="l">
              <a:buNone/>
              <a:defRPr sz="1500" b="1">
                <a:solidFill>
                  <a:srgbClr val="14233F"/>
                </a:solidFill>
              </a:defRPr>
            </a:lvl1pPr>
            <a:lvl2pPr algn="l">
              <a:buNone/>
              <a:defRPr sz="1500" b="1">
                <a:solidFill>
                  <a:srgbClr val="14233F"/>
                </a:solidFill>
              </a:defRPr>
            </a:lvl2pPr>
            <a:lvl3pPr algn="l">
              <a:buNone/>
              <a:defRPr sz="1500" b="1">
                <a:solidFill>
                  <a:srgbClr val="14233F"/>
                </a:solidFill>
              </a:defRPr>
            </a:lvl3pPr>
            <a:lvl4pPr algn="l">
              <a:buNone/>
              <a:defRPr sz="1500" b="1">
                <a:solidFill>
                  <a:srgbClr val="14233F"/>
                </a:solidFill>
              </a:defRPr>
            </a:lvl4pPr>
            <a:lvl5pPr algn="l">
              <a:buNone/>
              <a:defRPr sz="1500" b="1">
                <a:solidFill>
                  <a:srgbClr val="14233F"/>
                </a:solidFill>
              </a:defRPr>
            </a:lvl5pPr>
            <a:lvl6pPr algn="l">
              <a:buNone/>
              <a:defRPr sz="1500" b="1">
                <a:solidFill>
                  <a:srgbClr val="14233F"/>
                </a:solidFill>
              </a:defRPr>
            </a:lvl6pPr>
            <a:lvl7pPr algn="l">
              <a:buNone/>
              <a:defRPr sz="1500" b="1">
                <a:solidFill>
                  <a:srgbClr val="14233F"/>
                </a:solidFill>
              </a:defRPr>
            </a:lvl7pPr>
            <a:lvl8pPr algn="l">
              <a:buNone/>
              <a:defRPr sz="1500" b="1">
                <a:solidFill>
                  <a:srgbClr val="14233F"/>
                </a:solidFill>
              </a:defRPr>
            </a:lvl8pPr>
            <a:lvl9pPr algn="l">
              <a:buNone/>
              <a:defRPr sz="1500" b="1">
                <a:solidFill>
                  <a:srgbClr val="14233F"/>
                </a:solidFill>
              </a:defRPr>
            </a:lvl9pPr>
          </a:lstStyle>
          <a:p>
            <a:pPr algn="l">
              <a:buNone/>
              <a:defRPr sz="1500" b="1">
                <a:solidFill>
                  <a:srgbClr val="14233F"/>
                </a:solidFill>
              </a:defRPr>
            </a:pPr>
            <a:r>
              <a:rPr sz="1500" b="1">
                <a:solidFill>
                  <a:srgbClr val="14233F"/>
                </a:solidFill>
              </a:rPr>
              <a:t>Observed baseline</a:t>
            </a:r>
          </a:p>
        </p:txBody>
      </p:sp>
      <p:sp>
        <p:nvSpPr>
          <p:cNvPr id="13" name="Rectangle 12">
            <a:extLst>
              <a:ext uri="{FF2B5EF4-FFF2-40B4-BE49-F238E27FC236}">
                <a16:creationId xmlns:a16="http://schemas.microsoft.com/office/drawing/2014/main" id="{2842A835-829E-47DD-AFE4-CACFFB097706}"/>
              </a:ext>
            </a:extLst>
          </p:cNvPr>
          <p:cNvSpPr>
            <a:spLocks noGrp="1"/>
          </p:cNvSpPr>
          <p:nvPr/>
        </p:nvSpPr>
        <p:spPr>
          <a:xfrm>
            <a:off x="781050" y="3810000"/>
            <a:ext cx="4667250" cy="819150"/>
          </a:xfrm>
          <a:prstGeom prst="rect">
            <a:avLst/>
          </a:prstGeom>
          <a:noFill/>
          <a:ln w="0">
            <a:noFill/>
            <a:prstDash val="solid"/>
          </a:ln>
        </p:spPr>
        <p:txBody>
          <a:bodyPr anchor="t"/>
          <a:lstStyle>
            <a:defPPr algn="l">
              <a:defRPr sz="1350" b="0">
                <a:solidFill>
                  <a:srgbClr val="5D6B7C"/>
                </a:solidFill>
              </a:defRPr>
            </a:defPPr>
            <a:lvl1pPr algn="l">
              <a:buNone/>
              <a:defRPr sz="1350" b="0">
                <a:solidFill>
                  <a:srgbClr val="5D6B7C"/>
                </a:solidFill>
              </a:defRPr>
            </a:lvl1pPr>
            <a:lvl2pPr algn="l">
              <a:buNone/>
              <a:defRPr sz="1350" b="0">
                <a:solidFill>
                  <a:srgbClr val="5D6B7C"/>
                </a:solidFill>
              </a:defRPr>
            </a:lvl2pPr>
            <a:lvl3pPr algn="l">
              <a:buNone/>
              <a:defRPr sz="1350" b="0">
                <a:solidFill>
                  <a:srgbClr val="5D6B7C"/>
                </a:solidFill>
              </a:defRPr>
            </a:lvl3pPr>
            <a:lvl4pPr algn="l">
              <a:buNone/>
              <a:defRPr sz="1350" b="0">
                <a:solidFill>
                  <a:srgbClr val="5D6B7C"/>
                </a:solidFill>
              </a:defRPr>
            </a:lvl4pPr>
            <a:lvl5pPr algn="l">
              <a:buNone/>
              <a:defRPr sz="1350" b="0">
                <a:solidFill>
                  <a:srgbClr val="5D6B7C"/>
                </a:solidFill>
              </a:defRPr>
            </a:lvl5pPr>
            <a:lvl6pPr algn="l">
              <a:buNone/>
              <a:defRPr sz="1350" b="0">
                <a:solidFill>
                  <a:srgbClr val="5D6B7C"/>
                </a:solidFill>
              </a:defRPr>
            </a:lvl6pPr>
            <a:lvl7pPr algn="l">
              <a:buNone/>
              <a:defRPr sz="1350" b="0">
                <a:solidFill>
                  <a:srgbClr val="5D6B7C"/>
                </a:solidFill>
              </a:defRPr>
            </a:lvl7pPr>
            <a:lvl8pPr algn="l">
              <a:buNone/>
              <a:defRPr sz="1350" b="0">
                <a:solidFill>
                  <a:srgbClr val="5D6B7C"/>
                </a:solidFill>
              </a:defRPr>
            </a:lvl8pPr>
            <a:lvl9pPr algn="l">
              <a:buNone/>
              <a:defRPr sz="1350" b="0">
                <a:solidFill>
                  <a:srgbClr val="5D6B7C"/>
                </a:solidFill>
              </a:defRPr>
            </a:lvl9pPr>
          </a:lstStyle>
          <a:p>
            <a:pPr algn="l">
              <a:buNone/>
              <a:defRPr sz="1350" b="0">
                <a:solidFill>
                  <a:srgbClr val="5D6B7C"/>
                </a:solidFill>
              </a:defRPr>
            </a:pPr>
            <a:r>
              <a:rPr sz="1350" b="0">
                <a:solidFill>
                  <a:srgbClr val="5D6B7C"/>
                </a:solidFill>
              </a:rPr>
              <a:t>The 102-question KG-routed run reached 74.51% EM and 83.54% Token F1; multi-hop accuracy and latency were weaker.</a:t>
            </a:r>
          </a:p>
        </p:txBody>
      </p:sp>
      <p:sp>
        <p:nvSpPr>
          <p:cNvPr id="14" name="Rectangle 13">
            <a:extLst>
              <a:ext uri="{FF2B5EF4-FFF2-40B4-BE49-F238E27FC236}">
                <a16:creationId xmlns:a16="http://schemas.microsoft.com/office/drawing/2014/main" id="{2B9B58F5-416C-4922-8560-88D11D699393}"/>
              </a:ext>
            </a:extLst>
          </p:cNvPr>
          <p:cNvSpPr>
            <a:spLocks noGrp="1"/>
          </p:cNvSpPr>
          <p:nvPr/>
        </p:nvSpPr>
        <p:spPr>
          <a:xfrm>
            <a:off x="6191250" y="1457325"/>
            <a:ext cx="4953000" cy="285750"/>
          </a:xfrm>
          <a:prstGeom prst="rect">
            <a:avLst/>
          </a:prstGeom>
          <a:noFill/>
          <a:ln w="0">
            <a:noFill/>
            <a:prstDash val="solid"/>
          </a:ln>
        </p:spPr>
        <p:txBody>
          <a:bodyPr anchor="ctr"/>
          <a:lstStyle>
            <a:defPPr algn="l">
              <a:defRPr sz="1650" b="1">
                <a:solidFill>
                  <a:srgbClr val="14233F"/>
                </a:solidFill>
              </a:defRPr>
            </a:defPPr>
            <a:lvl1pPr algn="l">
              <a:buNone/>
              <a:defRPr sz="1650" b="1">
                <a:solidFill>
                  <a:srgbClr val="14233F"/>
                </a:solidFill>
              </a:defRPr>
            </a:lvl1pPr>
            <a:lvl2pPr algn="l">
              <a:buNone/>
              <a:defRPr sz="1650" b="1">
                <a:solidFill>
                  <a:srgbClr val="14233F"/>
                </a:solidFill>
              </a:defRPr>
            </a:lvl2pPr>
            <a:lvl3pPr algn="l">
              <a:buNone/>
              <a:defRPr sz="1650" b="1">
                <a:solidFill>
                  <a:srgbClr val="14233F"/>
                </a:solidFill>
              </a:defRPr>
            </a:lvl3pPr>
            <a:lvl4pPr algn="l">
              <a:buNone/>
              <a:defRPr sz="1650" b="1">
                <a:solidFill>
                  <a:srgbClr val="14233F"/>
                </a:solidFill>
              </a:defRPr>
            </a:lvl4pPr>
            <a:lvl5pPr algn="l">
              <a:buNone/>
              <a:defRPr sz="1650" b="1">
                <a:solidFill>
                  <a:srgbClr val="14233F"/>
                </a:solidFill>
              </a:defRPr>
            </a:lvl5pPr>
            <a:lvl6pPr algn="l">
              <a:buNone/>
              <a:defRPr sz="1650" b="1">
                <a:solidFill>
                  <a:srgbClr val="14233F"/>
                </a:solidFill>
              </a:defRPr>
            </a:lvl6pPr>
            <a:lvl7pPr algn="l">
              <a:buNone/>
              <a:defRPr sz="1650" b="1">
                <a:solidFill>
                  <a:srgbClr val="14233F"/>
                </a:solidFill>
              </a:defRPr>
            </a:lvl7pPr>
            <a:lvl8pPr algn="l">
              <a:buNone/>
              <a:defRPr sz="1650" b="1">
                <a:solidFill>
                  <a:srgbClr val="14233F"/>
                </a:solidFill>
              </a:defRPr>
            </a:lvl8pPr>
            <a:lvl9pPr algn="l">
              <a:buNone/>
              <a:defRPr sz="1650" b="1">
                <a:solidFill>
                  <a:srgbClr val="14233F"/>
                </a:solidFill>
              </a:defRPr>
            </a:lvl9pPr>
          </a:lstStyle>
          <a:p>
            <a:pPr algn="l">
              <a:buNone/>
              <a:defRPr sz="1650" b="1">
                <a:solidFill>
                  <a:srgbClr val="14233F"/>
                </a:solidFill>
              </a:defRPr>
            </a:pPr>
            <a:r>
              <a:rPr sz="1650" b="1">
                <a:solidFill>
                  <a:srgbClr val="14233F"/>
                </a:solidFill>
              </a:rPr>
              <a:t>Next research steps</a:t>
            </a:r>
          </a:p>
        </p:txBody>
      </p:sp>
      <p:sp>
        <p:nvSpPr>
          <p:cNvPr id="15" name="Oval 14">
            <a:extLst>
              <a:ext uri="{FF2B5EF4-FFF2-40B4-BE49-F238E27FC236}">
                <a16:creationId xmlns:a16="http://schemas.microsoft.com/office/drawing/2014/main" id="{30B33A28-D3D2-4BE1-9A95-2CBC1AC0F467}"/>
              </a:ext>
            </a:extLst>
          </p:cNvPr>
          <p:cNvSpPr>
            <a:spLocks noGrp="1"/>
          </p:cNvSpPr>
          <p:nvPr/>
        </p:nvSpPr>
        <p:spPr>
          <a:xfrm>
            <a:off x="6210300" y="2038350"/>
            <a:ext cx="95250" cy="95250"/>
          </a:xfrm>
          <a:prstGeom prst="ellipse">
            <a:avLst/>
          </a:prstGeom>
          <a:solidFill>
            <a:srgbClr val="168A70"/>
          </a:solidFill>
          <a:ln w="0">
            <a:noFill/>
            <a:prstDash val="solid"/>
          </a:ln>
        </p:spPr>
      </p:sp>
      <p:sp>
        <p:nvSpPr>
          <p:cNvPr id="16" name="Rectangle 15">
            <a:extLst>
              <a:ext uri="{FF2B5EF4-FFF2-40B4-BE49-F238E27FC236}">
                <a16:creationId xmlns:a16="http://schemas.microsoft.com/office/drawing/2014/main" id="{1DBFE795-8DB8-4178-84C9-6F5064DAC6EE}"/>
              </a:ext>
            </a:extLst>
          </p:cNvPr>
          <p:cNvSpPr>
            <a:spLocks noGrp="1"/>
          </p:cNvSpPr>
          <p:nvPr/>
        </p:nvSpPr>
        <p:spPr>
          <a:xfrm>
            <a:off x="6438900" y="1924050"/>
            <a:ext cx="4762500" cy="409575"/>
          </a:xfrm>
          <a:prstGeom prst="rect">
            <a:avLst/>
          </a:prstGeom>
          <a:noFill/>
          <a:ln w="0">
            <a:noFill/>
            <a:prstDash val="solid"/>
          </a:ln>
        </p:spPr>
        <p:txBody>
          <a:bodyPr anchor="ctr"/>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Extend validation across datasets and larger samples</a:t>
            </a:r>
          </a:p>
        </p:txBody>
      </p:sp>
      <p:sp>
        <p:nvSpPr>
          <p:cNvPr id="17" name="Oval 16">
            <a:extLst>
              <a:ext uri="{FF2B5EF4-FFF2-40B4-BE49-F238E27FC236}">
                <a16:creationId xmlns:a16="http://schemas.microsoft.com/office/drawing/2014/main" id="{351608F2-EBFA-4337-9A49-64E5632294A5}"/>
              </a:ext>
            </a:extLst>
          </p:cNvPr>
          <p:cNvSpPr>
            <a:spLocks noGrp="1"/>
          </p:cNvSpPr>
          <p:nvPr/>
        </p:nvSpPr>
        <p:spPr>
          <a:xfrm>
            <a:off x="6210300" y="2667000"/>
            <a:ext cx="95250" cy="95250"/>
          </a:xfrm>
          <a:prstGeom prst="ellipse">
            <a:avLst/>
          </a:prstGeom>
          <a:solidFill>
            <a:srgbClr val="20A4B7"/>
          </a:solidFill>
          <a:ln w="0">
            <a:noFill/>
            <a:prstDash val="solid"/>
          </a:ln>
        </p:spPr>
      </p:sp>
      <p:sp>
        <p:nvSpPr>
          <p:cNvPr id="18" name="Rectangle 17">
            <a:extLst>
              <a:ext uri="{FF2B5EF4-FFF2-40B4-BE49-F238E27FC236}">
                <a16:creationId xmlns:a16="http://schemas.microsoft.com/office/drawing/2014/main" id="{B785B582-5AFB-4986-9CA4-17643DCD912F}"/>
              </a:ext>
            </a:extLst>
          </p:cNvPr>
          <p:cNvSpPr>
            <a:spLocks noGrp="1"/>
          </p:cNvSpPr>
          <p:nvPr/>
        </p:nvSpPr>
        <p:spPr>
          <a:xfrm>
            <a:off x="6438900" y="2552700"/>
            <a:ext cx="4762500" cy="409575"/>
          </a:xfrm>
          <a:prstGeom prst="rect">
            <a:avLst/>
          </a:prstGeom>
          <a:noFill/>
          <a:ln w="0">
            <a:noFill/>
            <a:prstDash val="solid"/>
          </a:ln>
        </p:spPr>
        <p:txBody>
          <a:bodyPr anchor="ctr"/>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Compare retrieval modes under matched conditions</a:t>
            </a:r>
          </a:p>
        </p:txBody>
      </p:sp>
      <p:sp>
        <p:nvSpPr>
          <p:cNvPr id="19" name="Oval 18">
            <a:extLst>
              <a:ext uri="{FF2B5EF4-FFF2-40B4-BE49-F238E27FC236}">
                <a16:creationId xmlns:a16="http://schemas.microsoft.com/office/drawing/2014/main" id="{762C629C-9E67-49F1-B0A8-9E4C85C08FFD}"/>
              </a:ext>
            </a:extLst>
          </p:cNvPr>
          <p:cNvSpPr>
            <a:spLocks noGrp="1"/>
          </p:cNvSpPr>
          <p:nvPr/>
        </p:nvSpPr>
        <p:spPr>
          <a:xfrm>
            <a:off x="6210300" y="3295650"/>
            <a:ext cx="95250" cy="95250"/>
          </a:xfrm>
          <a:prstGeom prst="ellipse">
            <a:avLst/>
          </a:prstGeom>
          <a:solidFill>
            <a:srgbClr val="20A4B7"/>
          </a:solidFill>
          <a:ln w="0">
            <a:noFill/>
            <a:prstDash val="solid"/>
          </a:ln>
        </p:spPr>
      </p:sp>
      <p:sp>
        <p:nvSpPr>
          <p:cNvPr id="20" name="Rectangle 19">
            <a:extLst>
              <a:ext uri="{FF2B5EF4-FFF2-40B4-BE49-F238E27FC236}">
                <a16:creationId xmlns:a16="http://schemas.microsoft.com/office/drawing/2014/main" id="{28524A5B-DD2B-4990-B1F4-470DCCEB502C}"/>
              </a:ext>
            </a:extLst>
          </p:cNvPr>
          <p:cNvSpPr>
            <a:spLocks noGrp="1"/>
          </p:cNvSpPr>
          <p:nvPr/>
        </p:nvSpPr>
        <p:spPr>
          <a:xfrm>
            <a:off x="6438900" y="3181350"/>
            <a:ext cx="4762500" cy="409575"/>
          </a:xfrm>
          <a:prstGeom prst="rect">
            <a:avLst/>
          </a:prstGeom>
          <a:noFill/>
          <a:ln w="0">
            <a:noFill/>
            <a:prstDash val="solid"/>
          </a:ln>
        </p:spPr>
        <p:txBody>
          <a:bodyPr anchor="ctr"/>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Measure routing quality and component ablations</a:t>
            </a:r>
          </a:p>
        </p:txBody>
      </p:sp>
      <p:sp>
        <p:nvSpPr>
          <p:cNvPr id="21" name="Oval 20">
            <a:extLst>
              <a:ext uri="{FF2B5EF4-FFF2-40B4-BE49-F238E27FC236}">
                <a16:creationId xmlns:a16="http://schemas.microsoft.com/office/drawing/2014/main" id="{85338B52-BBE9-47D7-BB02-A3D6D9825B46}"/>
              </a:ext>
            </a:extLst>
          </p:cNvPr>
          <p:cNvSpPr>
            <a:spLocks noGrp="1"/>
          </p:cNvSpPr>
          <p:nvPr/>
        </p:nvSpPr>
        <p:spPr>
          <a:xfrm>
            <a:off x="6210300" y="3924300"/>
            <a:ext cx="95250" cy="95250"/>
          </a:xfrm>
          <a:prstGeom prst="ellipse">
            <a:avLst/>
          </a:prstGeom>
          <a:solidFill>
            <a:srgbClr val="20A4B7"/>
          </a:solidFill>
          <a:ln w="0">
            <a:noFill/>
            <a:prstDash val="solid"/>
          </a:ln>
        </p:spPr>
      </p:sp>
      <p:sp>
        <p:nvSpPr>
          <p:cNvPr id="22" name="Rectangle 21">
            <a:extLst>
              <a:ext uri="{FF2B5EF4-FFF2-40B4-BE49-F238E27FC236}">
                <a16:creationId xmlns:a16="http://schemas.microsoft.com/office/drawing/2014/main" id="{52A14B64-C6E5-4682-9071-6B7D2E5BDC59}"/>
              </a:ext>
            </a:extLst>
          </p:cNvPr>
          <p:cNvSpPr>
            <a:spLocks noGrp="1"/>
          </p:cNvSpPr>
          <p:nvPr/>
        </p:nvSpPr>
        <p:spPr>
          <a:xfrm>
            <a:off x="6438900" y="3810000"/>
            <a:ext cx="4762500" cy="409575"/>
          </a:xfrm>
          <a:prstGeom prst="rect">
            <a:avLst/>
          </a:prstGeom>
          <a:noFill/>
          <a:ln w="0">
            <a:noFill/>
            <a:prstDash val="solid"/>
          </a:ln>
        </p:spPr>
        <p:txBody>
          <a:bodyPr anchor="ctr"/>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Test static versus evolved graphs; quantify update impact</a:t>
            </a:r>
          </a:p>
        </p:txBody>
      </p:sp>
      <p:sp>
        <p:nvSpPr>
          <p:cNvPr id="23" name="Oval 22">
            <a:extLst>
              <a:ext uri="{FF2B5EF4-FFF2-40B4-BE49-F238E27FC236}">
                <a16:creationId xmlns:a16="http://schemas.microsoft.com/office/drawing/2014/main" id="{8E2AED2E-8FA4-4D54-936B-AEE8E5AD0F31}"/>
              </a:ext>
            </a:extLst>
          </p:cNvPr>
          <p:cNvSpPr>
            <a:spLocks noGrp="1"/>
          </p:cNvSpPr>
          <p:nvPr/>
        </p:nvSpPr>
        <p:spPr>
          <a:xfrm>
            <a:off x="6210300" y="4552950"/>
            <a:ext cx="95250" cy="95250"/>
          </a:xfrm>
          <a:prstGeom prst="ellipse">
            <a:avLst/>
          </a:prstGeom>
          <a:solidFill>
            <a:srgbClr val="20A4B7"/>
          </a:solidFill>
          <a:ln w="0">
            <a:noFill/>
            <a:prstDash val="solid"/>
          </a:ln>
        </p:spPr>
      </p:sp>
      <p:sp>
        <p:nvSpPr>
          <p:cNvPr id="24" name="Rectangle 23">
            <a:extLst>
              <a:ext uri="{FF2B5EF4-FFF2-40B4-BE49-F238E27FC236}">
                <a16:creationId xmlns:a16="http://schemas.microsoft.com/office/drawing/2014/main" id="{9E91CAD6-8E65-4368-8112-0FC4327119C1}"/>
              </a:ext>
            </a:extLst>
          </p:cNvPr>
          <p:cNvSpPr>
            <a:spLocks noGrp="1"/>
          </p:cNvSpPr>
          <p:nvPr/>
        </p:nvSpPr>
        <p:spPr>
          <a:xfrm>
            <a:off x="6438900" y="4438650"/>
            <a:ext cx="4762500" cy="409575"/>
          </a:xfrm>
          <a:prstGeom prst="rect">
            <a:avLst/>
          </a:prstGeom>
          <a:noFill/>
          <a:ln w="0">
            <a:noFill/>
            <a:prstDash val="solid"/>
          </a:ln>
        </p:spPr>
        <p:txBody>
          <a:bodyPr anchor="ctr"/>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Analyze latency distribution and resource use</a:t>
            </a:r>
          </a:p>
        </p:txBody>
      </p:sp>
      <p:sp>
        <p:nvSpPr>
          <p:cNvPr id="25" name="Rectangle: Rounded Corners 24">
            <a:extLst>
              <a:ext uri="{FF2B5EF4-FFF2-40B4-BE49-F238E27FC236}">
                <a16:creationId xmlns:a16="http://schemas.microsoft.com/office/drawing/2014/main" id="{228C2A28-256E-482A-AAF1-9861A11FFC24}"/>
              </a:ext>
            </a:extLst>
          </p:cNvPr>
          <p:cNvSpPr>
            <a:spLocks noGrp="1"/>
          </p:cNvSpPr>
          <p:nvPr/>
        </p:nvSpPr>
        <p:spPr>
          <a:xfrm>
            <a:off x="609600" y="5257800"/>
            <a:ext cx="10972800" cy="647700"/>
          </a:xfrm>
          <a:prstGeom prst="roundRect">
            <a:avLst>
              <a:gd name="adj" fmla="val 11765"/>
            </a:avLst>
          </a:prstGeom>
          <a:solidFill>
            <a:srgbClr val="EAF1FA"/>
          </a:solidFill>
          <a:ln w="0">
            <a:noFill/>
            <a:prstDash val="solid"/>
          </a:ln>
        </p:spPr>
      </p:sp>
      <p:sp>
        <p:nvSpPr>
          <p:cNvPr id="26" name="Rectangle 25">
            <a:extLst>
              <a:ext uri="{FF2B5EF4-FFF2-40B4-BE49-F238E27FC236}">
                <a16:creationId xmlns:a16="http://schemas.microsoft.com/office/drawing/2014/main" id="{BD4A6CCA-94E1-467F-B76B-6726BED232A3}"/>
              </a:ext>
            </a:extLst>
          </p:cNvPr>
          <p:cNvSpPr>
            <a:spLocks noGrp="1"/>
          </p:cNvSpPr>
          <p:nvPr/>
        </p:nvSpPr>
        <p:spPr>
          <a:xfrm>
            <a:off x="800100" y="5391150"/>
            <a:ext cx="1257300" cy="266700"/>
          </a:xfrm>
          <a:prstGeom prst="rect">
            <a:avLst/>
          </a:prstGeom>
          <a:noFill/>
          <a:ln w="0">
            <a:noFill/>
            <a:prstDash val="solid"/>
          </a:ln>
        </p:spPr>
        <p:txBody>
          <a:bodyPr anchor="ctr"/>
          <a:lstStyle>
            <a:defPPr algn="l">
              <a:defRPr sz="1200" b="1">
                <a:solidFill>
                  <a:srgbClr val="2356A8"/>
                </a:solidFill>
              </a:defRPr>
            </a:defPPr>
            <a:lvl1pPr algn="l">
              <a:buNone/>
              <a:defRPr sz="1200" b="1">
                <a:solidFill>
                  <a:srgbClr val="2356A8"/>
                </a:solidFill>
              </a:defRPr>
            </a:lvl1pPr>
            <a:lvl2pPr algn="l">
              <a:buNone/>
              <a:defRPr sz="1200" b="1">
                <a:solidFill>
                  <a:srgbClr val="2356A8"/>
                </a:solidFill>
              </a:defRPr>
            </a:lvl2pPr>
            <a:lvl3pPr algn="l">
              <a:buNone/>
              <a:defRPr sz="1200" b="1">
                <a:solidFill>
                  <a:srgbClr val="2356A8"/>
                </a:solidFill>
              </a:defRPr>
            </a:lvl3pPr>
            <a:lvl4pPr algn="l">
              <a:buNone/>
              <a:defRPr sz="1200" b="1">
                <a:solidFill>
                  <a:srgbClr val="2356A8"/>
                </a:solidFill>
              </a:defRPr>
            </a:lvl4pPr>
            <a:lvl5pPr algn="l">
              <a:buNone/>
              <a:defRPr sz="1200" b="1">
                <a:solidFill>
                  <a:srgbClr val="2356A8"/>
                </a:solidFill>
              </a:defRPr>
            </a:lvl5pPr>
            <a:lvl6pPr algn="l">
              <a:buNone/>
              <a:defRPr sz="1200" b="1">
                <a:solidFill>
                  <a:srgbClr val="2356A8"/>
                </a:solidFill>
              </a:defRPr>
            </a:lvl6pPr>
            <a:lvl7pPr algn="l">
              <a:buNone/>
              <a:defRPr sz="1200" b="1">
                <a:solidFill>
                  <a:srgbClr val="2356A8"/>
                </a:solidFill>
              </a:defRPr>
            </a:lvl7pPr>
            <a:lvl8pPr algn="l">
              <a:buNone/>
              <a:defRPr sz="1200" b="1">
                <a:solidFill>
                  <a:srgbClr val="2356A8"/>
                </a:solidFill>
              </a:defRPr>
            </a:lvl8pPr>
            <a:lvl9pPr algn="l">
              <a:buNone/>
              <a:defRPr sz="1200" b="1">
                <a:solidFill>
                  <a:srgbClr val="2356A8"/>
                </a:solidFill>
              </a:defRPr>
            </a:lvl9pPr>
          </a:lstStyle>
          <a:p>
            <a:pPr algn="l">
              <a:buNone/>
              <a:defRPr sz="1200" b="1">
                <a:solidFill>
                  <a:srgbClr val="2356A8"/>
                </a:solidFill>
              </a:defRPr>
            </a:pPr>
            <a:r>
              <a:rPr sz="1200" b="1">
                <a:solidFill>
                  <a:srgbClr val="2356A8"/>
                </a:solidFill>
              </a:rPr>
              <a:t>Conclusion</a:t>
            </a:r>
          </a:p>
        </p:txBody>
      </p:sp>
      <p:sp>
        <p:nvSpPr>
          <p:cNvPr id="27" name="Rectangle 26">
            <a:extLst>
              <a:ext uri="{FF2B5EF4-FFF2-40B4-BE49-F238E27FC236}">
                <a16:creationId xmlns:a16="http://schemas.microsoft.com/office/drawing/2014/main" id="{D2C998C4-0B11-456E-B318-F75CBAFBA451}"/>
              </a:ext>
            </a:extLst>
          </p:cNvPr>
          <p:cNvSpPr>
            <a:spLocks noGrp="1"/>
          </p:cNvSpPr>
          <p:nvPr/>
        </p:nvSpPr>
        <p:spPr>
          <a:xfrm>
            <a:off x="2143125" y="5324475"/>
            <a:ext cx="9144000" cy="438150"/>
          </a:xfrm>
          <a:prstGeom prst="rect">
            <a:avLst/>
          </a:prstGeom>
          <a:noFill/>
          <a:ln w="0">
            <a:noFill/>
            <a:prstDash val="solid"/>
          </a:ln>
        </p:spPr>
        <p:txBody>
          <a:bodyPr anchor="ctr"/>
          <a:lstStyle>
            <a:defPPr algn="l">
              <a:defRPr sz="1350" b="1">
                <a:solidFill>
                  <a:srgbClr val="14233F"/>
                </a:solidFill>
              </a:defRPr>
            </a:defPPr>
            <a:lvl1pPr algn="l">
              <a:buNone/>
              <a:defRPr sz="1350" b="1">
                <a:solidFill>
                  <a:srgbClr val="14233F"/>
                </a:solidFill>
              </a:defRPr>
            </a:lvl1pPr>
            <a:lvl2pPr algn="l">
              <a:buNone/>
              <a:defRPr sz="1350" b="1">
                <a:solidFill>
                  <a:srgbClr val="14233F"/>
                </a:solidFill>
              </a:defRPr>
            </a:lvl2pPr>
            <a:lvl3pPr algn="l">
              <a:buNone/>
              <a:defRPr sz="1350" b="1">
                <a:solidFill>
                  <a:srgbClr val="14233F"/>
                </a:solidFill>
              </a:defRPr>
            </a:lvl3pPr>
            <a:lvl4pPr algn="l">
              <a:buNone/>
              <a:defRPr sz="1350" b="1">
                <a:solidFill>
                  <a:srgbClr val="14233F"/>
                </a:solidFill>
              </a:defRPr>
            </a:lvl4pPr>
            <a:lvl5pPr algn="l">
              <a:buNone/>
              <a:defRPr sz="1350" b="1">
                <a:solidFill>
                  <a:srgbClr val="14233F"/>
                </a:solidFill>
              </a:defRPr>
            </a:lvl5pPr>
            <a:lvl6pPr algn="l">
              <a:buNone/>
              <a:defRPr sz="1350" b="1">
                <a:solidFill>
                  <a:srgbClr val="14233F"/>
                </a:solidFill>
              </a:defRPr>
            </a:lvl6pPr>
            <a:lvl7pPr algn="l">
              <a:buNone/>
              <a:defRPr sz="1350" b="1">
                <a:solidFill>
                  <a:srgbClr val="14233F"/>
                </a:solidFill>
              </a:defRPr>
            </a:lvl7pPr>
            <a:lvl8pPr algn="l">
              <a:buNone/>
              <a:defRPr sz="1350" b="1">
                <a:solidFill>
                  <a:srgbClr val="14233F"/>
                </a:solidFill>
              </a:defRPr>
            </a:lvl8pPr>
            <a:lvl9pPr algn="l">
              <a:buNone/>
              <a:defRPr sz="1350" b="1">
                <a:solidFill>
                  <a:srgbClr val="14233F"/>
                </a:solidFill>
              </a:defRPr>
            </a:lvl9pPr>
          </a:lstStyle>
          <a:p>
            <a:pPr algn="l">
              <a:buNone/>
              <a:defRPr sz="1350" b="1">
                <a:solidFill>
                  <a:srgbClr val="14233F"/>
                </a:solidFill>
              </a:defRPr>
            </a:pPr>
            <a:r>
              <a:rPr sz="1350" b="1">
                <a:solidFill>
                  <a:srgbClr val="14233F"/>
                </a:solidFill>
              </a:rPr>
              <a:t>The implementation is complete per current project status; effectiveness claims stay bounded by the experiments recorded in the report.</a:t>
            </a:r>
          </a:p>
        </p:txBody>
      </p:sp>
    </p:spTree>
    <p:extLst>
      <p:ext uri="{BB962C8B-B14F-4D97-AF65-F5344CB8AC3E}">
        <p14:creationId xmlns:p14="http://schemas.microsoft.com/office/powerpoint/2010/main" val="181931430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62229A3-1999-4E87-9ED7-BA6695E8C27C}"/>
              </a:ext>
            </a:extLst>
          </p:cNvPr>
          <p:cNvSpPr>
            <a:spLocks noGrp="1"/>
          </p:cNvSpPr>
          <p:nvPr/>
        </p:nvSpPr>
        <p:spPr>
          <a:xfrm>
            <a:off x="609600" y="266700"/>
            <a:ext cx="5238750" cy="190500"/>
          </a:xfrm>
          <a:prstGeom prst="rect">
            <a:avLst/>
          </a:prstGeom>
          <a:noFill/>
          <a:ln w="0">
            <a:noFill/>
            <a:prstDash val="solid"/>
          </a:ln>
        </p:spPr>
        <p:txBody>
          <a:bodyPr anchor="ctr"/>
          <a:lstStyle>
            <a:defPPr algn="l">
              <a:defRPr sz="975" b="1">
                <a:solidFill>
                  <a:srgbClr val="20A4B7"/>
                </a:solidFill>
              </a:defRPr>
            </a:defPPr>
            <a:lvl1pPr algn="l">
              <a:buNone/>
              <a:defRPr sz="975" b="1">
                <a:solidFill>
                  <a:srgbClr val="20A4B7"/>
                </a:solidFill>
              </a:defRPr>
            </a:lvl1pPr>
            <a:lvl2pPr algn="l">
              <a:buNone/>
              <a:defRPr sz="975" b="1">
                <a:solidFill>
                  <a:srgbClr val="20A4B7"/>
                </a:solidFill>
              </a:defRPr>
            </a:lvl2pPr>
            <a:lvl3pPr algn="l">
              <a:buNone/>
              <a:defRPr sz="975" b="1">
                <a:solidFill>
                  <a:srgbClr val="20A4B7"/>
                </a:solidFill>
              </a:defRPr>
            </a:lvl3pPr>
            <a:lvl4pPr algn="l">
              <a:buNone/>
              <a:defRPr sz="975" b="1">
                <a:solidFill>
                  <a:srgbClr val="20A4B7"/>
                </a:solidFill>
              </a:defRPr>
            </a:lvl4pPr>
            <a:lvl5pPr algn="l">
              <a:buNone/>
              <a:defRPr sz="975" b="1">
                <a:solidFill>
                  <a:srgbClr val="20A4B7"/>
                </a:solidFill>
              </a:defRPr>
            </a:lvl5pPr>
            <a:lvl6pPr algn="l">
              <a:buNone/>
              <a:defRPr sz="975" b="1">
                <a:solidFill>
                  <a:srgbClr val="20A4B7"/>
                </a:solidFill>
              </a:defRPr>
            </a:lvl6pPr>
            <a:lvl7pPr algn="l">
              <a:buNone/>
              <a:defRPr sz="975" b="1">
                <a:solidFill>
                  <a:srgbClr val="20A4B7"/>
                </a:solidFill>
              </a:defRPr>
            </a:lvl7pPr>
            <a:lvl8pPr algn="l">
              <a:buNone/>
              <a:defRPr sz="975" b="1">
                <a:solidFill>
                  <a:srgbClr val="20A4B7"/>
                </a:solidFill>
              </a:defRPr>
            </a:lvl8pPr>
            <a:lvl9pPr algn="l">
              <a:buNone/>
              <a:defRPr sz="975" b="1">
                <a:solidFill>
                  <a:srgbClr val="20A4B7"/>
                </a:solidFill>
              </a:defRPr>
            </a:lvl9pPr>
          </a:lstStyle>
          <a:p>
            <a:pPr algn="l">
              <a:buNone/>
              <a:defRPr sz="975" b="1">
                <a:solidFill>
                  <a:srgbClr val="20A4B7"/>
                </a:solidFill>
              </a:defRPr>
            </a:pPr>
            <a:r>
              <a:rPr sz="975" b="1">
                <a:solidFill>
                  <a:srgbClr val="20A4B7"/>
                </a:solidFill>
              </a:rPr>
              <a:t>REFERENCES</a:t>
            </a:r>
          </a:p>
        </p:txBody>
      </p:sp>
      <p:sp>
        <p:nvSpPr>
          <p:cNvPr id="2" name="Rectangle 1">
            <a:extLst>
              <a:ext uri="{FF2B5EF4-FFF2-40B4-BE49-F238E27FC236}">
                <a16:creationId xmlns:a16="http://schemas.microsoft.com/office/drawing/2014/main" id="{FF0E2D91-CA80-402A-ABE0-E4266C52A296}"/>
              </a:ext>
            </a:extLst>
          </p:cNvPr>
          <p:cNvSpPr>
            <a:spLocks noGrp="1"/>
          </p:cNvSpPr>
          <p:nvPr/>
        </p:nvSpPr>
        <p:spPr>
          <a:xfrm>
            <a:off x="609600" y="561975"/>
            <a:ext cx="10972800" cy="495300"/>
          </a:xfrm>
          <a:prstGeom prst="rect">
            <a:avLst/>
          </a:prstGeom>
          <a:noFill/>
          <a:ln w="0">
            <a:noFill/>
            <a:prstDash val="solid"/>
          </a:ln>
        </p:spPr>
        <p:txBody>
          <a:bodyPr anchor="ctr"/>
          <a:lstStyle>
            <a:defPPr algn="l">
              <a:defRPr sz="2700" b="1">
                <a:solidFill>
                  <a:srgbClr val="14233F"/>
                </a:solidFill>
              </a:defRPr>
            </a:defPPr>
            <a:lvl1pPr algn="l">
              <a:buNone/>
              <a:defRPr sz="2700" b="1">
                <a:solidFill>
                  <a:srgbClr val="14233F"/>
                </a:solidFill>
              </a:defRPr>
            </a:lvl1pPr>
            <a:lvl2pPr algn="l">
              <a:buNone/>
              <a:defRPr sz="2700" b="1">
                <a:solidFill>
                  <a:srgbClr val="14233F"/>
                </a:solidFill>
              </a:defRPr>
            </a:lvl2pPr>
            <a:lvl3pPr algn="l">
              <a:buNone/>
              <a:defRPr sz="2700" b="1">
                <a:solidFill>
                  <a:srgbClr val="14233F"/>
                </a:solidFill>
              </a:defRPr>
            </a:lvl3pPr>
            <a:lvl4pPr algn="l">
              <a:buNone/>
              <a:defRPr sz="2700" b="1">
                <a:solidFill>
                  <a:srgbClr val="14233F"/>
                </a:solidFill>
              </a:defRPr>
            </a:lvl4pPr>
            <a:lvl5pPr algn="l">
              <a:buNone/>
              <a:defRPr sz="2700" b="1">
                <a:solidFill>
                  <a:srgbClr val="14233F"/>
                </a:solidFill>
              </a:defRPr>
            </a:lvl5pPr>
            <a:lvl6pPr algn="l">
              <a:buNone/>
              <a:defRPr sz="2700" b="1">
                <a:solidFill>
                  <a:srgbClr val="14233F"/>
                </a:solidFill>
              </a:defRPr>
            </a:lvl6pPr>
            <a:lvl7pPr algn="l">
              <a:buNone/>
              <a:defRPr sz="2700" b="1">
                <a:solidFill>
                  <a:srgbClr val="14233F"/>
                </a:solidFill>
              </a:defRPr>
            </a:lvl7pPr>
            <a:lvl8pPr algn="l">
              <a:buNone/>
              <a:defRPr sz="2700" b="1">
                <a:solidFill>
                  <a:srgbClr val="14233F"/>
                </a:solidFill>
              </a:defRPr>
            </a:lvl8pPr>
            <a:lvl9pPr algn="l">
              <a:buNone/>
              <a:defRPr sz="2700" b="1">
                <a:solidFill>
                  <a:srgbClr val="14233F"/>
                </a:solidFill>
              </a:defRPr>
            </a:lvl9pPr>
          </a:lstStyle>
          <a:p>
            <a:pPr algn="l">
              <a:buNone/>
              <a:defRPr sz="2700" b="1">
                <a:solidFill>
                  <a:srgbClr val="14233F"/>
                </a:solidFill>
              </a:defRPr>
            </a:pPr>
            <a:r>
              <a:rPr sz="2700" b="1">
                <a:solidFill>
                  <a:srgbClr val="14233F"/>
                </a:solidFill>
              </a:rPr>
              <a:t>References and questions</a:t>
            </a:r>
          </a:p>
        </p:txBody>
      </p:sp>
      <p:sp>
        <p:nvSpPr>
          <p:cNvPr id="3" name="Rectangle 2">
            <a:extLst>
              <a:ext uri="{FF2B5EF4-FFF2-40B4-BE49-F238E27FC236}">
                <a16:creationId xmlns:a16="http://schemas.microsoft.com/office/drawing/2014/main" id="{47323ACF-C101-4ABB-9C8E-CA158C7B337E}"/>
              </a:ext>
            </a:extLst>
          </p:cNvPr>
          <p:cNvSpPr>
            <a:spLocks noGrp="1"/>
          </p:cNvSpPr>
          <p:nvPr/>
        </p:nvSpPr>
        <p:spPr>
          <a:xfrm>
            <a:off x="609600" y="1181100"/>
            <a:ext cx="10972800" cy="19050"/>
          </a:xfrm>
          <a:prstGeom prst="rect">
            <a:avLst/>
          </a:prstGeom>
          <a:solidFill>
            <a:srgbClr val="D7E0EC"/>
          </a:solidFill>
          <a:ln w="0">
            <a:noFill/>
            <a:prstDash val="solid"/>
          </a:ln>
        </p:spPr>
      </p:sp>
      <p:sp>
        <p:nvSpPr>
          <p:cNvPr id="6" name="Rectangle 5">
            <a:extLst>
              <a:ext uri="{FF2B5EF4-FFF2-40B4-BE49-F238E27FC236}">
                <a16:creationId xmlns:a16="http://schemas.microsoft.com/office/drawing/2014/main" id="{9F3B431B-BD64-4F77-B02E-FFF71EA24571}"/>
              </a:ext>
            </a:extLst>
          </p:cNvPr>
          <p:cNvSpPr>
            <a:spLocks noGrp="1"/>
          </p:cNvSpPr>
          <p:nvPr/>
        </p:nvSpPr>
        <p:spPr>
          <a:xfrm>
            <a:off x="11144250" y="6429375"/>
            <a:ext cx="419100" cy="171450"/>
          </a:xfrm>
          <a:prstGeom prst="rect">
            <a:avLst/>
          </a:prstGeom>
          <a:noFill/>
          <a:ln w="0">
            <a:noFill/>
            <a:prstDash val="solid"/>
          </a:ln>
        </p:spPr>
        <p:txBody>
          <a:bodyPr anchor="ctr"/>
          <a:lstStyle>
            <a:defPPr algn="r">
              <a:defRPr sz="975" b="1">
                <a:solidFill>
                  <a:srgbClr val="5D6B7C"/>
                </a:solidFill>
              </a:defRPr>
            </a:defPPr>
            <a:lvl1pPr algn="r">
              <a:buNone/>
              <a:defRPr sz="975" b="1">
                <a:solidFill>
                  <a:srgbClr val="5D6B7C"/>
                </a:solidFill>
              </a:defRPr>
            </a:lvl1pPr>
            <a:lvl2pPr algn="r">
              <a:buNone/>
              <a:defRPr sz="975" b="1">
                <a:solidFill>
                  <a:srgbClr val="5D6B7C"/>
                </a:solidFill>
              </a:defRPr>
            </a:lvl2pPr>
            <a:lvl3pPr algn="r">
              <a:buNone/>
              <a:defRPr sz="975" b="1">
                <a:solidFill>
                  <a:srgbClr val="5D6B7C"/>
                </a:solidFill>
              </a:defRPr>
            </a:lvl3pPr>
            <a:lvl4pPr algn="r">
              <a:buNone/>
              <a:defRPr sz="975" b="1">
                <a:solidFill>
                  <a:srgbClr val="5D6B7C"/>
                </a:solidFill>
              </a:defRPr>
            </a:lvl4pPr>
            <a:lvl5pPr algn="r">
              <a:buNone/>
              <a:defRPr sz="975" b="1">
                <a:solidFill>
                  <a:srgbClr val="5D6B7C"/>
                </a:solidFill>
              </a:defRPr>
            </a:lvl5pPr>
            <a:lvl6pPr algn="r">
              <a:buNone/>
              <a:defRPr sz="975" b="1">
                <a:solidFill>
                  <a:srgbClr val="5D6B7C"/>
                </a:solidFill>
              </a:defRPr>
            </a:lvl6pPr>
            <a:lvl7pPr algn="r">
              <a:buNone/>
              <a:defRPr sz="975" b="1">
                <a:solidFill>
                  <a:srgbClr val="5D6B7C"/>
                </a:solidFill>
              </a:defRPr>
            </a:lvl7pPr>
            <a:lvl8pPr algn="r">
              <a:buNone/>
              <a:defRPr sz="975" b="1">
                <a:solidFill>
                  <a:srgbClr val="5D6B7C"/>
                </a:solidFill>
              </a:defRPr>
            </a:lvl8pPr>
            <a:lvl9pPr algn="r">
              <a:buNone/>
              <a:defRPr sz="975" b="1">
                <a:solidFill>
                  <a:srgbClr val="5D6B7C"/>
                </a:solidFill>
              </a:defRPr>
            </a:lvl9pPr>
          </a:lstStyle>
          <a:p>
            <a:pPr algn="r">
              <a:buNone/>
              <a:defRPr sz="975" b="1">
                <a:solidFill>
                  <a:srgbClr val="5D6B7C"/>
                </a:solidFill>
              </a:defRPr>
            </a:pPr>
            <a:r>
              <a:rPr sz="975" b="1">
                <a:solidFill>
                  <a:srgbClr val="5D6B7C"/>
                </a:solidFill>
              </a:rPr>
              <a:t>09</a:t>
            </a:r>
          </a:p>
        </p:txBody>
      </p:sp>
      <p:sp>
        <p:nvSpPr>
          <p:cNvPr id="7" name="Oval 6">
            <a:extLst>
              <a:ext uri="{FF2B5EF4-FFF2-40B4-BE49-F238E27FC236}">
                <a16:creationId xmlns:a16="http://schemas.microsoft.com/office/drawing/2014/main" id="{480CB989-72F4-4DCB-B4A7-47E0CB3B1628}"/>
              </a:ext>
            </a:extLst>
          </p:cNvPr>
          <p:cNvSpPr>
            <a:spLocks noGrp="1"/>
          </p:cNvSpPr>
          <p:nvPr/>
        </p:nvSpPr>
        <p:spPr>
          <a:xfrm>
            <a:off x="647700" y="1571625"/>
            <a:ext cx="285750" cy="285750"/>
          </a:xfrm>
          <a:prstGeom prst="ellipse">
            <a:avLst/>
          </a:prstGeom>
          <a:solidFill>
            <a:srgbClr val="2356A8"/>
          </a:solidFill>
          <a:ln w="0">
            <a:noFill/>
            <a:prstDash val="solid"/>
          </a:ln>
        </p:spPr>
      </p:sp>
      <p:sp>
        <p:nvSpPr>
          <p:cNvPr id="8" name="Rectangle 7">
            <a:extLst>
              <a:ext uri="{FF2B5EF4-FFF2-40B4-BE49-F238E27FC236}">
                <a16:creationId xmlns:a16="http://schemas.microsoft.com/office/drawing/2014/main" id="{1D5C4F19-ABDE-46C0-9E13-5AE44C4CC41F}"/>
              </a:ext>
            </a:extLst>
          </p:cNvPr>
          <p:cNvSpPr>
            <a:spLocks noGrp="1"/>
          </p:cNvSpPr>
          <p:nvPr/>
        </p:nvSpPr>
        <p:spPr>
          <a:xfrm>
            <a:off x="647700" y="157162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1</a:t>
            </a:r>
          </a:p>
        </p:txBody>
      </p:sp>
      <p:sp>
        <p:nvSpPr>
          <p:cNvPr id="9" name="Rectangle 8">
            <a:extLst>
              <a:ext uri="{FF2B5EF4-FFF2-40B4-BE49-F238E27FC236}">
                <a16:creationId xmlns:a16="http://schemas.microsoft.com/office/drawing/2014/main" id="{C28B441F-ED8C-48F2-8532-7C7752D84A99}"/>
              </a:ext>
            </a:extLst>
          </p:cNvPr>
          <p:cNvSpPr>
            <a:spLocks noGrp="1"/>
          </p:cNvSpPr>
          <p:nvPr/>
        </p:nvSpPr>
        <p:spPr>
          <a:xfrm>
            <a:off x="1123950" y="149542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[1] Peng et al. “Graph Retrieval-Augmented Generation: A Survey.” ACM TOIS, 2025. doi:10.1145/3777378.</a:t>
            </a:r>
          </a:p>
        </p:txBody>
      </p:sp>
      <p:sp>
        <p:nvSpPr>
          <p:cNvPr id="10" name="Oval 9">
            <a:extLst>
              <a:ext uri="{FF2B5EF4-FFF2-40B4-BE49-F238E27FC236}">
                <a16:creationId xmlns:a16="http://schemas.microsoft.com/office/drawing/2014/main" id="{43D9BA86-F7AC-4FDB-8C67-57706BEB4CEB}"/>
              </a:ext>
            </a:extLst>
          </p:cNvPr>
          <p:cNvSpPr>
            <a:spLocks noGrp="1"/>
          </p:cNvSpPr>
          <p:nvPr/>
        </p:nvSpPr>
        <p:spPr>
          <a:xfrm>
            <a:off x="647700" y="2238375"/>
            <a:ext cx="285750" cy="285750"/>
          </a:xfrm>
          <a:prstGeom prst="ellipse">
            <a:avLst/>
          </a:prstGeom>
          <a:solidFill>
            <a:srgbClr val="20A4B7"/>
          </a:solidFill>
          <a:ln w="0">
            <a:noFill/>
            <a:prstDash val="solid"/>
          </a:ln>
        </p:spPr>
      </p:sp>
      <p:sp>
        <p:nvSpPr>
          <p:cNvPr id="11" name="Rectangle 10">
            <a:extLst>
              <a:ext uri="{FF2B5EF4-FFF2-40B4-BE49-F238E27FC236}">
                <a16:creationId xmlns:a16="http://schemas.microsoft.com/office/drawing/2014/main" id="{7DA9D8AE-FE3C-4E79-9B66-2B6016361D56}"/>
              </a:ext>
            </a:extLst>
          </p:cNvPr>
          <p:cNvSpPr>
            <a:spLocks noGrp="1"/>
          </p:cNvSpPr>
          <p:nvPr/>
        </p:nvSpPr>
        <p:spPr>
          <a:xfrm>
            <a:off x="647700" y="223837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2</a:t>
            </a:r>
          </a:p>
        </p:txBody>
      </p:sp>
      <p:sp>
        <p:nvSpPr>
          <p:cNvPr id="12" name="Rectangle 11">
            <a:extLst>
              <a:ext uri="{FF2B5EF4-FFF2-40B4-BE49-F238E27FC236}">
                <a16:creationId xmlns:a16="http://schemas.microsoft.com/office/drawing/2014/main" id="{9A5A0EE0-34C9-4AFB-A427-5011B8296299}"/>
              </a:ext>
            </a:extLst>
          </p:cNvPr>
          <p:cNvSpPr>
            <a:spLocks noGrp="1"/>
          </p:cNvSpPr>
          <p:nvPr/>
        </p:nvSpPr>
        <p:spPr>
          <a:xfrm>
            <a:off x="1123950" y="216217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[2] Pan et al. “Unifying Large Language Models and Knowledge Graphs: A Roadmap.” IEEE TKDE, 2024. doi:10.1109/TKDE.2024.3352100.</a:t>
            </a:r>
          </a:p>
        </p:txBody>
      </p:sp>
      <p:sp>
        <p:nvSpPr>
          <p:cNvPr id="13" name="Oval 12">
            <a:extLst>
              <a:ext uri="{FF2B5EF4-FFF2-40B4-BE49-F238E27FC236}">
                <a16:creationId xmlns:a16="http://schemas.microsoft.com/office/drawing/2014/main" id="{FCBC90D3-6405-410D-A5E8-EB6894742EA0}"/>
              </a:ext>
            </a:extLst>
          </p:cNvPr>
          <p:cNvSpPr>
            <a:spLocks noGrp="1"/>
          </p:cNvSpPr>
          <p:nvPr/>
        </p:nvSpPr>
        <p:spPr>
          <a:xfrm>
            <a:off x="647700" y="2905125"/>
            <a:ext cx="285750" cy="285750"/>
          </a:xfrm>
          <a:prstGeom prst="ellipse">
            <a:avLst/>
          </a:prstGeom>
          <a:solidFill>
            <a:srgbClr val="168A70"/>
          </a:solidFill>
          <a:ln w="0">
            <a:noFill/>
            <a:prstDash val="solid"/>
          </a:ln>
        </p:spPr>
      </p:sp>
      <p:sp>
        <p:nvSpPr>
          <p:cNvPr id="14" name="Rectangle 13">
            <a:extLst>
              <a:ext uri="{FF2B5EF4-FFF2-40B4-BE49-F238E27FC236}">
                <a16:creationId xmlns:a16="http://schemas.microsoft.com/office/drawing/2014/main" id="{22A5A5B0-8841-4BFD-A2EB-F3CBA21CCDA4}"/>
              </a:ext>
            </a:extLst>
          </p:cNvPr>
          <p:cNvSpPr>
            <a:spLocks noGrp="1"/>
          </p:cNvSpPr>
          <p:nvPr/>
        </p:nvSpPr>
        <p:spPr>
          <a:xfrm>
            <a:off x="647700" y="290512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3</a:t>
            </a:r>
          </a:p>
        </p:txBody>
      </p:sp>
      <p:sp>
        <p:nvSpPr>
          <p:cNvPr id="15" name="Rectangle 14">
            <a:extLst>
              <a:ext uri="{FF2B5EF4-FFF2-40B4-BE49-F238E27FC236}">
                <a16:creationId xmlns:a16="http://schemas.microsoft.com/office/drawing/2014/main" id="{ADDFCBE8-10FC-494F-A02D-50115D9CC42B}"/>
              </a:ext>
            </a:extLst>
          </p:cNvPr>
          <p:cNvSpPr>
            <a:spLocks noGrp="1"/>
          </p:cNvSpPr>
          <p:nvPr/>
        </p:nvSpPr>
        <p:spPr>
          <a:xfrm>
            <a:off x="1123950" y="282892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[3] Linders &amp; Tomczak. “Knowledge graph-extended retrieval augmented generation for question answering.” Applied Intelligence, 2025. doi:10.1007/s10489-025-06885-5.</a:t>
            </a:r>
          </a:p>
        </p:txBody>
      </p:sp>
      <p:sp>
        <p:nvSpPr>
          <p:cNvPr id="16" name="Oval 15">
            <a:extLst>
              <a:ext uri="{FF2B5EF4-FFF2-40B4-BE49-F238E27FC236}">
                <a16:creationId xmlns:a16="http://schemas.microsoft.com/office/drawing/2014/main" id="{8C05D2AD-1FB6-4BCC-8E8C-0AB2503D0357}"/>
              </a:ext>
            </a:extLst>
          </p:cNvPr>
          <p:cNvSpPr>
            <a:spLocks noGrp="1"/>
          </p:cNvSpPr>
          <p:nvPr/>
        </p:nvSpPr>
        <p:spPr>
          <a:xfrm>
            <a:off x="647700" y="3571875"/>
            <a:ext cx="285750" cy="285750"/>
          </a:xfrm>
          <a:prstGeom prst="ellipse">
            <a:avLst/>
          </a:prstGeom>
          <a:solidFill>
            <a:srgbClr val="2356A8"/>
          </a:solidFill>
          <a:ln w="0">
            <a:noFill/>
            <a:prstDash val="solid"/>
          </a:ln>
        </p:spPr>
      </p:sp>
      <p:sp>
        <p:nvSpPr>
          <p:cNvPr id="17" name="Rectangle 16">
            <a:extLst>
              <a:ext uri="{FF2B5EF4-FFF2-40B4-BE49-F238E27FC236}">
                <a16:creationId xmlns:a16="http://schemas.microsoft.com/office/drawing/2014/main" id="{63A46114-A237-456B-9FBF-C5F6433CE83C}"/>
              </a:ext>
            </a:extLst>
          </p:cNvPr>
          <p:cNvSpPr>
            <a:spLocks noGrp="1"/>
          </p:cNvSpPr>
          <p:nvPr/>
        </p:nvSpPr>
        <p:spPr>
          <a:xfrm>
            <a:off x="647700" y="357187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4</a:t>
            </a:r>
          </a:p>
        </p:txBody>
      </p:sp>
      <p:sp>
        <p:nvSpPr>
          <p:cNvPr id="18" name="Rectangle 17">
            <a:extLst>
              <a:ext uri="{FF2B5EF4-FFF2-40B4-BE49-F238E27FC236}">
                <a16:creationId xmlns:a16="http://schemas.microsoft.com/office/drawing/2014/main" id="{222BD5CF-F2C0-4A78-8B21-D1F385CE5F8B}"/>
              </a:ext>
            </a:extLst>
          </p:cNvPr>
          <p:cNvSpPr>
            <a:spLocks noGrp="1"/>
          </p:cNvSpPr>
          <p:nvPr/>
        </p:nvSpPr>
        <p:spPr>
          <a:xfrm>
            <a:off x="1123950" y="349567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[11] Jin et al. “Improving embedded knowledge graph multi-hop question answering by introducing relational chain reasoning.” DMKD, 2023.</a:t>
            </a:r>
          </a:p>
        </p:txBody>
      </p:sp>
      <p:sp>
        <p:nvSpPr>
          <p:cNvPr id="19" name="Oval 18">
            <a:extLst>
              <a:ext uri="{FF2B5EF4-FFF2-40B4-BE49-F238E27FC236}">
                <a16:creationId xmlns:a16="http://schemas.microsoft.com/office/drawing/2014/main" id="{6C0C15FE-AEFE-42E9-A41D-F7E9881A2BFB}"/>
              </a:ext>
            </a:extLst>
          </p:cNvPr>
          <p:cNvSpPr>
            <a:spLocks noGrp="1"/>
          </p:cNvSpPr>
          <p:nvPr/>
        </p:nvSpPr>
        <p:spPr>
          <a:xfrm>
            <a:off x="647700" y="4238625"/>
            <a:ext cx="285750" cy="285750"/>
          </a:xfrm>
          <a:prstGeom prst="ellipse">
            <a:avLst/>
          </a:prstGeom>
          <a:solidFill>
            <a:srgbClr val="20A4B7"/>
          </a:solidFill>
          <a:ln w="0">
            <a:noFill/>
            <a:prstDash val="solid"/>
          </a:ln>
        </p:spPr>
      </p:sp>
      <p:sp>
        <p:nvSpPr>
          <p:cNvPr id="20" name="Rectangle 19">
            <a:extLst>
              <a:ext uri="{FF2B5EF4-FFF2-40B4-BE49-F238E27FC236}">
                <a16:creationId xmlns:a16="http://schemas.microsoft.com/office/drawing/2014/main" id="{C375C5A9-1B3C-4491-9A2F-8CCB1434281F}"/>
              </a:ext>
            </a:extLst>
          </p:cNvPr>
          <p:cNvSpPr>
            <a:spLocks noGrp="1"/>
          </p:cNvSpPr>
          <p:nvPr/>
        </p:nvSpPr>
        <p:spPr>
          <a:xfrm>
            <a:off x="647700" y="423862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5</a:t>
            </a:r>
          </a:p>
        </p:txBody>
      </p:sp>
      <p:sp>
        <p:nvSpPr>
          <p:cNvPr id="21" name="Rectangle 20">
            <a:extLst>
              <a:ext uri="{FF2B5EF4-FFF2-40B4-BE49-F238E27FC236}">
                <a16:creationId xmlns:a16="http://schemas.microsoft.com/office/drawing/2014/main" id="{E4F1A7EE-92C5-4D65-A9E0-C12EA4FEF098}"/>
              </a:ext>
            </a:extLst>
          </p:cNvPr>
          <p:cNvSpPr>
            <a:spLocks noGrp="1"/>
          </p:cNvSpPr>
          <p:nvPr/>
        </p:nvSpPr>
        <p:spPr>
          <a:xfrm>
            <a:off x="1123950" y="416242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a:solidFill>
                  <a:srgbClr val="1D2A3B"/>
                </a:solidFill>
              </a:rPr>
              <a:t>[16] Trivedi et al. “MuSiQue: Multihop Questions via Single-hop Question Composition.” TACL, 2022.</a:t>
            </a:r>
          </a:p>
        </p:txBody>
      </p:sp>
      <p:sp>
        <p:nvSpPr>
          <p:cNvPr id="22" name="Oval 21">
            <a:extLst>
              <a:ext uri="{FF2B5EF4-FFF2-40B4-BE49-F238E27FC236}">
                <a16:creationId xmlns:a16="http://schemas.microsoft.com/office/drawing/2014/main" id="{E2A1136A-E801-4FD6-81BE-F7B41BA03C56}"/>
              </a:ext>
            </a:extLst>
          </p:cNvPr>
          <p:cNvSpPr>
            <a:spLocks noGrp="1"/>
          </p:cNvSpPr>
          <p:nvPr/>
        </p:nvSpPr>
        <p:spPr>
          <a:xfrm>
            <a:off x="647700" y="4905375"/>
            <a:ext cx="285750" cy="285750"/>
          </a:xfrm>
          <a:prstGeom prst="ellipse">
            <a:avLst/>
          </a:prstGeom>
          <a:solidFill>
            <a:srgbClr val="168A70"/>
          </a:solidFill>
          <a:ln w="0">
            <a:noFill/>
            <a:prstDash val="solid"/>
          </a:ln>
        </p:spPr>
      </p:sp>
      <p:sp>
        <p:nvSpPr>
          <p:cNvPr id="23" name="Rectangle 22">
            <a:extLst>
              <a:ext uri="{FF2B5EF4-FFF2-40B4-BE49-F238E27FC236}">
                <a16:creationId xmlns:a16="http://schemas.microsoft.com/office/drawing/2014/main" id="{64AE1310-731B-4E8F-900E-933507513497}"/>
              </a:ext>
            </a:extLst>
          </p:cNvPr>
          <p:cNvSpPr>
            <a:spLocks noGrp="1"/>
          </p:cNvSpPr>
          <p:nvPr/>
        </p:nvSpPr>
        <p:spPr>
          <a:xfrm>
            <a:off x="647700" y="4905375"/>
            <a:ext cx="285750" cy="285750"/>
          </a:xfrm>
          <a:prstGeom prst="rect">
            <a:avLst/>
          </a:prstGeom>
          <a:noFill/>
          <a:ln w="0">
            <a:noFill/>
            <a:prstDash val="solid"/>
          </a:ln>
        </p:spPr>
        <p:txBody>
          <a:bodyPr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6</a:t>
            </a:r>
          </a:p>
        </p:txBody>
      </p:sp>
      <p:sp>
        <p:nvSpPr>
          <p:cNvPr id="24" name="Rectangle 23">
            <a:extLst>
              <a:ext uri="{FF2B5EF4-FFF2-40B4-BE49-F238E27FC236}">
                <a16:creationId xmlns:a16="http://schemas.microsoft.com/office/drawing/2014/main" id="{B779FBF6-CBA3-47B5-828A-86B8FF2AF105}"/>
              </a:ext>
            </a:extLst>
          </p:cNvPr>
          <p:cNvSpPr>
            <a:spLocks noGrp="1"/>
          </p:cNvSpPr>
          <p:nvPr/>
        </p:nvSpPr>
        <p:spPr>
          <a:xfrm>
            <a:off x="1123950" y="4829175"/>
            <a:ext cx="10172700" cy="495300"/>
          </a:xfrm>
          <a:prstGeom prst="rect">
            <a:avLst/>
          </a:prstGeom>
          <a:noFill/>
          <a:ln w="0">
            <a:noFill/>
            <a:prstDash val="solid"/>
          </a:ln>
        </p:spPr>
        <p:txBody>
          <a:bodyPr anchor="t"/>
          <a:lstStyle>
            <a:defPPr algn="l">
              <a:defRPr sz="1275" b="0">
                <a:solidFill>
                  <a:srgbClr val="1D2A3B"/>
                </a:solidFill>
              </a:defRPr>
            </a:defPPr>
            <a:lvl1pPr algn="l">
              <a:buNone/>
              <a:defRPr sz="1275" b="0">
                <a:solidFill>
                  <a:srgbClr val="1D2A3B"/>
                </a:solidFill>
              </a:defRPr>
            </a:lvl1pPr>
            <a:lvl2pPr algn="l">
              <a:buNone/>
              <a:defRPr sz="1275" b="0">
                <a:solidFill>
                  <a:srgbClr val="1D2A3B"/>
                </a:solidFill>
              </a:defRPr>
            </a:lvl2pPr>
            <a:lvl3pPr algn="l">
              <a:buNone/>
              <a:defRPr sz="1275" b="0">
                <a:solidFill>
                  <a:srgbClr val="1D2A3B"/>
                </a:solidFill>
              </a:defRPr>
            </a:lvl3pPr>
            <a:lvl4pPr algn="l">
              <a:buNone/>
              <a:defRPr sz="1275" b="0">
                <a:solidFill>
                  <a:srgbClr val="1D2A3B"/>
                </a:solidFill>
              </a:defRPr>
            </a:lvl4pPr>
            <a:lvl5pPr algn="l">
              <a:buNone/>
              <a:defRPr sz="1275" b="0">
                <a:solidFill>
                  <a:srgbClr val="1D2A3B"/>
                </a:solidFill>
              </a:defRPr>
            </a:lvl5pPr>
            <a:lvl6pPr algn="l">
              <a:buNone/>
              <a:defRPr sz="1275" b="0">
                <a:solidFill>
                  <a:srgbClr val="1D2A3B"/>
                </a:solidFill>
              </a:defRPr>
            </a:lvl6pPr>
            <a:lvl7pPr algn="l">
              <a:buNone/>
              <a:defRPr sz="1275" b="0">
                <a:solidFill>
                  <a:srgbClr val="1D2A3B"/>
                </a:solidFill>
              </a:defRPr>
            </a:lvl7pPr>
            <a:lvl8pPr algn="l">
              <a:buNone/>
              <a:defRPr sz="1275" b="0">
                <a:solidFill>
                  <a:srgbClr val="1D2A3B"/>
                </a:solidFill>
              </a:defRPr>
            </a:lvl8pPr>
            <a:lvl9pPr algn="l">
              <a:buNone/>
              <a:defRPr sz="1275" b="0">
                <a:solidFill>
                  <a:srgbClr val="1D2A3B"/>
                </a:solidFill>
              </a:defRPr>
            </a:lvl9pPr>
          </a:lstStyle>
          <a:p>
            <a:pPr algn="l">
              <a:buNone/>
              <a:defRPr sz="1275" b="0">
                <a:solidFill>
                  <a:srgbClr val="1D2A3B"/>
                </a:solidFill>
              </a:defRPr>
            </a:pPr>
            <a:r>
              <a:rPr sz="1275" b="0" dirty="0">
                <a:solidFill>
                  <a:srgbClr val="1D2A3B"/>
                </a:solidFill>
              </a:rPr>
              <a:t>[22] Lewis et al. “Retrieval-Augmented Generation for Knowledge-Intensive NLP Tasks.” </a:t>
            </a:r>
            <a:r>
              <a:rPr sz="1275" b="0" dirty="0" err="1">
                <a:solidFill>
                  <a:srgbClr val="1D2A3B"/>
                </a:solidFill>
              </a:rPr>
              <a:t>NeurIPS</a:t>
            </a:r>
            <a:r>
              <a:rPr sz="1275" b="0" dirty="0">
                <a:solidFill>
                  <a:srgbClr val="1D2A3B"/>
                </a:solidFill>
              </a:rPr>
              <a:t>, 2020.</a:t>
            </a:r>
          </a:p>
        </p:txBody>
      </p:sp>
      <p:sp>
        <p:nvSpPr>
          <p:cNvPr id="26" name="Rectangle 25">
            <a:extLst>
              <a:ext uri="{FF2B5EF4-FFF2-40B4-BE49-F238E27FC236}">
                <a16:creationId xmlns:a16="http://schemas.microsoft.com/office/drawing/2014/main" id="{1C3B2280-6E05-4E95-B7D9-DADDD6331963}"/>
              </a:ext>
            </a:extLst>
          </p:cNvPr>
          <p:cNvSpPr>
            <a:spLocks noGrp="1"/>
          </p:cNvSpPr>
          <p:nvPr/>
        </p:nvSpPr>
        <p:spPr>
          <a:xfrm>
            <a:off x="609600" y="5857875"/>
            <a:ext cx="9906000" cy="238125"/>
          </a:xfrm>
          <a:prstGeom prst="rect">
            <a:avLst/>
          </a:prstGeom>
          <a:noFill/>
          <a:ln w="0">
            <a:noFill/>
            <a:prstDash val="solid"/>
          </a:ln>
        </p:spPr>
        <p:txBody>
          <a:bodyPr anchor="ctr"/>
          <a:lstStyle>
            <a:defPPr algn="l">
              <a:defRPr sz="1050" b="0">
                <a:solidFill>
                  <a:srgbClr val="5D6B7C"/>
                </a:solidFill>
              </a:defRPr>
            </a:defPPr>
            <a:lvl1pPr algn="l">
              <a:buNone/>
              <a:defRPr sz="1050" b="0">
                <a:solidFill>
                  <a:srgbClr val="5D6B7C"/>
                </a:solidFill>
              </a:defRPr>
            </a:lvl1pPr>
            <a:lvl2pPr algn="l">
              <a:buNone/>
              <a:defRPr sz="1050" b="0">
                <a:solidFill>
                  <a:srgbClr val="5D6B7C"/>
                </a:solidFill>
              </a:defRPr>
            </a:lvl2pPr>
            <a:lvl3pPr algn="l">
              <a:buNone/>
              <a:defRPr sz="1050" b="0">
                <a:solidFill>
                  <a:srgbClr val="5D6B7C"/>
                </a:solidFill>
              </a:defRPr>
            </a:lvl3pPr>
            <a:lvl4pPr algn="l">
              <a:buNone/>
              <a:defRPr sz="1050" b="0">
                <a:solidFill>
                  <a:srgbClr val="5D6B7C"/>
                </a:solidFill>
              </a:defRPr>
            </a:lvl4pPr>
            <a:lvl5pPr algn="l">
              <a:buNone/>
              <a:defRPr sz="1050" b="0">
                <a:solidFill>
                  <a:srgbClr val="5D6B7C"/>
                </a:solidFill>
              </a:defRPr>
            </a:lvl5pPr>
            <a:lvl6pPr algn="l">
              <a:buNone/>
              <a:defRPr sz="1050" b="0">
                <a:solidFill>
                  <a:srgbClr val="5D6B7C"/>
                </a:solidFill>
              </a:defRPr>
            </a:lvl6pPr>
            <a:lvl7pPr algn="l">
              <a:buNone/>
              <a:defRPr sz="1050" b="0">
                <a:solidFill>
                  <a:srgbClr val="5D6B7C"/>
                </a:solidFill>
              </a:defRPr>
            </a:lvl7pPr>
            <a:lvl8pPr algn="l">
              <a:buNone/>
              <a:defRPr sz="1050" b="0">
                <a:solidFill>
                  <a:srgbClr val="5D6B7C"/>
                </a:solidFill>
              </a:defRPr>
            </a:lvl8pPr>
            <a:lvl9pPr algn="l">
              <a:buNone/>
              <a:defRPr sz="1050" b="0">
                <a:solidFill>
                  <a:srgbClr val="5D6B7C"/>
                </a:solidFill>
              </a:defRPr>
            </a:lvl9pPr>
          </a:lstStyle>
          <a:p>
            <a:pPr algn="l">
              <a:buNone/>
              <a:defRPr sz="1050" b="0">
                <a:solidFill>
                  <a:srgbClr val="5D6B7C"/>
                </a:solidFill>
              </a:defRPr>
            </a:pPr>
            <a:r>
              <a:rPr sz="1050" b="0">
                <a:solidFill>
                  <a:srgbClr val="5D6B7C"/>
                </a:solidFill>
              </a:rPr>
              <a:t>Project and evaluation details: final project report.</a:t>
            </a:r>
          </a:p>
        </p:txBody>
      </p:sp>
      <p:sp>
        <p:nvSpPr>
          <p:cNvPr id="5" name="TextBox 4">
            <a:extLst>
              <a:ext uri="{FF2B5EF4-FFF2-40B4-BE49-F238E27FC236}">
                <a16:creationId xmlns:a16="http://schemas.microsoft.com/office/drawing/2014/main" id="{B3F5FA4E-E942-143B-39BD-E43ECB453D45}"/>
              </a:ext>
            </a:extLst>
          </p:cNvPr>
          <p:cNvSpPr txBox="1"/>
          <p:nvPr/>
        </p:nvSpPr>
        <p:spPr>
          <a:xfrm>
            <a:off x="1123950" y="5311259"/>
            <a:ext cx="9219122" cy="369332"/>
          </a:xfrm>
          <a:prstGeom prst="rect">
            <a:avLst/>
          </a:prstGeom>
          <a:noFill/>
        </p:spPr>
        <p:txBody>
          <a:bodyPr wrap="square" rtlCol="0">
            <a:spAutoFit/>
          </a:bodyPr>
          <a:lstStyle/>
          <a:p>
            <a:pPr algn="just"/>
            <a:r>
              <a:rPr lang="en-US" dirty="0">
                <a:cs typeface="Times New Roman" panose="02020603050405020304" pitchFamily="18" charset="0"/>
              </a:rPr>
              <a:t>GitHub Repository URL : https://github.com/Devanshu90/AGENT-KGRAPH</a:t>
            </a:r>
            <a:endParaRPr lang="en-IN" dirty="0">
              <a:cs typeface="Times New Roman" panose="02020603050405020304" pitchFamily="18" charset="0"/>
            </a:endParaRPr>
          </a:p>
        </p:txBody>
      </p:sp>
    </p:spTree>
    <p:extLst>
      <p:ext uri="{BB962C8B-B14F-4D97-AF65-F5344CB8AC3E}">
        <p14:creationId xmlns:p14="http://schemas.microsoft.com/office/powerpoint/2010/main" val="111805513"/>
      </p:ext>
    </p:extLst>
  </p:cSld>
  <p:clrMapOvr>
    <a:masterClrMapping/>
  </p:clrMapOvr>
  <p:transition spd="slow">
    <p:wip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2027</Words>
  <Application>Microsoft Office PowerPoint</Application>
  <DocSecurity>0</DocSecurity>
  <PresentationFormat>Widescreen</PresentationFormat>
  <Paragraphs>176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Devanshu Aslaliya</cp:lastModifiedBy>
  <cp:revision>2</cp:revision>
  <dcterms:created xsi:type="dcterms:W3CDTF">2026-10-30T00:42:50Z</dcterms:created>
  <dcterms:modified xsi:type="dcterms:W3CDTF">2026-10-30T00:59:13Z</dcterms:modified>
</cp:coreProperties>
</file>